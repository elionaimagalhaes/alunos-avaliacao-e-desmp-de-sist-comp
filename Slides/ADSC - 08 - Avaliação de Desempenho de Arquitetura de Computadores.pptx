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5488-4FF6-4031-846D-95CEBEA5A712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E1F5-489B-4C12-95CF-05562D766A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922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5488-4FF6-4031-846D-95CEBEA5A712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E1F5-489B-4C12-95CF-05562D766A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565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5488-4FF6-4031-846D-95CEBEA5A712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E1F5-489B-4C12-95CF-05562D766A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857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5488-4FF6-4031-846D-95CEBEA5A712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E1F5-489B-4C12-95CF-05562D766A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6594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5488-4FF6-4031-846D-95CEBEA5A712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E1F5-489B-4C12-95CF-05562D766A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585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5488-4FF6-4031-846D-95CEBEA5A712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E1F5-489B-4C12-95CF-05562D766A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756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5488-4FF6-4031-846D-95CEBEA5A712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E1F5-489B-4C12-95CF-05562D766A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15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5488-4FF6-4031-846D-95CEBEA5A712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E1F5-489B-4C12-95CF-05562D766A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1903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5488-4FF6-4031-846D-95CEBEA5A712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E1F5-489B-4C12-95CF-05562D766A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967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5488-4FF6-4031-846D-95CEBEA5A712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E1F5-489B-4C12-95CF-05562D766A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3507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5488-4FF6-4031-846D-95CEBEA5A712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E1F5-489B-4C12-95CF-05562D766A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42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275488-4FF6-4031-846D-95CEBEA5A712}" type="datetimeFigureOut">
              <a:rPr lang="pt-BR" smtClean="0"/>
              <a:t>27/08/2025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7EE1F5-489B-4C12-95CF-05562D766A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8180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5E62F-D59B-A87E-7A2C-CD1DACD2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Avaliação de Desempenho de Arquitetura de Computadores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B8CB89-9166-4002-B213-B4AB34925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pt-BR" dirty="0"/>
              <a:t>Disciplina: </a:t>
            </a:r>
          </a:p>
          <a:p>
            <a:pPr marL="0" indent="0" algn="just">
              <a:buNone/>
            </a:pPr>
            <a:r>
              <a:rPr lang="pt-BR" dirty="0"/>
              <a:t>Avaliação de Desempenho de Sistemas Computacionais</a:t>
            </a:r>
          </a:p>
          <a:p>
            <a:pPr algn="just"/>
            <a:r>
              <a:rPr lang="pt-BR" dirty="0"/>
              <a:t>Tema: Arquitetura de Computadores</a:t>
            </a:r>
          </a:p>
          <a:p>
            <a:r>
              <a:rPr lang="pt-BR" dirty="0"/>
              <a:t>Objetivo da aula:</a:t>
            </a:r>
            <a:br>
              <a:rPr lang="pt-BR" dirty="0"/>
            </a:br>
            <a:r>
              <a:rPr lang="pt-BR" dirty="0"/>
              <a:t>Apresentar conceitos, métricas, técnicas e tendências para avaliar o desempenho de arquiteturas de computadores, incluindo CPU, memória e sistemas multiprocessados.</a:t>
            </a:r>
          </a:p>
          <a:p>
            <a:r>
              <a:rPr lang="pt-BR" dirty="0"/>
              <a:t>Referência:</a:t>
            </a:r>
            <a:br>
              <a:rPr lang="pt-BR" dirty="0"/>
            </a:br>
            <a:r>
              <a:rPr lang="pt-BR" i="1" dirty="0"/>
              <a:t>GONÇALVES, Marcos José Santana; MACAMBIRA, Juarez. Avaliação de Desempenho de Sistemas Computacionais. Fortaleza: </a:t>
            </a:r>
            <a:r>
              <a:rPr lang="pt-BR" i="1" dirty="0" err="1"/>
              <a:t>EdUECE</a:t>
            </a:r>
            <a:r>
              <a:rPr lang="pt-BR" i="1" dirty="0"/>
              <a:t>, 2017.</a:t>
            </a:r>
            <a:endParaRPr lang="pt-BR" dirty="0"/>
          </a:p>
          <a:p>
            <a:r>
              <a:rPr lang="pt-BR" b="1" dirty="0"/>
              <a:t>Referência do Livro:</a:t>
            </a:r>
            <a:br>
              <a:rPr lang="pt-BR" dirty="0"/>
            </a:br>
            <a:r>
              <a:rPr lang="pt-BR" dirty="0"/>
              <a:t>Cap. 1, Cap. 5, Cap. 12 e Cap. 31 – Avaliação de desempenho em arquiteturas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75547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F6512-4071-7A31-33B2-D781EE521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3DA3E-FCA9-38FE-20E6-0A363438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Importância da Avaliação em Arquitetura de Computadores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99912E0-F4A9-A0FA-E2DC-B2FD809760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337810"/>
            <a:ext cx="7620615" cy="5326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Arquitetura de computadores define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como o hardware executa instruções e gerencia recursos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desempenho impacta diretamente em: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 de resposta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aplicações.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Eficiência energética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custo operacional.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Escalabilidade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sistemas multiprocessados.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Avaliar arquiteturas permite: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Comparar diferentes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CPUs, memórias e barramentos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Identificar gargalos em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pipeline, cache e E/S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Orientar escolhas tecnológicas em projetos de sistemas.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200" dirty="0"/>
              <a:t>Cap. 1 – Exemplos de avaliação de hardware (CPU, memória e E/S)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22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7E80A-0B91-334A-C12B-811A48FBD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5A007-A466-A078-FADB-0618BC3F0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Métricas Fundamentais de Desempenho em Arquitetura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661B7A-3060-36D0-5A41-313F2F991E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397154"/>
            <a:ext cx="760095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 de execução (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Time):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tempo total para concluir um programa.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CPI (Ciclos por Instrução):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média de ciclos de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clock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gastos por instrução.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MIPS (Milhões de Instruções por Segundo):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taxa de execução de instruções.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MFLOPS (Milhões de Operações de Ponto Flutuante por Segundo):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avalia desempenho em cálculos numéricos.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número de tarefas concluídas em um intervalo de tempo.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1200" dirty="0"/>
              <a:t>Cap. 1 – Métricas de avaliação de desempenho em arquiteturas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242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56CD5-BD7B-5CD3-701C-F76E3CCCB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127E7E-8E39-517D-F6AC-4623ACDA0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Fatores que Impactam o Desempenho da CPU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CE71C3-1027-01DE-EBD3-B11C126310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342267"/>
            <a:ext cx="7600950" cy="5003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Frequência de </a:t>
            </a:r>
            <a:r>
              <a:rPr kumimoji="0" lang="pt-BR" altLang="pt-BR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clock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determina a velocidade básica de execução.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Pipeline: divide a execução em estágios, aumentando o paralelismo.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Conjunto de instruções (ISA): influencia a complexidade e a eficiência da execução.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Paralelismo em nível de instrução (ILP): uso de técnicas como </a:t>
            </a:r>
            <a:r>
              <a:rPr kumimoji="0" lang="pt-BR" altLang="pt-BR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superescalar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execução fora de ordem.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Número de núcleos: multiprocessamento amplia </a:t>
            </a:r>
            <a:r>
              <a:rPr kumimoji="0" lang="pt-BR" altLang="pt-BR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mas exige sincronização eficiente.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2400" dirty="0">
              <a:latin typeface="Arial" panose="020B0604020202020204" pitchFamily="34" charset="0"/>
            </a:endParaRPr>
          </a:p>
          <a:p>
            <a:r>
              <a:rPr lang="pt-BR" sz="1200" dirty="0"/>
              <a:t>Cap. 1 – Aspectos da CPU na avaliação de desempenho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979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73FFE-B8BF-50B0-CA62-19B601CF1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59DE7C-084C-8A0F-D824-2A645BF7B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Avaliação de Desempenho em Pipeline de Instruções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3EDE6D-1877-236E-81A8-4EE0B1D594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342267"/>
            <a:ext cx="7600950" cy="5003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Frequência de </a:t>
            </a:r>
            <a:r>
              <a:rPr kumimoji="0" lang="pt-BR" altLang="pt-BR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clock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determina a velocidade básica de execução.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Pipeline: divide a execução em estágios, aumentando o paralelismo.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Conjunto de instruções (ISA): influencia a complexidade e a eficiência da execução.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Paralelismo em nível de instrução (ILP): uso de técnicas como </a:t>
            </a:r>
            <a:r>
              <a:rPr kumimoji="0" lang="pt-BR" altLang="pt-BR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superescalar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execução fora de ordem.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Número de núcleos: multiprocessamento amplia </a:t>
            </a:r>
            <a:r>
              <a:rPr kumimoji="0" lang="pt-BR" altLang="pt-BR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mas exige sincronização eficiente.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2400" dirty="0">
              <a:latin typeface="Arial" panose="020B0604020202020204" pitchFamily="34" charset="0"/>
            </a:endParaRPr>
          </a:p>
          <a:p>
            <a:r>
              <a:rPr lang="pt-BR" sz="1200" dirty="0"/>
              <a:t>Cap. 1 – Aspectos da CPU na avaliação de desempenho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198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E3246-D10C-52DC-1DFC-6A8BC3F0A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D5C74-C969-39EA-F315-4BBC7838C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Hierarquia de Memória e Impacto no Desempenho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D0D82B-FC2F-AD40-29D4-0CD3E7A010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212489"/>
            <a:ext cx="760095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Hierarquia de memória: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registradores → cache → RAM → disco.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Princípio da localidade: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Temporal: dados usados recentemente tendem a ser reutilizados.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Espacial: dados próximos tendem a ser acessados em sequência.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Avaliação de desempenho: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Hit rate da cache.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 médio de acesso à memória (AMAT).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Impacto: gargalos de memória podem anular ganhos da CPU, exigindo otimização do uso de cache.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sz="24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sz="1200" dirty="0"/>
              <a:t>Cap. 1 – Aspectos da CPU na avaliação de desempenho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07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3A147-8A6A-5C7A-6817-80864248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86ECE-5D87-5427-E762-899B5F5E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Avaliação de Desempenho em Sistemas de Entrada/Saída (E/S)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A65A02-9AF9-DF10-881C-E6DE837308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427932"/>
            <a:ext cx="760095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Dispositivos de E/S: 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discos,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SSDs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placas de rede, periféricos.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 de avaliação: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taxa de transferência (MB/s).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Latência de acesso.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IOPS (Input/Output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Operations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Second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Fatores que impactam: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Tipo de dispositivo (HDD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SSD).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Políticas de escalonamento de E/S.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Interface utilizada (SATA,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NVMe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PCIe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Conclusão: gargalos de E/S podem limitar o desempenho global do sistema.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sz="24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sz="1200" dirty="0"/>
              <a:t>Cap. 1 – Aspectos da CPU na avaliação de desempenho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787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0370F-B027-627D-0E20-BB4C14F0E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5A492-5332-8238-D77F-10590E41D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Uso de Teoria de Filas na Avaliação de Arquiteturas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AA93AC-D553-A37C-F1C2-FB5D065693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824" y="1234300"/>
            <a:ext cx="760095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Modelagem de recursos de hardware como sistemas de filas: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instruções → clientes; ciclos de </a:t>
            </a:r>
            <a:r>
              <a:rPr kumimoji="0" lang="pt-BR" altLang="pt-BR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clock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servidores.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Memória: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requisições → clientes; controladores → servidores.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 analisadas: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 médio de espera.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Utilização do servidor (CPU/memória).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sistema.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Benefício: 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prever comportamento sob diferentes cargas de trabalho e dimensionar recursos adequadamente.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sz="24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sz="1200" dirty="0"/>
              <a:t>Cap. 1 – Aspectos da CPU na avaliação de desempenho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749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2B717-CC7A-2234-ED66-F2F5B8434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FE174-CDBF-E334-EF4E-D3D3593D0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Benchmarks para Arquiteturas de Computadores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16A067-AB11-3E8C-DD05-ED4BCD5D5B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824" y="1357418"/>
            <a:ext cx="7600950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Benchmarks sintéticos: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Avaliam componentes específicos (ex.: memória, CPU).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Ex.: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Dhrystone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Whetstone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Benchmarks de propósito geral: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Simulam cargas de trabalho completas.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Ex.: SPEC CPU (inteiros e ponto flutuante).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Benchmarks de alto desempenho: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Avaliam arquiteturas voltadas a cálculos intensivos.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Ex.: LINPACK (padrão em supercomputadores – ranking TOP500).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Objetivo: comparar arquiteturas diferentes em cenários padronizados.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sz="32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sz="1600" dirty="0"/>
              <a:t>Cap. 1 – Aspectos da CPU na avaliação de desempenho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583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EAE4E-3E0D-72D2-0EEC-18746BD65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130EA-24B8-9F83-82C3-A7232531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Avaliação em Arquiteturas Paralelas e </a:t>
            </a:r>
            <a:r>
              <a:rPr lang="pt-BR" sz="3200" dirty="0" err="1"/>
              <a:t>Multicore</a:t>
            </a:r>
            <a:endParaRPr lang="pt-BR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E84C22-20D6-B11D-F6BA-A30B405B41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824" y="1304069"/>
            <a:ext cx="7600950" cy="5492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Arquiteturas </a:t>
            </a:r>
            <a:r>
              <a:rPr kumimoji="0" lang="pt-BR" altLang="pt-BR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multicore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múltiplos núcleos em um único processador.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 de avaliação: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Speedup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(aceleração obtida com múltiplos núcleos).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Escalabilidade (desempenho em função do número de processadores).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Eficiência do paralelismo.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Desafios: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Sincronização entre threads/processos.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Conflitos de acesso à memória compartilhada.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 prático: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ganhos de desempenho em servidores </a:t>
            </a:r>
            <a:r>
              <a:rPr kumimoji="0" lang="pt-BR" altLang="pt-BR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multicore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limitações do </a:t>
            </a:r>
            <a:r>
              <a:rPr kumimoji="0" lang="pt-BR" altLang="pt-BR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Amdahl’s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Law.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dirty="0">
              <a:latin typeface="Arial" panose="020B0604020202020204" pitchFamily="34" charset="0"/>
            </a:endParaRPr>
          </a:p>
          <a:p>
            <a:r>
              <a:rPr lang="pt-BR" sz="1400" dirty="0"/>
              <a:t>Cap. 31 – Avaliação de arquiteturas paralelas e </a:t>
            </a:r>
            <a:r>
              <a:rPr lang="pt-BR" sz="1400" dirty="0" err="1"/>
              <a:t>multicore</a:t>
            </a:r>
            <a:endParaRPr lang="pt-BR" sz="14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873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DB438-1FE7-21F9-DCFE-7EFE2A54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F6D5B-F3FC-58D4-5A17-86498D3EB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Lei de </a:t>
            </a:r>
            <a:r>
              <a:rPr lang="pt-BR" sz="3200" dirty="0" err="1"/>
              <a:t>Amdahl</a:t>
            </a:r>
            <a:r>
              <a:rPr lang="pt-BR" sz="3200" dirty="0"/>
              <a:t> e Limitações do Paralelismo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DAB83E-FB42-FC58-EB69-557552C9D2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824" y="1473349"/>
            <a:ext cx="7600950" cy="5154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Lei de </a:t>
            </a:r>
            <a:r>
              <a:rPr kumimoji="0" lang="pt-BR" altLang="pt-BR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Amdahl</a:t>
            </a: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ganho de desempenho é limitado pela parte sequencial do programa.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Fórmula: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dirty="0">
                <a:latin typeface="Arial" panose="020B0604020202020204" pitchFamily="34" charset="0"/>
              </a:rPr>
              <a:t> </a:t>
            </a:r>
            <a:r>
              <a:rPr lang="pt-BR" sz="2000" dirty="0">
                <a:latin typeface="Arial" panose="020B0604020202020204" pitchFamily="34" charset="0"/>
              </a:rPr>
              <a:t>Implicações: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1600" dirty="0">
                <a:latin typeface="Arial" panose="020B0604020202020204" pitchFamily="34" charset="0"/>
              </a:rPr>
              <a:t> Mesmo com muitos processadores, o ganho é limitado.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1600" dirty="0">
                <a:latin typeface="Arial" panose="020B0604020202020204" pitchFamily="34" charset="0"/>
              </a:rPr>
              <a:t>Importância de otimizar a parte sequencial do código.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sz="2000" dirty="0">
                <a:latin typeface="Arial" panose="020B0604020202020204" pitchFamily="34" charset="0"/>
              </a:rPr>
              <a:t>Conclusão: fundamental na avaliação de arquiteturas paralelas.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sz="2000" dirty="0">
              <a:latin typeface="Arial" panose="020B0604020202020204" pitchFamily="34" charset="0"/>
            </a:endParaRPr>
          </a:p>
          <a:p>
            <a:r>
              <a:rPr lang="pt-BR" sz="1400" dirty="0"/>
              <a:t>Cap. 31 – Avaliação de arquiteturas paralelas e </a:t>
            </a:r>
            <a:r>
              <a:rPr lang="pt-BR" sz="1400" dirty="0" err="1"/>
              <a:t>multicore</a:t>
            </a:r>
            <a:endParaRPr lang="pt-BR" sz="14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7B294B3-087D-00F8-4E2D-AAC81056A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703" y="2681534"/>
            <a:ext cx="3716593" cy="149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96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34CA3-94F0-3F24-D2C0-C03556C76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BC89B-CE2F-3DC8-DD2F-7B84B6932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Arquiteturas de Memória Compartilhada </a:t>
            </a:r>
            <a:r>
              <a:rPr lang="pt-BR" sz="3200" dirty="0" err="1"/>
              <a:t>vs</a:t>
            </a:r>
            <a:r>
              <a:rPr lang="pt-BR" sz="3200" dirty="0"/>
              <a:t> Distribuída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E72C69-B919-F4AC-D13C-6436CC4F21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824" y="1190162"/>
            <a:ext cx="7955526" cy="5720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Memória Compartilhada (SMP):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Todos os processadores acessam a mesma memória.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Fácil programação, mas pode gerar conflitos de acesso.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Memória Distribuída (MPP):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 processador possui memória local.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Comunicação feita por mensagens (ex.: MPI).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Escalabilidade maior, mas programação mais complexa.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Avaliação de desempenho: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Mede latência de acesso,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eficiência de comunicação.</a:t>
            </a:r>
            <a:endParaRPr lang="pt-BR" sz="16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/>
              <a:t>Cap. 31 – Avaliação de arquiteturas paralelas e </a:t>
            </a:r>
            <a:r>
              <a:rPr lang="pt-BR" sz="1400" dirty="0" err="1"/>
              <a:t>multicore</a:t>
            </a:r>
            <a:endParaRPr lang="pt-BR" sz="1400" dirty="0"/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016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CE8BD-E2DE-66F8-B6E2-45E6EFFB4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68B17-EADB-5E99-207D-92A62D67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Impacto da Virtualização no Desempenho da Arquitetura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9046C4-BF1B-2F18-F046-CD57CC9180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824" y="1311924"/>
            <a:ext cx="7955526" cy="5477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Virtualização: insere uma camada entre hardware e sistema operacional (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hypervisor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Impactos no desempenho: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Aumento da latência de acesso a CPU e memória.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Overhead no gerenciamento de dispositivos de E/S.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Compartilhamento de recursos entre múltiplas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VMs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Vantagens: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Flexibilidade na alocação de recursos.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Consolidação de servidores físicos.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Avaliação: mede perdas de desempenho em comparação com execução nativa.</a:t>
            </a:r>
          </a:p>
          <a:p>
            <a:r>
              <a:rPr lang="pt-BR" sz="1200" dirty="0"/>
              <a:t>Cap. 12 – Avaliação de desempenho em ambientes virtualizados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300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3EBFE-715E-F2D2-9F97-D38137ACF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0339E-DF54-F538-EADC-84824DB1B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Avaliação de Desempenho em GPUs e Processamento Massivo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399EDF-AFFE-134B-4947-9AE9AE500B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824" y="1473508"/>
            <a:ext cx="7955526" cy="5153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GPUs (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Graphics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Processing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Units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otimizadas para processamento paralelo massivo.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 de avaliação: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GFLOPS (operações de ponto flutuante por segundo).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Eficiência no uso de núcleos CUDA/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OpenCL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Speedup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 relação à CPU.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Aplicações típicas: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Treinamento de modelos de IA.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Simulações científicas.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Processamento gráfico intensivo.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Desafio: equilibrar custo energético e desempenho obtido..</a:t>
            </a:r>
          </a:p>
          <a:p>
            <a:r>
              <a:rPr lang="pt-BR" sz="1200" dirty="0"/>
              <a:t>Cap. 31 – Tendências em arquiteturas paralelas (GPUs e processamento massivo)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111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1CC6E-1B28-B5DA-8397-AEC6B4E4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2741E-2BCD-58EA-9C18-82C4BD923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Eficiência Energética na Avaliação de Arquiteturas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6A3F3B-777B-891E-C10C-0F2049FEC1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824" y="1528396"/>
            <a:ext cx="7955526" cy="504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Consumo de energia é fator crítico em arquiteturas modernas.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 utilizadas: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Performance/Watt → quantidade de operações por unidade de energia.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Energia por instrução executada.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Desafios: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Manter alto desempenho reduzindo consumo.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Equilibrar velocidade de </a:t>
            </a:r>
            <a:r>
              <a:rPr kumimoji="0" lang="pt-BR" altLang="pt-B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clock</a:t>
            </a: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dissipação térmica.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Aplicações práticas: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centers (custo operacional).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Dispositivos móveis (bateria).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sz="1200" dirty="0"/>
              <a:t>Cap. 31 – Tendências em arquiteturas paralelas (GPUs e processamento massivo)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8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DCCBB-C6EF-B645-A76B-8298E247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92C90-1059-C84B-9AAC-EEFBDDB5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Estudo de Caso: Benchmark LINPACK e Supercomputadores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0FEC00-28F5-F963-7F07-B7CA115F84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824" y="1574563"/>
            <a:ext cx="7955526" cy="4951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LINPACK: mede desempenho em operações de ponto flutuante.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 principal: FLOPS (Floating Point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Operations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Second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Uso: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do ranking TOP500 de supercomputadores.</a:t>
            </a:r>
          </a:p>
          <a:p>
            <a:pPr marL="457200" lvl="1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 eficiência em cálculos científicos e simulações complexas.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 prático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comparação entre arquiteturas de supercomputadores usando GFLOPS/PFLOPS.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Conclusão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essencial para medir o poder computacional bruto de arquiteturas massivamente paralelas.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sz="1200" dirty="0"/>
              <a:t>Cap. 31 – Tendências em arquiteturas paralelas (GPUs e processamento massivo)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613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942CB-14D8-D744-321B-CE3FF9777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496E7-FB98-F0FB-6316-A60143F79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Desafios na Avaliação de Arquiteturas Modernas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9766D2-F146-1B52-BD27-BD3DD23E31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824" y="1251399"/>
            <a:ext cx="7955526" cy="5598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Heterogeneidade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integração de CPUs, GPUs e aceleradores especializados (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TPUs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FPGAs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Escalabilidade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dificuldade em prever desempenho em milhares de núcleos.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Consumo energético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necessidade de balancear alto desempenho com sustentabilidade.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Complexidade de memória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múltiplos níveis de cache e arquiteturas NUMA.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Virtualização e Cloud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sobreposição de camadas dificulta medições precisas.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sz="1200" dirty="0"/>
              <a:t>Cap. 31 – Tendências em arquiteturas paralelas (GPUs e processamento massivo)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376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0B97E-4788-064E-7BD0-0C57FEDAA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29B7C-FD83-60C9-4D16-04DB36D3C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Boas Práticas na Avaliação de Arquiteturas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D999A5-E370-63FA-A4ED-D2CFBB5110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824" y="1641091"/>
            <a:ext cx="7955526" cy="4818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Definir métricas adequadas: CPI, MIPS,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eficiência energética.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Usar benchmarks padronizados: SPEC, LINPACK,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Dhrystone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Whetstone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Considerar diferentes cenários: cargas de trabalho reais e simuladas.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Avaliar componentes isoladamente e em conjunto: CPU, memória, E/S.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Repetir medições em condições variadas: carga leve, média e pesada.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Interpretar resultados com criticidade: evitar conclusões baseadas em uma única métrica.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pt-BR" sz="1200" dirty="0"/>
              <a:t>Cap. 1 e Cap. 31 – Recomendações práticas para avaliação de arquiteturas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65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989C7-4C88-9445-A448-2AB286CFF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B09CF-0758-4A47-9019-32A17D348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Tendências Futuras em Arquitetura de Computadores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85D34C-C01D-CD32-D0BA-B2AF193D50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824" y="1242681"/>
            <a:ext cx="7955526" cy="561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Computação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nuvem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arquiteturas otimizadas para ambientes virtualizados e distribuídos.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Computing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processamento próximo ao usuário, reduzindo latência.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Arquiteturas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heterogêneas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integração de CPUs, GPUs,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TPUs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FPGAs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Computação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quântica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novos modelos de avaliação de desempenho além de métricas clássicas.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Sustentabilidade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foco em Green </a:t>
            </a:r>
            <a:r>
              <a:rPr kumimoji="0" lang="pt-BR" altLang="pt-B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Computing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mais performance por watt consumido.</a:t>
            </a:r>
            <a:endParaRPr lang="pt-BR" altLang="pt-BR" sz="20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pt-BR" sz="1200" dirty="0"/>
              <a:t>Cap. 31 – Tendências emergentes em arquiteturas de computadores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935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9C4EC-2485-4CAB-D554-BC4C92158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775E3-72F6-D9D7-B9AC-BF55ECF3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6"/>
            <a:ext cx="78867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Conclusão e Síntese da Aula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8A2004-3924-4CB3-3807-72FB3656A7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824" y="1259738"/>
            <a:ext cx="7955526" cy="5581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avaliação de arquiteturas de computadores é essencial para entender limites e potencial de CPUs, memórias e sistemas multiprocessados.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Métricas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principais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tempo de execução, CPI, MIPS,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eficiência energética.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Técnicas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avaliação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medição direta, modelagem (teoria de filas), simulação e benchmarks.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Tópicos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chave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abordados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pipeline, hierarquia de memória, E/S,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multicore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GPUs e virtualização.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Tendências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futuras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arquiteturas heterogêneas, cloud,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green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computing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Síntese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avaliar arquiteturas significa equilibrar desempenho, custo e sustentabilidade.</a:t>
            </a:r>
            <a:endParaRPr kumimoji="0" lang="pt-BR" altLang="pt-B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pt-BR" sz="1100" dirty="0"/>
              <a:t>Cap. 1, Cap. 5, Cap. 12 e Cap. 31 – Avaliação de desempenho em arquiteturas de computadores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4390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</TotalTime>
  <Words>1793</Words>
  <Application>Microsoft Office PowerPoint</Application>
  <PresentationFormat>Apresentação na tela (4:3)</PresentationFormat>
  <Paragraphs>214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do Office</vt:lpstr>
      <vt:lpstr>Avaliação de Desempenho de Arquitetura de Computadores</vt:lpstr>
      <vt:lpstr>Importância da Avaliação em Arquitetura de Computadores</vt:lpstr>
      <vt:lpstr>Métricas Fundamentais de Desempenho em Arquitetura</vt:lpstr>
      <vt:lpstr>Fatores que Impactam o Desempenho da CPU</vt:lpstr>
      <vt:lpstr>Avaliação de Desempenho em Pipeline de Instruções</vt:lpstr>
      <vt:lpstr>Hierarquia de Memória e Impacto no Desempenho</vt:lpstr>
      <vt:lpstr>Avaliação de Desempenho em Sistemas de Entrada/Saída (E/S)</vt:lpstr>
      <vt:lpstr>Uso de Teoria de Filas na Avaliação de Arquiteturas</vt:lpstr>
      <vt:lpstr>Benchmarks para Arquiteturas de Computadores</vt:lpstr>
      <vt:lpstr>Avaliação em Arquiteturas Paralelas e Multicore</vt:lpstr>
      <vt:lpstr>Lei de Amdahl e Limitações do Paralelismo</vt:lpstr>
      <vt:lpstr>Arquiteturas de Memória Compartilhada vs Distribuída</vt:lpstr>
      <vt:lpstr>Impacto da Virtualização no Desempenho da Arquitetura</vt:lpstr>
      <vt:lpstr>Avaliação de Desempenho em GPUs e Processamento Massivo</vt:lpstr>
      <vt:lpstr>Eficiência Energética na Avaliação de Arquiteturas</vt:lpstr>
      <vt:lpstr>Estudo de Caso: Benchmark LINPACK e Supercomputadores</vt:lpstr>
      <vt:lpstr>Desafios na Avaliação de Arquiteturas Modernas</vt:lpstr>
      <vt:lpstr>Boas Práticas na Avaliação de Arquiteturas</vt:lpstr>
      <vt:lpstr>Tendências Futuras em Arquitetura de Computadores</vt:lpstr>
      <vt:lpstr>Conclusão e Síntese da Aula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Elionai Magalhaes 487017 - Professor MULTIVIX</dc:creator>
  <cp:lastModifiedBy>Elionai Magalhaes 487017 - Professor MULTIVIX</cp:lastModifiedBy>
  <cp:revision>16</cp:revision>
  <dcterms:created xsi:type="dcterms:W3CDTF">2025-08-26T22:52:11Z</dcterms:created>
  <dcterms:modified xsi:type="dcterms:W3CDTF">2025-08-27T23:38:03Z</dcterms:modified>
</cp:coreProperties>
</file>