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82660-8211-4283-9BA7-A71972ED0087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AA6F-A1C5-4310-AED6-BD4BDEA40D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872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82660-8211-4283-9BA7-A71972ED0087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AA6F-A1C5-4310-AED6-BD4BDEA40D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089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82660-8211-4283-9BA7-A71972ED0087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AA6F-A1C5-4310-AED6-BD4BDEA40D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378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82660-8211-4283-9BA7-A71972ED0087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AA6F-A1C5-4310-AED6-BD4BDEA40D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7664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82660-8211-4283-9BA7-A71972ED0087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AA6F-A1C5-4310-AED6-BD4BDEA40D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736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82660-8211-4283-9BA7-A71972ED0087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AA6F-A1C5-4310-AED6-BD4BDEA40D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017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82660-8211-4283-9BA7-A71972ED0087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AA6F-A1C5-4310-AED6-BD4BDEA40D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984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82660-8211-4283-9BA7-A71972ED0087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AA6F-A1C5-4310-AED6-BD4BDEA40D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607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82660-8211-4283-9BA7-A71972ED0087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AA6F-A1C5-4310-AED6-BD4BDEA40D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429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82660-8211-4283-9BA7-A71972ED0087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AA6F-A1C5-4310-AED6-BD4BDEA40D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498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82660-8211-4283-9BA7-A71972ED0087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AA6F-A1C5-4310-AED6-BD4BDEA40D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9551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882660-8211-4283-9BA7-A71972ED0087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8FAA6F-A1C5-4310-AED6-BD4BDEA40D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070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21252-EC7A-C106-69F1-6E2FC6DAA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 de Desempenho de Protocolos de Comunicação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64CD1D-29D9-922E-71A6-41C43A274A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2087949"/>
            <a:ext cx="7886700" cy="3826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Disciplina: Avaliação de Desempenho de Sistemas Computacionais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Tema: Protocolos de Comunicação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Objetivo da aula: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400" dirty="0">
                <a:latin typeface="Arial" panose="020B0604020202020204" pitchFamily="34" charset="0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Apresentar os principais conceitos, métricas, métodos, ferramentas e tendências na avaliação de desempenho de </a:t>
            </a: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protocolos de rede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destacando exemplos práticos (TCP, UDP, VoIP, streaming).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Referência: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GONÇALVES, Marcos José Santana; MACAMBIRA, Juarez. Avaliação de Desempenho de Sistemas Computacionais. Fortaleza: </a:t>
            </a:r>
            <a:r>
              <a:rPr kumimoji="0" lang="pt-BR" altLang="pt-B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EdUECE</a:t>
            </a:r>
            <a:r>
              <a:rPr kumimoji="0" lang="pt-BR" altLang="pt-B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2017.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90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9512A-8C91-CFB2-5945-45969D41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3B7B68-0174-DCEA-D48B-6FBF07EAC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Importância da Avaliação de Protocolos de Comunicação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F301FF-51BC-3E66-4538-3EEAC4E12C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820697"/>
            <a:ext cx="7886700" cy="4361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Protocolos garantem a troca organizada de informações entre sistemas distribuídos.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1800" dirty="0">
                <a:latin typeface="Arial" panose="020B0604020202020204" pitchFamily="34" charset="0"/>
              </a:rPr>
              <a:t>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desempenho da rede impacta diretamente em: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 de resposta das aplicações.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400" dirty="0">
                <a:latin typeface="Arial" panose="020B0604020202020204" pitchFamily="34" charset="0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Qualidade de serviços multimídia (voz, vídeo, streaming).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400" dirty="0">
                <a:latin typeface="Arial" panose="020B0604020202020204" pitchFamily="34" charset="0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Confiabilidade em transações críticas (financeiras, e-commerce).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1800" dirty="0">
                <a:latin typeface="Arial" panose="020B0604020202020204" pitchFamily="34" charset="0"/>
              </a:rPr>
              <a:t>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Avaliar protocolos permite identificar gargalos de comunicação e otimizar redes para eficiência e escalabilidade.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1800" i="1" dirty="0">
              <a:latin typeface="Arial" panose="020B0604020202020204" pitchFamily="34" charset="0"/>
            </a:endParaRPr>
          </a:p>
          <a:p>
            <a:r>
              <a:rPr lang="pt-BR" sz="1600" dirty="0"/>
              <a:t>Cap. 12 – Avaliação de protocolos de comunicação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600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1565C-A093-6920-E261-FB2677BF2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F8A90-5C6B-6806-941B-C298DB05C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949"/>
            <a:ext cx="7886700" cy="1325563"/>
          </a:xfrm>
        </p:spPr>
        <p:txBody>
          <a:bodyPr>
            <a:normAutofit/>
          </a:bodyPr>
          <a:lstStyle/>
          <a:p>
            <a:r>
              <a:rPr lang="pt-BR" sz="3600" dirty="0"/>
              <a:t>Conceitos Básicos de Protocolos de Comunicação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8C6C9C-8F5E-1948-BB49-58E3F73B70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7700" y="1201850"/>
            <a:ext cx="7886700" cy="5952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Definição: 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conjunto de regras que determinam como os dados são transmitidos entre dispositivos.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Funções principais: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Estabelecer conexões.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Organizar pacotes de dados.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Garantir integridade e ordem da transmissão.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Exemplos de protocolos: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TCP/IP: confiável, orientado à conexão.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UDP: rápido, sem conexão.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HTTP/HTTPS: aplicações web.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VoIP (RTP, SIP): comunicação multimídia.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1600" i="1" dirty="0">
              <a:latin typeface="Arial" panose="020B0604020202020204" pitchFamily="34" charset="0"/>
            </a:endParaRPr>
          </a:p>
          <a:p>
            <a:r>
              <a:rPr lang="pt-BR" sz="1600" dirty="0"/>
              <a:t>Cap. 12 – Avaliação de protocolos de comunicação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602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3572E-71C1-09AD-C394-ABAC2FFBD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0389E-8B7F-F252-0A48-B2C19AF6B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949"/>
            <a:ext cx="7886700" cy="1325563"/>
          </a:xfrm>
        </p:spPr>
        <p:txBody>
          <a:bodyPr>
            <a:normAutofit/>
          </a:bodyPr>
          <a:lstStyle/>
          <a:p>
            <a:r>
              <a:rPr lang="pt-BR" sz="3600" dirty="0"/>
              <a:t>Métricas Fundamentais de Avaliação em Protocolos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4BC43E-9B23-EBD6-6602-A6B8571FCD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7700" y="1723532"/>
            <a:ext cx="7886700" cy="4909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Largura de banda 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 quantidade de dados transmitidos por segundo.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Latência: tempo entre envio e recebimento do pacote.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Jitter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variação do atraso entre pacotes sucessivos.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Taxa de perda de pacotes: percentual de pacotes descartados na transmissão.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Overhead: quantidade de dados extras adicionados pelos cabeçalhos e mecanismos de controle.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1600" i="1" dirty="0">
              <a:latin typeface="Arial" panose="020B0604020202020204" pitchFamily="34" charset="0"/>
            </a:endParaRPr>
          </a:p>
          <a:p>
            <a:r>
              <a:rPr lang="pt-BR" sz="1600" dirty="0"/>
              <a:t>Cap. 12 – Avaliação de protocolos de comunicação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17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84D64-87C5-58C1-AAC2-4D312578B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AB725C-5494-4EF5-B58B-C7D342B2F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949"/>
            <a:ext cx="7886700" cy="1325563"/>
          </a:xfrm>
        </p:spPr>
        <p:txBody>
          <a:bodyPr>
            <a:normAutofit/>
          </a:bodyPr>
          <a:lstStyle/>
          <a:p>
            <a:r>
              <a:rPr lang="pt-BR" sz="3600" dirty="0"/>
              <a:t>Métodos de Avaliação de Protocolos: Medição, Modelagem e Simulação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22AF6E-791A-C4FD-8FE0-16D20E2852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7700" y="1253761"/>
            <a:ext cx="7886700" cy="584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Medição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Coleta de dados em redes reais.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Ex.: medir latência e perdas com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ping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iperf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Modelagem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 de fórmulas matemáticas para prever desempenho.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Ex.: teoria de filas para analisar tráfego de pacotes.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Simulação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Criação de cenários controlados em laboratório.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Ex.: simular congestionamento em TCP e UDP.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1400" i="1" dirty="0">
              <a:latin typeface="Arial" panose="020B0604020202020204" pitchFamily="34" charset="0"/>
            </a:endParaRPr>
          </a:p>
          <a:p>
            <a:r>
              <a:rPr lang="pt-BR" sz="1800" dirty="0"/>
              <a:t>Cap. 5 e Cap. 12 – Métodos de avaliação de protocolos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790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1061F-F29B-8FE9-80CA-13E514735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757BDB-1CB9-F1A9-7993-201540B1E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949"/>
            <a:ext cx="7886700" cy="1325563"/>
          </a:xfrm>
        </p:spPr>
        <p:txBody>
          <a:bodyPr>
            <a:normAutofit/>
          </a:bodyPr>
          <a:lstStyle/>
          <a:p>
            <a:r>
              <a:rPr lang="pt-BR" sz="3600" dirty="0"/>
              <a:t>Ferramentas de Avaliação de Protocolos de Comunicação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76C878-C096-AC5B-E5BE-D883CF145B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042266"/>
            <a:ext cx="7886700" cy="6449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IPERF: mede largura de banda,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jitter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perdas.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Wireshark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captura pacotes e analisa cabeçalhos de protocolos.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Ping: mede latência e perda de pacotes em conexões simples.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Traceroute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identifica a rota e atrasos em cada salto da rede.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NetPerf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avalia desempenho de TCP, UDP e sockets de rede.</a:t>
            </a:r>
            <a:endParaRPr lang="pt-BR" altLang="pt-BR" sz="1800" dirty="0">
              <a:latin typeface="Arial" panose="020B0604020202020204" pitchFamily="34" charset="0"/>
            </a:endParaRP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1400" i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800" dirty="0"/>
              <a:t>Cap. 12 – Ferramentas práticas para avaliação de protocolos</a:t>
            </a:r>
          </a:p>
          <a:p>
            <a:pPr>
              <a:lnSpc>
                <a:spcPct val="150000"/>
              </a:lnSpc>
            </a:pP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502536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D10BE-7A14-E92B-030A-3DB761D03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DCE0A0-9A24-AC93-5FD1-7C87F9DCB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949"/>
            <a:ext cx="7886700" cy="1325563"/>
          </a:xfrm>
        </p:spPr>
        <p:txBody>
          <a:bodyPr>
            <a:normAutofit/>
          </a:bodyPr>
          <a:lstStyle/>
          <a:p>
            <a:r>
              <a:rPr lang="pt-BR" sz="3600" dirty="0"/>
              <a:t>Protocolo TCP: Características e Avaliação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655F29-15C7-77C1-C90E-810DCCE212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663" y="1462878"/>
            <a:ext cx="7886700" cy="5017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Características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Orientado à conexão.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Garantia de entrega e ordem dos pacotes.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Controle de congestionamento e retransmissão.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Avaliação de desempenho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Mede latência e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 transmissões confiáveis.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Overhead maior devido a confirmações 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ACKs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Bom para transações financeiras e transferência de arquivos.</a:t>
            </a:r>
            <a:endParaRPr lang="pt-BR" altLang="pt-BR" sz="1000" i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800" dirty="0"/>
              <a:t>Cap. 12 – Ferramentas práticas para avaliação de protocolos</a:t>
            </a:r>
          </a:p>
          <a:p>
            <a:pPr>
              <a:lnSpc>
                <a:spcPct val="150000"/>
              </a:lnSpc>
            </a:pP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268148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E0E26-5E39-60E9-3F4B-23D516B0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4DD009-8A76-A88E-DFF2-C7D9004A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949"/>
            <a:ext cx="7886700" cy="1325563"/>
          </a:xfrm>
        </p:spPr>
        <p:txBody>
          <a:bodyPr>
            <a:normAutofit/>
          </a:bodyPr>
          <a:lstStyle/>
          <a:p>
            <a:r>
              <a:rPr lang="pt-BR" sz="3600" dirty="0"/>
              <a:t>Protocolo UDP: Avaliação em Cenários Reais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A1779D-EE25-3987-947D-050FCE9525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663" y="1388498"/>
            <a:ext cx="7886700" cy="5166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Streaming de vídeo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Mede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jitter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perda de pacotes → qualidade da reprodução.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VoIP (chamadas de voz pela internet)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Atraso acima de 150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já degrada a experiência.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Jogos online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Pequenos pacotes frequentes, exigem mínima latência.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Conclusão: UDP é avaliado priorizando responsividade e continuidade da transmissão.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sz="1800" dirty="0"/>
              <a:t>Cap. 12 – Ferramentas práticas para avaliação de protocolos</a:t>
            </a:r>
          </a:p>
          <a:p>
            <a:pPr>
              <a:lnSpc>
                <a:spcPct val="150000"/>
              </a:lnSpc>
            </a:pP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005490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E347E-8C5E-AB1A-9938-D889263AA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78C138-EF4C-B3C0-4426-506C84ADB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949"/>
            <a:ext cx="7886700" cy="1325563"/>
          </a:xfrm>
        </p:spPr>
        <p:txBody>
          <a:bodyPr>
            <a:normAutofit/>
          </a:bodyPr>
          <a:lstStyle/>
          <a:p>
            <a:r>
              <a:rPr lang="pt-BR" sz="3600" dirty="0"/>
              <a:t>Comparação TCP </a:t>
            </a:r>
            <a:r>
              <a:rPr lang="pt-BR" sz="3600" dirty="0" err="1"/>
              <a:t>vs</a:t>
            </a:r>
            <a:r>
              <a:rPr lang="pt-BR" sz="3600" dirty="0"/>
              <a:t> UDP sob Carga de Rede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7072DC-117D-BC98-ABAE-E4B81C6C04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663" y="1019165"/>
            <a:ext cx="7886700" cy="5905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TCP sob congestionamento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Ajusta a taxa de envio (janela deslizante).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Maior resiliência, mas pode cair o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UDP sob congestionamento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Continua enviando pacotes → risco de maior perda.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Ideal para aplicações tolerantes a falhas.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Análise de desempenho: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TCP → avaliado por integridade.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UDP → avaliado por velocidade em tempo real.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sz="1800" dirty="0"/>
              <a:t>Cap. 12 – Ferramentas práticas para avaliação de protocolos</a:t>
            </a:r>
          </a:p>
          <a:p>
            <a:pPr>
              <a:lnSpc>
                <a:spcPct val="150000"/>
              </a:lnSpc>
            </a:pP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629609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0769B-E8D1-F209-8FFC-98AC35FB4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21F49E-03EF-8210-464C-06F3581EB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949"/>
            <a:ext cx="7886700" cy="1325563"/>
          </a:xfrm>
        </p:spPr>
        <p:txBody>
          <a:bodyPr>
            <a:normAutofit/>
          </a:bodyPr>
          <a:lstStyle/>
          <a:p>
            <a:r>
              <a:rPr lang="pt-BR" sz="3600" dirty="0"/>
              <a:t>Protocolos de Aplicação: HTTP, HTTPS e VoIP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BEBC23-8661-BC93-10F5-110005903C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663" y="972997"/>
            <a:ext cx="7886700" cy="5997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HTTP/HTTPS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Usados em aplicações web.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Métricas: tempo de resposta de páginas, latência de requisições, overhead da criptografia no HTTPS.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VoIP (SIP/RTP)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Usado em chamadas de voz e vídeo.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Métricas: atraso máximo aceitável (≤150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jitter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taxa de perda de pacotes.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Importância: protocolos de aplicação exigem avaliação combinada: rede + segurança + experiência do usuário.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sz="1800" dirty="0"/>
              <a:t>Cap. 12 – Ferramentas práticas para avaliação de protocolos</a:t>
            </a:r>
          </a:p>
          <a:p>
            <a:pPr>
              <a:lnSpc>
                <a:spcPct val="150000"/>
              </a:lnSpc>
            </a:pP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587489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D6040-E89E-6C5F-57E5-D9B819A34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534CE5-6337-5D8E-0250-C1F956F1B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49161"/>
            <a:ext cx="7886700" cy="1325563"/>
          </a:xfrm>
        </p:spPr>
        <p:txBody>
          <a:bodyPr>
            <a:normAutofit/>
          </a:bodyPr>
          <a:lstStyle/>
          <a:p>
            <a:r>
              <a:rPr lang="pt-BR" sz="3600" dirty="0"/>
              <a:t>Avaliação de Protocolos em Redes Sem Fio (Wi-Fi e 4G/5G)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D778CC-AA88-A2C1-AC8F-F2D62DA9BE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663" y="966579"/>
            <a:ext cx="7886700" cy="5891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Wi-Fi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Protocolos IEEE 802.11.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Métricas: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nominal, interferência, taxa de retransmissão.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4G/5G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Avaliação de protocolos de mobilidade e latência ultrabaixa.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Métricas: latência média &lt; 10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(5G), confiabilidade em conexões móveis.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Desafios:</a:t>
            </a:r>
          </a:p>
          <a:p>
            <a:pPr marL="914400" lvl="2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Variação da qualidade do sinal.</a:t>
            </a:r>
          </a:p>
          <a:p>
            <a:pPr marL="914400" lvl="2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Interferência de múltiplos dispositivos conectados.</a:t>
            </a:r>
          </a:p>
          <a:p>
            <a:r>
              <a:rPr lang="pt-BR" sz="1800" dirty="0"/>
              <a:t>Cap. 31 – Tendências em avaliação de protocolos de comunicação em redes móveis</a:t>
            </a:r>
          </a:p>
        </p:txBody>
      </p:sp>
    </p:spTree>
    <p:extLst>
      <p:ext uri="{BB962C8B-B14F-4D97-AF65-F5344CB8AC3E}">
        <p14:creationId xmlns:p14="http://schemas.microsoft.com/office/powerpoint/2010/main" val="1504388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D9B3A-DA67-84F4-36E0-A08DB2213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8D4CE0-273D-774A-F65D-68EA9B56E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49161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pt-BR" sz="3600" dirty="0"/>
              <a:t>Avaliação de Protocolos em Redes Multimídia (Streaming e Videoconferência)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8260CA-2422-430A-95A9-FD76BD8283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663" y="1183561"/>
            <a:ext cx="7886700" cy="5457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Streaming de vídeo (YouTube, Netflix):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Métricas: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buffering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taxa de bits adaptativa, tempo de inicialização.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Protocolos: HTTP adaptativo (HLS, MPEG-DASH).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Videoconferência (Zoom, Teams):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Métricas: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jitter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latência interativa (&lt;150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taxa de perda de pacotes.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Protocolos: RTP/RTCP para mídia em tempo real.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Avaliação crítica: experiência do usuário depende de rede estável + otimização de protocolos multimídia.</a:t>
            </a:r>
          </a:p>
          <a:p>
            <a:r>
              <a:rPr lang="pt-BR" sz="1800" dirty="0"/>
              <a:t>Cap. 12 – Exemplos práticos de avaliação em aplicações multimídia</a:t>
            </a:r>
          </a:p>
        </p:txBody>
      </p:sp>
    </p:spTree>
    <p:extLst>
      <p:ext uri="{BB962C8B-B14F-4D97-AF65-F5344CB8AC3E}">
        <p14:creationId xmlns:p14="http://schemas.microsoft.com/office/powerpoint/2010/main" val="276182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5305D-03D2-19CD-3C1A-1FAA23AA6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B6A15-A907-2C85-61E6-71E8F4A92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49161"/>
            <a:ext cx="7886700" cy="1325563"/>
          </a:xfrm>
        </p:spPr>
        <p:txBody>
          <a:bodyPr>
            <a:normAutofit/>
          </a:bodyPr>
          <a:lstStyle/>
          <a:p>
            <a:r>
              <a:rPr lang="pt-BR" sz="3600" dirty="0"/>
              <a:t>Modelagem de Protocolos como Filas de Transmissão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F2ABF0-BE41-2060-7160-25EF4AF5D1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663" y="1151309"/>
            <a:ext cx="7886700" cy="5521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Protocolos podem ser representados como sistemas de filas: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Pacotes = clientes.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Roteadores/enlaces = servidores.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Métricas analisadas: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 médio de espera na fila.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Taxa de ocupação dos enlaces.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Probabilidade de descarte de pacotes.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Aplicação prática: prever gargalos e avaliar impacto de congestionamentos em diferentes protocolos.</a:t>
            </a:r>
          </a:p>
          <a:p>
            <a:r>
              <a:rPr lang="pt-BR" sz="1600" dirty="0"/>
              <a:t>Cap. 5 – Redes de filas aplicadas à comunicação de dados</a:t>
            </a:r>
          </a:p>
        </p:txBody>
      </p:sp>
    </p:spTree>
    <p:extLst>
      <p:ext uri="{BB962C8B-B14F-4D97-AF65-F5344CB8AC3E}">
        <p14:creationId xmlns:p14="http://schemas.microsoft.com/office/powerpoint/2010/main" val="812204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33A09-9124-BC1D-C4AB-C3AAD8250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789368-3D92-312B-5876-1BC83B73A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49161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Exemplo Prático: Simulação de TCP e UDP em Cenário de Congestionamento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A9F089-A979-7AF0-48EE-4ECC2450A3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663" y="1067696"/>
            <a:ext cx="7886700" cy="5689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Cenário de teste: rede com alta concorrência de tráfego.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TCP: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Ajusta a taxa de envio (controle de congestionamento).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Mantém confiabilidade, mas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pode cair.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UDP: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Continua transmitindo sem ajuste → maior risco de perdas.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Mantém baixa latência, útil para streaming/jogos.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Conclusão: simulações permitem prever impacto do congestionamento e orientar escolha do protocolo.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1600" dirty="0"/>
              <a:t>Cap. 5 – Redes de filas aplicadas à comunicação de dados</a:t>
            </a:r>
          </a:p>
        </p:txBody>
      </p:sp>
    </p:spTree>
    <p:extLst>
      <p:ext uri="{BB962C8B-B14F-4D97-AF65-F5344CB8AC3E}">
        <p14:creationId xmlns:p14="http://schemas.microsoft.com/office/powerpoint/2010/main" val="2691841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DF507-3ECE-861C-1BB5-09196C0C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F4ECB-1655-1514-55BE-9BFCE1C6F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49161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Desafios na Avaliação de Protocolos de Comunicação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4D57D9-4727-5648-3219-20A70F9715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663" y="1390861"/>
            <a:ext cx="7886700" cy="5042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Ambientes heterogêneos: múltiplos dispositivos, redes e aplicações dificultam padronização de testes.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Variação temporal: desempenho muda em horários de pico e baixa.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Escalabilidade: avaliar comportamento em milhares/milhões de conexões simultâneas.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Impacto da segurança: criptografia (TLS, IPSec) aumenta latência e overhead.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Interdependência: desempenho final depende da interação entre protocolo, rede e aplicação.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1600" dirty="0"/>
              <a:t>Cap. 5 – Redes de filas aplicadas à comunicação de dados</a:t>
            </a:r>
          </a:p>
        </p:txBody>
      </p:sp>
    </p:spTree>
    <p:extLst>
      <p:ext uri="{BB962C8B-B14F-4D97-AF65-F5344CB8AC3E}">
        <p14:creationId xmlns:p14="http://schemas.microsoft.com/office/powerpoint/2010/main" val="1861644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2AEA5-692F-A8DF-D830-3A77A2CA2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987E1-8D1F-550D-3E97-67B90343F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49161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Boas Práticas para Avaliação de Protocolos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8EF864-BE75-B3AE-7588-C5249A6BE3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663" y="1151310"/>
            <a:ext cx="7886700" cy="5521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Definir objetivos claros: latência,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jitter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 perda de pacotes.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Usar cargas realistas: simular cenários próximos ao uso real da aplicação.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Utilizar benchmarks e ferramentas confiáveis (IPERF,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NetPerf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Wireshark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Repetir testes em diferentes condições: horários de pico, diferentes topologias.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Interpretar resultados criticamente: considerar limitações do ambiente e variabilidade.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pt-BR" sz="1600" dirty="0"/>
              <a:t>Cap. 12 – Orientações práticas para avaliação de protocolos</a:t>
            </a:r>
          </a:p>
        </p:txBody>
      </p:sp>
    </p:spTree>
    <p:extLst>
      <p:ext uri="{BB962C8B-B14F-4D97-AF65-F5344CB8AC3E}">
        <p14:creationId xmlns:p14="http://schemas.microsoft.com/office/powerpoint/2010/main" val="2667796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65BCD-2EEA-5597-9086-03766EDD3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CE90E-44EE-9B18-AE47-5B354DE60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49161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Protocolos em Redes Definidas por Software (SDN)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9971A0-DF61-4A96-6345-0167AA15C3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663" y="1382143"/>
            <a:ext cx="7886700" cy="5060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SDN (Software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Defined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Networking): separa plano de controle e plano de dados.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Protocolos principais: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OpenFlow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comunicação entre controladores e switches.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NETCONF/RESTCONF: configuração e gerenciamento de rede.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Métricas de avaliação: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 de resposta dos controladores.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Escalabilidade no gerenciamento de fluxos.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Resiliência a falhas na rede.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Importância: avaliar protocolos SDN garante eficiência em redes modernas e dinâmicas.</a:t>
            </a:r>
          </a:p>
          <a:p>
            <a:r>
              <a:rPr lang="pt-BR" sz="1600" dirty="0"/>
              <a:t>Cap. 31 – Tendências emergentes em protocolos de rede</a:t>
            </a:r>
          </a:p>
        </p:txBody>
      </p:sp>
    </p:spTree>
    <p:extLst>
      <p:ext uri="{BB962C8B-B14F-4D97-AF65-F5344CB8AC3E}">
        <p14:creationId xmlns:p14="http://schemas.microsoft.com/office/powerpoint/2010/main" val="3744847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EE0BF-67E1-DF2D-5A40-48B76D6C5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71B5C0-B203-0085-C69F-FDED41488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49161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Protocolos em IoT e Redes 5G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E38A4C-B26C-A11D-71D4-6F9FDA4BD1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663" y="1520644"/>
            <a:ext cx="7886700" cy="4783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 (Internet das Coisas):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Protocolos leves: MQTT,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CoAP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Avaliação foca em consumo de energia, latência e confiabilidade em dispositivos limitados.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5G: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Suporte a URLLC (Ultra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Reliable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Latency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Communication).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Métricas: latência &lt; 1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 cenários críticos, alta densidade de dispositivos.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Desafios: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Manter desempenho estável em ambientes dinâmicos e massivos.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Equilíbrio entre eficiência energética e qualidade da comunicação.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pt-BR" sz="1600" dirty="0"/>
              <a:t>Cap. 31 – Tendências emergentes em avaliação de protocolos (IoT e 5G)</a:t>
            </a:r>
          </a:p>
        </p:txBody>
      </p:sp>
    </p:spTree>
    <p:extLst>
      <p:ext uri="{BB962C8B-B14F-4D97-AF65-F5344CB8AC3E}">
        <p14:creationId xmlns:p14="http://schemas.microsoft.com/office/powerpoint/2010/main" val="3395324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489C8-CEEF-4847-54C5-03A62DBB4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6FAD82-B88F-8C40-4A4B-B5C5279AE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49161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Novos Desafios: Cloud, Edge e Segurança em Protocolos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82E353-691F-7C34-6306-179C80842F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663" y="1530391"/>
            <a:ext cx="7886700" cy="4763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Computing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Protocolos de transporte e aplicação avaliados sob demanda elástica.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Métricas: latência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interdatacenter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custo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desempenho.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Computing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Protocolos otimizados para baixa latência e processamento próximo ao usuário.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Métricas: tempo de resposta e eficiência energética.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Segurança: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Protocolos como TLS, IPSec adicionam overhead.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Avaliação equilibra confidencialidade e desempenho.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1600" dirty="0"/>
          </a:p>
          <a:p>
            <a:r>
              <a:rPr lang="pt-BR" sz="1600" dirty="0"/>
              <a:t>Cap. 31 – Desafios atuais em protocolos de comunicação</a:t>
            </a:r>
          </a:p>
        </p:txBody>
      </p:sp>
    </p:spTree>
    <p:extLst>
      <p:ext uri="{BB962C8B-B14F-4D97-AF65-F5344CB8AC3E}">
        <p14:creationId xmlns:p14="http://schemas.microsoft.com/office/powerpoint/2010/main" val="375109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566C-695F-DF85-52E4-6BAD148D0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BB7B7E-4EA3-E1CA-B299-8E253EBBB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49161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Conclusão e Síntese da Aula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BBA3B2-4802-53E0-69D6-B1BE5929E0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663" y="1151314"/>
            <a:ext cx="7886700" cy="5521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avaliação de protocolos de comunicação é essencial para garantir qualidade, eficiência e escalabilidade das redes.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Métricas-chave: latência,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jitter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perdas e overhead.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Ferramentas: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IPerf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Wireshark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NetPerf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Ping,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Traceroute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Exemplos práticos: TCP (confiável) x UDP (tempo real), VoIP, streaming e jogos online.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Tendências: SDN, IoT, 5G, Cloud e Edge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Computing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trazem novos desafios.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Síntese: avaliar protocolos significa equilibrar velocidade, confiabilidade e segurança, garantindo melhor experiência ao usuário.</a:t>
            </a:r>
            <a:endParaRPr lang="pt-BR" sz="1600" dirty="0"/>
          </a:p>
          <a:p>
            <a:r>
              <a:rPr lang="pt-BR" sz="1600" dirty="0"/>
              <a:t>Caps. 5, 12 e 31 – Avaliação de protocolos de comunicação e tendências emergentes</a:t>
            </a:r>
          </a:p>
        </p:txBody>
      </p:sp>
    </p:spTree>
    <p:extLst>
      <p:ext uri="{BB962C8B-B14F-4D97-AF65-F5344CB8AC3E}">
        <p14:creationId xmlns:p14="http://schemas.microsoft.com/office/powerpoint/2010/main" val="9655172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1685</Words>
  <Application>Microsoft Office PowerPoint</Application>
  <PresentationFormat>Apresentação na tela (4:3)</PresentationFormat>
  <Paragraphs>199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Tema do Office</vt:lpstr>
      <vt:lpstr>Avaliação de Desempenho de Protocolos de Comunicação</vt:lpstr>
      <vt:lpstr>Importância da Avaliação de Protocolos de Comunicação</vt:lpstr>
      <vt:lpstr>Conceitos Básicos de Protocolos de Comunicação</vt:lpstr>
      <vt:lpstr>Métricas Fundamentais de Avaliação em Protocolos</vt:lpstr>
      <vt:lpstr>Métodos de Avaliação de Protocolos: Medição, Modelagem e Simulação</vt:lpstr>
      <vt:lpstr>Ferramentas de Avaliação de Protocolos de Comunicação</vt:lpstr>
      <vt:lpstr>Protocolo TCP: Características e Avaliação</vt:lpstr>
      <vt:lpstr>Protocolo UDP: Avaliação em Cenários Reais</vt:lpstr>
      <vt:lpstr>Comparação TCP vs UDP sob Carga de Rede</vt:lpstr>
      <vt:lpstr>Protocolos de Aplicação: HTTP, HTTPS e VoIP</vt:lpstr>
      <vt:lpstr>Avaliação de Protocolos em Redes Sem Fio (Wi-Fi e 4G/5G)</vt:lpstr>
      <vt:lpstr>Avaliação de Protocolos em Redes Multimídia (Streaming e Videoconferência)</vt:lpstr>
      <vt:lpstr>Modelagem de Protocolos como Filas de Transmissão</vt:lpstr>
      <vt:lpstr>Exemplo Prático: Simulação de TCP e UDP em Cenário de Congestionamento</vt:lpstr>
      <vt:lpstr>Desafios na Avaliação de Protocolos de Comunicação</vt:lpstr>
      <vt:lpstr>Boas Práticas para Avaliação de Protocolos</vt:lpstr>
      <vt:lpstr>Protocolos em Redes Definidas por Software (SDN)</vt:lpstr>
      <vt:lpstr>Protocolos em IoT e Redes 5G</vt:lpstr>
      <vt:lpstr>Novos Desafios: Cloud, Edge e Segurança em Protocolos</vt:lpstr>
      <vt:lpstr>Conclusão e Síntese da Aula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Elionai Magalhaes 487017 - Professor MULTIVIX</dc:creator>
  <cp:lastModifiedBy>Elionai Magalhaes 487017 - Professor MULTIVIX</cp:lastModifiedBy>
  <cp:revision>18</cp:revision>
  <dcterms:created xsi:type="dcterms:W3CDTF">2025-08-26T22:05:36Z</dcterms:created>
  <dcterms:modified xsi:type="dcterms:W3CDTF">2025-08-26T22:49:26Z</dcterms:modified>
</cp:coreProperties>
</file>