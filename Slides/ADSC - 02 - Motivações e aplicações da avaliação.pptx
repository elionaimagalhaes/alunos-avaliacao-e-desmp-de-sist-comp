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6" r:id="rId2"/>
    <p:sldId id="268" r:id="rId3"/>
    <p:sldId id="267" r:id="rId4"/>
    <p:sldId id="269" r:id="rId5"/>
    <p:sldId id="270" r:id="rId6"/>
    <p:sldId id="271" r:id="rId7"/>
    <p:sldId id="272" r:id="rId8"/>
    <p:sldId id="273" r:id="rId9"/>
    <p:sldId id="275" r:id="rId10"/>
    <p:sldId id="274" r:id="rId11"/>
    <p:sldId id="276" r:id="rId12"/>
    <p:sldId id="277" r:id="rId13"/>
    <p:sldId id="278" r:id="rId14"/>
    <p:sldId id="279" r:id="rId15"/>
    <p:sldId id="28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pt-BR"/>
              <a:t>Clique para editar o título Mestre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C652D8F1-610A-4F7F-9C9A-799B031AE200}" type="datetimeFigureOut">
              <a:rPr lang="pt-BR" smtClean="0"/>
              <a:t>14/08/2025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3560263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3"/>
          <p:cNvSpPr>
            <a:spLocks noGrp="1"/>
          </p:cNvSpPr>
          <p:nvPr>
            <p:ph type="dt" sz="half" idx="10"/>
          </p:nvPr>
        </p:nvSpPr>
        <p:spPr/>
        <p:txBody>
          <a:bodyPr/>
          <a:lstStyle/>
          <a:p>
            <a:fld id="{C652D8F1-610A-4F7F-9C9A-799B031AE200}" type="datetimeFigureOut">
              <a:rPr lang="pt-BR" smtClean="0"/>
              <a:t>14/08/2025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498193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652D8F1-610A-4F7F-9C9A-799B031AE200}" type="datetimeFigureOut">
              <a:rPr lang="pt-BR" smtClean="0"/>
              <a:t>14/08/2025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533262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C652D8F1-610A-4F7F-9C9A-799B031AE200}" type="datetimeFigureOut">
              <a:rPr lang="pt-BR" smtClean="0"/>
              <a:t>14/08/2025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96537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C652D8F1-610A-4F7F-9C9A-799B031AE200}" type="datetimeFigureOut">
              <a:rPr lang="pt-BR" smtClean="0"/>
              <a:t>14/08/2025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1487404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7" name="Date Placeholder 2"/>
          <p:cNvSpPr>
            <a:spLocks noGrp="1"/>
          </p:cNvSpPr>
          <p:nvPr>
            <p:ph type="dt" sz="half" idx="10"/>
          </p:nvPr>
        </p:nvSpPr>
        <p:spPr/>
        <p:txBody>
          <a:bodyPr/>
          <a:lstStyle/>
          <a:p>
            <a:fld id="{C652D8F1-610A-4F7F-9C9A-799B031AE200}" type="datetimeFigureOut">
              <a:rPr lang="pt-BR" smtClean="0"/>
              <a:t>14/08/2025</a:t>
            </a:fld>
            <a:endParaRPr lang="pt-BR"/>
          </a:p>
        </p:txBody>
      </p:sp>
      <p:sp>
        <p:nvSpPr>
          <p:cNvPr id="5" name="Footer Placeholder 3"/>
          <p:cNvSpPr>
            <a:spLocks noGrp="1"/>
          </p:cNvSpPr>
          <p:nvPr>
            <p:ph type="ftr" sz="quarter" idx="11"/>
          </p:nvPr>
        </p:nvSpPr>
        <p:spPr/>
        <p:txBody>
          <a:bodyPr/>
          <a:lstStyle/>
          <a:p>
            <a:endParaRPr lang="pt-BR"/>
          </a:p>
        </p:txBody>
      </p:sp>
      <p:sp>
        <p:nvSpPr>
          <p:cNvPr id="6" name="Slide Number Placeholder 4"/>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954359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652D8F1-610A-4F7F-9C9A-799B031AE200}" type="datetimeFigureOut">
              <a:rPr lang="pt-BR" smtClean="0"/>
              <a:t>14/08/2025</a:t>
            </a:fld>
            <a:endParaRPr lang="pt-BR"/>
          </a:p>
        </p:txBody>
      </p:sp>
      <p:sp>
        <p:nvSpPr>
          <p:cNvPr id="5" name="Footer Placeholder 2"/>
          <p:cNvSpPr>
            <a:spLocks noGrp="1"/>
          </p:cNvSpPr>
          <p:nvPr>
            <p:ph type="ftr" sz="quarter" idx="11"/>
          </p:nvPr>
        </p:nvSpPr>
        <p:spPr/>
        <p:txBody>
          <a:bodyPr/>
          <a:lstStyle/>
          <a:p>
            <a:endParaRPr lang="pt-BR"/>
          </a:p>
        </p:txBody>
      </p:sp>
      <p:sp>
        <p:nvSpPr>
          <p:cNvPr id="6" name="Slide Number Placeholder 3"/>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1101486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pt-BR"/>
              <a:t>Clique para editar o título Mestre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7" name="Date Placeholder 4"/>
          <p:cNvSpPr>
            <a:spLocks noGrp="1"/>
          </p:cNvSpPr>
          <p:nvPr>
            <p:ph type="dt" sz="half" idx="10"/>
          </p:nvPr>
        </p:nvSpPr>
        <p:spPr/>
        <p:txBody>
          <a:bodyPr/>
          <a:lstStyle/>
          <a:p>
            <a:fld id="{C652D8F1-610A-4F7F-9C9A-799B031AE200}" type="datetimeFigureOut">
              <a:rPr lang="pt-BR" smtClean="0"/>
              <a:t>14/08/2025</a:t>
            </a:fld>
            <a:endParaRPr lang="pt-BR"/>
          </a:p>
        </p:txBody>
      </p:sp>
      <p:sp>
        <p:nvSpPr>
          <p:cNvPr id="5" name="Footer Placeholder 5"/>
          <p:cNvSpPr>
            <a:spLocks noGrp="1"/>
          </p:cNvSpPr>
          <p:nvPr>
            <p:ph type="ftr" sz="quarter" idx="11"/>
          </p:nvPr>
        </p:nvSpPr>
        <p:spPr/>
        <p:txBody>
          <a:bodyPr/>
          <a:lstStyle/>
          <a:p>
            <a:endParaRPr lang="pt-BR"/>
          </a:p>
        </p:txBody>
      </p:sp>
      <p:sp>
        <p:nvSpPr>
          <p:cNvPr id="6" name="Slide Number Placeholder 6"/>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2873722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C652D8F1-610A-4F7F-9C9A-799B031AE200}" type="datetimeFigureOut">
              <a:rPr lang="pt-BR" smtClean="0"/>
              <a:t>14/08/2025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3519983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C652D8F1-610A-4F7F-9C9A-799B031AE200}" type="datetimeFigureOut">
              <a:rPr lang="pt-BR" smtClean="0"/>
              <a:t>14/08/2025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1273469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pt-BR"/>
              <a:t>Clique para editar o título Mestre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652D8F1-610A-4F7F-9C9A-799B031AE200}" type="datetimeFigureOut">
              <a:rPr lang="pt-BR" smtClean="0"/>
              <a:t>14/08/2025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776103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pt-BR"/>
              <a:t>Clique para editar o título Mestre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pt-BR"/>
              <a:t>Clique para editar os estilos de texto Mestres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652D8F1-610A-4F7F-9C9A-799B031AE200}" type="datetimeFigureOut">
              <a:rPr lang="pt-BR" smtClean="0"/>
              <a:t>14/08/2025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1FC2326-D051-49B8-B3FD-ACC50713B96D}" type="slidenum">
              <a:rPr lang="pt-BR" smtClean="0"/>
              <a:t>‹nº›</a:t>
            </a:fld>
            <a:endParaRPr lang="pt-BR"/>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2283332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652D8F1-610A-4F7F-9C9A-799B031AE200}" type="datetimeFigureOut">
              <a:rPr lang="pt-BR" smtClean="0"/>
              <a:t>14/08/2025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2880934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pt-BR"/>
              <a:t>Clique para editar o título Mestre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652D8F1-610A-4F7F-9C9A-799B031AE200}" type="datetimeFigureOut">
              <a:rPr lang="pt-BR" smtClean="0"/>
              <a:t>14/08/2025</a:t>
            </a:fld>
            <a:endParaRPr lang="pt-BR"/>
          </a:p>
        </p:txBody>
      </p:sp>
      <p:sp>
        <p:nvSpPr>
          <p:cNvPr id="4"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1125365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pt-BR"/>
              <a:t>Clique para editar o título Mestre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652D8F1-610A-4F7F-9C9A-799B031AE200}" type="datetimeFigureOut">
              <a:rPr lang="pt-BR" smtClean="0"/>
              <a:t>14/08/2025</a:t>
            </a:fld>
            <a:endParaRPr lang="pt-BR"/>
          </a:p>
        </p:txBody>
      </p:sp>
      <p:sp>
        <p:nvSpPr>
          <p:cNvPr id="4"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380647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nchorCtr="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C652D8F1-610A-4F7F-9C9A-799B031AE200}" type="datetimeFigureOut">
              <a:rPr lang="pt-BR" smtClean="0"/>
              <a:t>14/08/2025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15151728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pt-BR"/>
              <a:t>Clique para editar o título Mestre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C652D8F1-610A-4F7F-9C9A-799B031AE200}" type="datetimeFigureOut">
              <a:rPr lang="pt-BR" smtClean="0"/>
              <a:t>14/08/2025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1FC2326-D051-49B8-B3FD-ACC50713B96D}" type="slidenum">
              <a:rPr lang="pt-BR" smtClean="0"/>
              <a:t>‹nº›</a:t>
            </a:fld>
            <a:endParaRPr lang="pt-BR"/>
          </a:p>
        </p:txBody>
      </p:sp>
    </p:spTree>
    <p:extLst>
      <p:ext uri="{BB962C8B-B14F-4D97-AF65-F5344CB8AC3E}">
        <p14:creationId xmlns:p14="http://schemas.microsoft.com/office/powerpoint/2010/main" val="630106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pt-BR"/>
              <a:t>Clique para editar o título Mestre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652D8F1-610A-4F7F-9C9A-799B031AE200}" type="datetimeFigureOut">
              <a:rPr lang="pt-BR" smtClean="0"/>
              <a:t>14/08/2025</a:t>
            </a:fld>
            <a:endParaRPr lang="pt-BR"/>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pt-BR"/>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11FC2326-D051-49B8-B3FD-ACC50713B96D}" type="slidenum">
              <a:rPr lang="pt-BR" smtClean="0"/>
              <a:t>‹nº›</a:t>
            </a:fld>
            <a:endParaRPr lang="pt-BR"/>
          </a:p>
        </p:txBody>
      </p:sp>
    </p:spTree>
    <p:extLst>
      <p:ext uri="{BB962C8B-B14F-4D97-AF65-F5344CB8AC3E}">
        <p14:creationId xmlns:p14="http://schemas.microsoft.com/office/powerpoint/2010/main" val="119232212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38D734-9283-68AE-0938-32DE8944A6BC}"/>
              </a:ext>
            </a:extLst>
          </p:cNvPr>
          <p:cNvSpPr>
            <a:spLocks noGrp="1"/>
          </p:cNvSpPr>
          <p:nvPr>
            <p:ph type="title"/>
          </p:nvPr>
        </p:nvSpPr>
        <p:spPr>
          <a:xfrm>
            <a:off x="628650" y="365126"/>
            <a:ext cx="7886700" cy="755751"/>
          </a:xfrm>
        </p:spPr>
        <p:txBody>
          <a:bodyPr>
            <a:noAutofit/>
          </a:bodyPr>
          <a:lstStyle/>
          <a:p>
            <a:r>
              <a:rPr lang="pt-BR" sz="2800" b="1" dirty="0">
                <a:latin typeface="Cascadia Mono SemiBold" panose="020B0609020000020004" pitchFamily="49" charset="0"/>
                <a:ea typeface="Cascadia Mono SemiBold" panose="020B0609020000020004" pitchFamily="49" charset="0"/>
                <a:cs typeface="Cascadia Mono SemiBold" panose="020B0609020000020004" pitchFamily="49" charset="0"/>
              </a:rPr>
              <a:t>Motivações e aplicações da avaliação</a:t>
            </a:r>
            <a:br>
              <a:rPr lang="pt-BR" sz="2800" b="1" dirty="0">
                <a:latin typeface="Cascadia Mono SemiBold" panose="020B0609020000020004" pitchFamily="49" charset="0"/>
                <a:ea typeface="Cascadia Mono SemiBold" panose="020B0609020000020004" pitchFamily="49" charset="0"/>
                <a:cs typeface="Cascadia Mono SemiBold" panose="020B0609020000020004" pitchFamily="49" charset="0"/>
              </a:rPr>
            </a:br>
            <a:endParaRPr lang="pt-BR" sz="2800" dirty="0"/>
          </a:p>
        </p:txBody>
      </p:sp>
      <p:sp>
        <p:nvSpPr>
          <p:cNvPr id="3" name="Espaço Reservado para Conteúdo 2">
            <a:extLst>
              <a:ext uri="{FF2B5EF4-FFF2-40B4-BE49-F238E27FC236}">
                <a16:creationId xmlns:a16="http://schemas.microsoft.com/office/drawing/2014/main" id="{58E769EA-A05B-36E4-6D7E-913D990B63B8}"/>
              </a:ext>
            </a:extLst>
          </p:cNvPr>
          <p:cNvSpPr>
            <a:spLocks noGrp="1"/>
          </p:cNvSpPr>
          <p:nvPr>
            <p:ph idx="1"/>
          </p:nvPr>
        </p:nvSpPr>
        <p:spPr>
          <a:xfrm>
            <a:off x="552396" y="1445343"/>
            <a:ext cx="7687650" cy="4626083"/>
          </a:xfrm>
        </p:spPr>
        <p:txBody>
          <a:bodyPr>
            <a:normAutofit/>
          </a:bodyPr>
          <a:lstStyle/>
          <a:p>
            <a:pPr marL="0" indent="0" algn="just">
              <a:lnSpc>
                <a:spcPct val="150000"/>
              </a:lnSpc>
              <a:buNone/>
            </a:pPr>
            <a:r>
              <a:rPr lang="pt-BR" dirty="0"/>
              <a:t>	Sistemas computacionais atendem usuários de diversas formas. Um banco de dados processa consultas, inserções e alterações; redes de computadores recebem e transmitem pacotes. Em geral, esses sistemas recebem requisições de clientes para executar serviços. A avaliação de desempenho deve considerar o tipo de requisição, de cliente e de serviço.</a:t>
            </a:r>
          </a:p>
        </p:txBody>
      </p:sp>
    </p:spTree>
    <p:extLst>
      <p:ext uri="{BB962C8B-B14F-4D97-AF65-F5344CB8AC3E}">
        <p14:creationId xmlns:p14="http://schemas.microsoft.com/office/powerpoint/2010/main" val="2292721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F1D599-2D11-FA7D-58C6-1D21848CC1A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4C6C6DC-F81E-7773-8A7D-13FB34CEE561}"/>
              </a:ext>
            </a:extLst>
          </p:cNvPr>
          <p:cNvSpPr>
            <a:spLocks noGrp="1"/>
          </p:cNvSpPr>
          <p:nvPr>
            <p:ph type="title"/>
          </p:nvPr>
        </p:nvSpPr>
        <p:spPr>
          <a:xfrm>
            <a:off x="417399" y="643467"/>
            <a:ext cx="8408193" cy="744836"/>
          </a:xfrm>
        </p:spPr>
        <p:txBody>
          <a:bodyPr vert="horz" lIns="91440" tIns="45720" rIns="91440" bIns="45720" rtlCol="0" anchor="ctr">
            <a:normAutofit fontScale="90000"/>
          </a:bodyPr>
          <a:lstStyle/>
          <a:p>
            <a:pPr algn="ctr"/>
            <a:r>
              <a:rPr lang="en-US" sz="2200" b="1" kern="1200">
                <a:solidFill>
                  <a:schemeClr val="bg1"/>
                </a:solidFill>
                <a:latin typeface="+mj-lt"/>
                <a:ea typeface="+mj-ea"/>
                <a:cs typeface="+mj-cs"/>
              </a:rPr>
              <a:t>Motivações e aplicações da avaliação</a:t>
            </a:r>
            <a:br>
              <a:rPr lang="en-US" sz="2200" b="1" kern="1200">
                <a:solidFill>
                  <a:schemeClr val="bg1"/>
                </a:solidFill>
                <a:latin typeface="+mj-lt"/>
                <a:ea typeface="+mj-ea"/>
                <a:cs typeface="+mj-cs"/>
              </a:rPr>
            </a:br>
            <a:endParaRPr lang="en-US" sz="2200" kern="1200">
              <a:solidFill>
                <a:schemeClr val="bg1"/>
              </a:solidFill>
              <a:latin typeface="+mj-lt"/>
              <a:ea typeface="+mj-ea"/>
              <a:cs typeface="+mj-cs"/>
            </a:endParaRPr>
          </a:p>
        </p:txBody>
      </p:sp>
      <p:pic>
        <p:nvPicPr>
          <p:cNvPr id="7" name="Espaço Reservado para Conteúdo 6">
            <a:extLst>
              <a:ext uri="{FF2B5EF4-FFF2-40B4-BE49-F238E27FC236}">
                <a16:creationId xmlns:a16="http://schemas.microsoft.com/office/drawing/2014/main" id="{5238CC8F-BC42-BFDD-206C-8882F3835BD5}"/>
              </a:ext>
            </a:extLst>
          </p:cNvPr>
          <p:cNvPicPr>
            <a:picLocks noGrp="1" noChangeAspect="1"/>
          </p:cNvPicPr>
          <p:nvPr>
            <p:ph idx="1"/>
          </p:nvPr>
        </p:nvPicPr>
        <p:blipFill>
          <a:blip r:embed="rId2"/>
          <a:stretch>
            <a:fillRect/>
          </a:stretch>
        </p:blipFill>
        <p:spPr>
          <a:xfrm>
            <a:off x="482600" y="1960533"/>
            <a:ext cx="8178799" cy="3823587"/>
          </a:xfrm>
          <a:prstGeom prst="rect">
            <a:avLst/>
          </a:prstGeom>
        </p:spPr>
      </p:pic>
    </p:spTree>
    <p:extLst>
      <p:ext uri="{BB962C8B-B14F-4D97-AF65-F5344CB8AC3E}">
        <p14:creationId xmlns:p14="http://schemas.microsoft.com/office/powerpoint/2010/main" val="2491451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A0E2C-9EC3-44D0-D93C-422059E0C44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89DF89-A082-DE09-91C0-F149A4F4AC53}"/>
              </a:ext>
            </a:extLst>
          </p:cNvPr>
          <p:cNvSpPr>
            <a:spLocks noGrp="1"/>
          </p:cNvSpPr>
          <p:nvPr>
            <p:ph type="title"/>
          </p:nvPr>
        </p:nvSpPr>
        <p:spPr>
          <a:xfrm>
            <a:off x="628650" y="365126"/>
            <a:ext cx="7886700" cy="755751"/>
          </a:xfrm>
        </p:spPr>
        <p:txBody>
          <a:bodyPr>
            <a:noAutofit/>
          </a:bodyPr>
          <a:lstStyle/>
          <a:p>
            <a:r>
              <a:rPr lang="pt-BR" sz="2800" dirty="0"/>
              <a:t>Técnicas de Avaliação</a:t>
            </a:r>
            <a:br>
              <a:rPr lang="pt-BR" sz="2800" b="1" dirty="0">
                <a:latin typeface="Cascadia Mono SemiBold" panose="020B0609020000020004" pitchFamily="49" charset="0"/>
                <a:ea typeface="Cascadia Mono SemiBold" panose="020B0609020000020004" pitchFamily="49" charset="0"/>
                <a:cs typeface="Cascadia Mono SemiBold" panose="020B0609020000020004" pitchFamily="49" charset="0"/>
              </a:rPr>
            </a:br>
            <a:endParaRPr lang="pt-BR" sz="2800" dirty="0"/>
          </a:p>
        </p:txBody>
      </p:sp>
      <p:sp>
        <p:nvSpPr>
          <p:cNvPr id="3" name="Espaço Reservado para Conteúdo 2">
            <a:extLst>
              <a:ext uri="{FF2B5EF4-FFF2-40B4-BE49-F238E27FC236}">
                <a16:creationId xmlns:a16="http://schemas.microsoft.com/office/drawing/2014/main" id="{4B113844-4888-A2AA-8702-81E8E5530B6E}"/>
              </a:ext>
            </a:extLst>
          </p:cNvPr>
          <p:cNvSpPr>
            <a:spLocks noGrp="1"/>
          </p:cNvSpPr>
          <p:nvPr>
            <p:ph idx="1"/>
          </p:nvPr>
        </p:nvSpPr>
        <p:spPr>
          <a:xfrm>
            <a:off x="719545" y="1580977"/>
            <a:ext cx="6711654" cy="4195481"/>
          </a:xfrm>
        </p:spPr>
        <p:txBody>
          <a:bodyPr>
            <a:normAutofit fontScale="92500" lnSpcReduction="10000"/>
          </a:bodyPr>
          <a:lstStyle/>
          <a:p>
            <a:pPr marL="0" indent="0" algn="just">
              <a:lnSpc>
                <a:spcPct val="150000"/>
              </a:lnSpc>
              <a:buNone/>
            </a:pPr>
            <a:r>
              <a:rPr lang="pt-BR" dirty="0"/>
              <a:t>Há três técnicas principais de avaliação de desempenho: modelagem, simulação e medição, cada uma com vantagens e desvantagens. A escolha depende do estágio de desenvolvimento do sistema. Para novos projetos, usam-se modelagem ou simulação, permitindo testar cenários e comparar configurações. Por exemplo, em um sistema de e-commerce, é possível simular cargas de trabalho e tempos de processamento para verificar se o servidor atende à demanda.</a:t>
            </a:r>
          </a:p>
        </p:txBody>
      </p:sp>
    </p:spTree>
    <p:extLst>
      <p:ext uri="{BB962C8B-B14F-4D97-AF65-F5344CB8AC3E}">
        <p14:creationId xmlns:p14="http://schemas.microsoft.com/office/powerpoint/2010/main" val="197608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2F0A6-130D-D179-3928-0ADBD4C981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BFDD514-B3DB-8994-673A-4D81C8E7F8A3}"/>
              </a:ext>
            </a:extLst>
          </p:cNvPr>
          <p:cNvSpPr>
            <a:spLocks noGrp="1"/>
          </p:cNvSpPr>
          <p:nvPr>
            <p:ph type="title"/>
          </p:nvPr>
        </p:nvSpPr>
        <p:spPr>
          <a:xfrm>
            <a:off x="628650" y="365126"/>
            <a:ext cx="7886700" cy="755751"/>
          </a:xfrm>
        </p:spPr>
        <p:txBody>
          <a:bodyPr>
            <a:noAutofit/>
          </a:bodyPr>
          <a:lstStyle/>
          <a:p>
            <a:r>
              <a:rPr lang="pt-BR" sz="2800" dirty="0"/>
              <a:t>Técnicas de Avaliação</a:t>
            </a:r>
            <a:br>
              <a:rPr lang="pt-BR" sz="2800" b="1" dirty="0">
                <a:latin typeface="Cascadia Mono SemiBold" panose="020B0609020000020004" pitchFamily="49" charset="0"/>
                <a:ea typeface="Cascadia Mono SemiBold" panose="020B0609020000020004" pitchFamily="49" charset="0"/>
                <a:cs typeface="Cascadia Mono SemiBold" panose="020B0609020000020004" pitchFamily="49" charset="0"/>
              </a:rPr>
            </a:br>
            <a:endParaRPr lang="pt-BR" sz="2800" dirty="0"/>
          </a:p>
        </p:txBody>
      </p:sp>
      <p:sp>
        <p:nvSpPr>
          <p:cNvPr id="3" name="Espaço Reservado para Conteúdo 2">
            <a:extLst>
              <a:ext uri="{FF2B5EF4-FFF2-40B4-BE49-F238E27FC236}">
                <a16:creationId xmlns:a16="http://schemas.microsoft.com/office/drawing/2014/main" id="{854479A6-3E8E-3AA9-A0AA-84997832FD7D}"/>
              </a:ext>
            </a:extLst>
          </p:cNvPr>
          <p:cNvSpPr>
            <a:spLocks noGrp="1"/>
          </p:cNvSpPr>
          <p:nvPr>
            <p:ph idx="1"/>
          </p:nvPr>
        </p:nvSpPr>
        <p:spPr/>
        <p:txBody>
          <a:bodyPr>
            <a:normAutofit fontScale="92500" lnSpcReduction="20000"/>
          </a:bodyPr>
          <a:lstStyle/>
          <a:p>
            <a:pPr marL="0" indent="0" algn="just">
              <a:lnSpc>
                <a:spcPct val="150000"/>
              </a:lnSpc>
              <a:buNone/>
            </a:pPr>
            <a:r>
              <a:rPr lang="pt-BR" dirty="0"/>
              <a:t>A </a:t>
            </a:r>
            <a:r>
              <a:rPr lang="pt-BR" dirty="0">
                <a:highlight>
                  <a:srgbClr val="FFFF00"/>
                </a:highlight>
              </a:rPr>
              <a:t>medição</a:t>
            </a:r>
            <a:r>
              <a:rPr lang="pt-BR" dirty="0"/>
              <a:t> requer que o sistema ou um protótipo já exista. O </a:t>
            </a:r>
            <a:r>
              <a:rPr lang="pt-BR" dirty="0">
                <a:highlight>
                  <a:srgbClr val="FFFF00"/>
                </a:highlight>
              </a:rPr>
              <a:t>protótipo</a:t>
            </a:r>
            <a:r>
              <a:rPr lang="pt-BR" dirty="0"/>
              <a:t> pode ser usado para avaliar e ajustar configurações antes da conclusão do produto, com menor custo de alterações. Também permite comparar versões e quantificar ganhos de desempenho. Dados de medições podem servir como entrada para modelagem ou simulação, formando modelos híbridos. Para maior confiabilidade, recomenda-se combinar duas ou mais técnicas, como Modelagem e Simulação, Modelagem e Medição, Simulação e Medição, ou as três juntas.</a:t>
            </a:r>
          </a:p>
        </p:txBody>
      </p:sp>
    </p:spTree>
    <p:extLst>
      <p:ext uri="{BB962C8B-B14F-4D97-AF65-F5344CB8AC3E}">
        <p14:creationId xmlns:p14="http://schemas.microsoft.com/office/powerpoint/2010/main" val="4068166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FEF81-B80F-A808-E981-9A4A5874BC9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77BCBC-6A1D-866E-E7E3-FA5AE37B363C}"/>
              </a:ext>
            </a:extLst>
          </p:cNvPr>
          <p:cNvSpPr>
            <a:spLocks noGrp="1"/>
          </p:cNvSpPr>
          <p:nvPr>
            <p:ph type="title"/>
          </p:nvPr>
        </p:nvSpPr>
        <p:spPr>
          <a:xfrm>
            <a:off x="628650" y="365126"/>
            <a:ext cx="7886700" cy="755751"/>
          </a:xfrm>
        </p:spPr>
        <p:txBody>
          <a:bodyPr>
            <a:noAutofit/>
          </a:bodyPr>
          <a:lstStyle/>
          <a:p>
            <a:r>
              <a:rPr lang="pt-BR" sz="2800" dirty="0"/>
              <a:t>Modelagem</a:t>
            </a:r>
          </a:p>
        </p:txBody>
      </p:sp>
      <p:sp>
        <p:nvSpPr>
          <p:cNvPr id="3" name="Espaço Reservado para Conteúdo 2">
            <a:extLst>
              <a:ext uri="{FF2B5EF4-FFF2-40B4-BE49-F238E27FC236}">
                <a16:creationId xmlns:a16="http://schemas.microsoft.com/office/drawing/2014/main" id="{247E6DC8-31E6-60AC-3B53-A62777E190EB}"/>
              </a:ext>
            </a:extLst>
          </p:cNvPr>
          <p:cNvSpPr>
            <a:spLocks noGrp="1"/>
          </p:cNvSpPr>
          <p:nvPr>
            <p:ph idx="1"/>
          </p:nvPr>
        </p:nvSpPr>
        <p:spPr/>
        <p:txBody>
          <a:bodyPr>
            <a:normAutofit fontScale="92500" lnSpcReduction="20000"/>
          </a:bodyPr>
          <a:lstStyle/>
          <a:p>
            <a:pPr marL="0" indent="0" algn="just">
              <a:lnSpc>
                <a:spcPct val="150000"/>
              </a:lnSpc>
              <a:buNone/>
            </a:pPr>
            <a:r>
              <a:rPr lang="pt-BR" dirty="0"/>
              <a:t>Modelos permitem abstrair detalhes irrelevantes de baixo nível, facilitando a caracterização do desempenho em alto nível. Isso torna a modelagem mais simples que outras técnicas, pois foca nos elementos essenciais. Por exemplo, ao avaliar um sistema de redes, interessa considerar largura de banda, taxa de geração e recepção de pacotes e tamanho dos pacotes, dispensando informações como tipo de camada física ou tamanho da memória. No processo, identificam-se os principais componentes, sua interação e suposições de funcionamento.</a:t>
            </a:r>
          </a:p>
        </p:txBody>
      </p:sp>
    </p:spTree>
    <p:extLst>
      <p:ext uri="{BB962C8B-B14F-4D97-AF65-F5344CB8AC3E}">
        <p14:creationId xmlns:p14="http://schemas.microsoft.com/office/powerpoint/2010/main" val="1063785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28231-C181-0652-8E97-6D8D0658BE4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0E7422-F7A6-A0EF-6168-64F4D10C68C3}"/>
              </a:ext>
            </a:extLst>
          </p:cNvPr>
          <p:cNvSpPr>
            <a:spLocks noGrp="1"/>
          </p:cNvSpPr>
          <p:nvPr>
            <p:ph type="title"/>
          </p:nvPr>
        </p:nvSpPr>
        <p:spPr>
          <a:xfrm>
            <a:off x="628650" y="365126"/>
            <a:ext cx="7886700" cy="755751"/>
          </a:xfrm>
        </p:spPr>
        <p:txBody>
          <a:bodyPr>
            <a:noAutofit/>
          </a:bodyPr>
          <a:lstStyle/>
          <a:p>
            <a:r>
              <a:rPr lang="pt-BR" sz="2800" dirty="0"/>
              <a:t>Simulação</a:t>
            </a:r>
          </a:p>
        </p:txBody>
      </p:sp>
      <p:sp>
        <p:nvSpPr>
          <p:cNvPr id="3" name="Espaço Reservado para Conteúdo 2">
            <a:extLst>
              <a:ext uri="{FF2B5EF4-FFF2-40B4-BE49-F238E27FC236}">
                <a16:creationId xmlns:a16="http://schemas.microsoft.com/office/drawing/2014/main" id="{6D8938A7-C385-D5EF-CAB4-7FBF02314F25}"/>
              </a:ext>
            </a:extLst>
          </p:cNvPr>
          <p:cNvSpPr>
            <a:spLocks noGrp="1"/>
          </p:cNvSpPr>
          <p:nvPr>
            <p:ph idx="1"/>
          </p:nvPr>
        </p:nvSpPr>
        <p:spPr/>
        <p:txBody>
          <a:bodyPr>
            <a:normAutofit fontScale="92500" lnSpcReduction="20000"/>
          </a:bodyPr>
          <a:lstStyle/>
          <a:p>
            <a:pPr marL="0" indent="0" algn="just">
              <a:lnSpc>
                <a:spcPct val="150000"/>
              </a:lnSpc>
              <a:buNone/>
            </a:pPr>
            <a:r>
              <a:rPr lang="pt-BR" dirty="0"/>
              <a:t>A </a:t>
            </a:r>
            <a:r>
              <a:rPr lang="pt-BR" dirty="0">
                <a:highlight>
                  <a:srgbClr val="FFFF00"/>
                </a:highlight>
              </a:rPr>
              <a:t>simulação</a:t>
            </a:r>
            <a:r>
              <a:rPr lang="pt-BR" dirty="0"/>
              <a:t> é amplamente utilizada pela facilidade de aprendizado e aplicação, permitindo prever o desempenho de sistemas ainda não existentes ou analisar sistemas atuais em diferentes cenários. É uma alternativa de baixo custo para estudar modificações de hardware antes e depois de sua implementação. No entanto, erros na especificação do software ou dos modelos estatísticos podem gerar resultados incorretos. Por isso, é recomendável utilizar simuladores já avaliados e certificados pela comunidade científica ou profissional.</a:t>
            </a:r>
          </a:p>
        </p:txBody>
      </p:sp>
    </p:spTree>
    <p:extLst>
      <p:ext uri="{BB962C8B-B14F-4D97-AF65-F5344CB8AC3E}">
        <p14:creationId xmlns:p14="http://schemas.microsoft.com/office/powerpoint/2010/main" val="4115218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0CC18-8604-8595-8915-0CA461BE639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B84B86-EC74-5826-E0E2-1A0A0C5E8C2E}"/>
              </a:ext>
            </a:extLst>
          </p:cNvPr>
          <p:cNvSpPr>
            <a:spLocks noGrp="1"/>
          </p:cNvSpPr>
          <p:nvPr>
            <p:ph type="title"/>
          </p:nvPr>
        </p:nvSpPr>
        <p:spPr>
          <a:xfrm>
            <a:off x="628650" y="365126"/>
            <a:ext cx="7886700" cy="755751"/>
          </a:xfrm>
        </p:spPr>
        <p:txBody>
          <a:bodyPr>
            <a:noAutofit/>
          </a:bodyPr>
          <a:lstStyle/>
          <a:p>
            <a:r>
              <a:rPr lang="pt-BR" sz="2800" dirty="0"/>
              <a:t>Experimentação ou Aferição</a:t>
            </a:r>
          </a:p>
        </p:txBody>
      </p:sp>
      <p:sp>
        <p:nvSpPr>
          <p:cNvPr id="3" name="Espaço Reservado para Conteúdo 2">
            <a:extLst>
              <a:ext uri="{FF2B5EF4-FFF2-40B4-BE49-F238E27FC236}">
                <a16:creationId xmlns:a16="http://schemas.microsoft.com/office/drawing/2014/main" id="{06CDDC51-A481-A65C-7E39-48621CE7A4A8}"/>
              </a:ext>
            </a:extLst>
          </p:cNvPr>
          <p:cNvSpPr>
            <a:spLocks noGrp="1"/>
          </p:cNvSpPr>
          <p:nvPr>
            <p:ph idx="1"/>
          </p:nvPr>
        </p:nvSpPr>
        <p:spPr/>
        <p:txBody>
          <a:bodyPr>
            <a:normAutofit fontScale="92500" lnSpcReduction="20000"/>
          </a:bodyPr>
          <a:lstStyle/>
          <a:p>
            <a:pPr marL="0" indent="0" algn="just">
              <a:lnSpc>
                <a:spcPct val="150000"/>
              </a:lnSpc>
              <a:buNone/>
            </a:pPr>
            <a:r>
              <a:rPr lang="pt-BR" dirty="0"/>
              <a:t>A experimentação ou aferição avalia um sistema computacional existente medindo seu desempenho sob a carga de trabalho atual. Podem-se registrar parâmetros como tempo de resposta e uso de recursos. Softwares e redes podem incluir ferramentas de monitoramento para coletar dados em tempo real ou posteriormente. Outra abordagem é o </a:t>
            </a:r>
            <a:r>
              <a:rPr lang="pt-BR" i="1" dirty="0"/>
              <a:t>benchmarking</a:t>
            </a:r>
            <a:r>
              <a:rPr lang="pt-BR" dirty="0"/>
              <a:t>, que utiliza cargas de trabalho específicas para comparar o desempenho de sistemas, sendo aplicado a processadores, memória, redes, entrada e saída e bancos de dados.</a:t>
            </a:r>
          </a:p>
        </p:txBody>
      </p:sp>
    </p:spTree>
    <p:extLst>
      <p:ext uri="{BB962C8B-B14F-4D97-AF65-F5344CB8AC3E}">
        <p14:creationId xmlns:p14="http://schemas.microsoft.com/office/powerpoint/2010/main" val="2679658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AC093-14B7-6A19-07EB-B2D2F81CAC9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4B809D6-A9F3-CB5F-0ED8-5A240B5A79B3}"/>
              </a:ext>
            </a:extLst>
          </p:cNvPr>
          <p:cNvSpPr>
            <a:spLocks noGrp="1"/>
          </p:cNvSpPr>
          <p:nvPr>
            <p:ph type="title"/>
          </p:nvPr>
        </p:nvSpPr>
        <p:spPr>
          <a:xfrm>
            <a:off x="628650" y="365126"/>
            <a:ext cx="7886700" cy="755751"/>
          </a:xfrm>
        </p:spPr>
        <p:txBody>
          <a:bodyPr>
            <a:noAutofit/>
          </a:bodyPr>
          <a:lstStyle/>
          <a:p>
            <a:r>
              <a:rPr lang="pt-BR" sz="2800" dirty="0"/>
              <a:t>Híbrido</a:t>
            </a:r>
          </a:p>
        </p:txBody>
      </p:sp>
      <p:sp>
        <p:nvSpPr>
          <p:cNvPr id="3" name="Espaço Reservado para Conteúdo 2">
            <a:extLst>
              <a:ext uri="{FF2B5EF4-FFF2-40B4-BE49-F238E27FC236}">
                <a16:creationId xmlns:a16="http://schemas.microsoft.com/office/drawing/2014/main" id="{8F2311EF-510F-4C37-2710-FCCBE3E5B77D}"/>
              </a:ext>
            </a:extLst>
          </p:cNvPr>
          <p:cNvSpPr>
            <a:spLocks noGrp="1"/>
          </p:cNvSpPr>
          <p:nvPr>
            <p:ph idx="1"/>
          </p:nvPr>
        </p:nvSpPr>
        <p:spPr/>
        <p:txBody>
          <a:bodyPr>
            <a:normAutofit fontScale="92500" lnSpcReduction="10000"/>
          </a:bodyPr>
          <a:lstStyle/>
          <a:p>
            <a:pPr marL="0" indent="0" algn="just">
              <a:lnSpc>
                <a:spcPct val="150000"/>
              </a:lnSpc>
              <a:buNone/>
            </a:pPr>
            <a:r>
              <a:rPr lang="pt-BR" dirty="0"/>
              <a:t>O modelo híbrido combina diferentes técnicas de avaliação, sendo útil quando o sistema está incompleto ou quando se deseja analisar o comportamento de um sistema de alto nível usando dados obtidos por outro modelo de menor nível. Por exemplo, uma simulação de CPU pode utilizar como entrada resultados de medições de um barramento. Essa abordagem amplia a precisão da análise e permite estudar sistemas existentes que ainda requerem partes a serem construídas.</a:t>
            </a:r>
          </a:p>
        </p:txBody>
      </p:sp>
    </p:spTree>
    <p:extLst>
      <p:ext uri="{BB962C8B-B14F-4D97-AF65-F5344CB8AC3E}">
        <p14:creationId xmlns:p14="http://schemas.microsoft.com/office/powerpoint/2010/main" val="2412696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2DA293-B597-7CC4-A809-0051C6D960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41CC8D-C003-5ADE-0A1F-66FFD3C4B374}"/>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a:solidFill>
                  <a:schemeClr val="bg1"/>
                </a:solidFill>
                <a:latin typeface="+mj-lt"/>
                <a:ea typeface="+mj-ea"/>
                <a:cs typeface="+mj-cs"/>
              </a:rPr>
              <a:t>Híbrido</a:t>
            </a:r>
          </a:p>
        </p:txBody>
      </p:sp>
      <p:pic>
        <p:nvPicPr>
          <p:cNvPr id="7" name="Espaço Reservado para Conteúdo 6">
            <a:extLst>
              <a:ext uri="{FF2B5EF4-FFF2-40B4-BE49-F238E27FC236}">
                <a16:creationId xmlns:a16="http://schemas.microsoft.com/office/drawing/2014/main" id="{14113CC8-7401-4857-EF4A-D1373BB3FE6E}"/>
              </a:ext>
            </a:extLst>
          </p:cNvPr>
          <p:cNvPicPr>
            <a:picLocks noGrp="1" noChangeAspect="1"/>
          </p:cNvPicPr>
          <p:nvPr>
            <p:ph idx="1"/>
          </p:nvPr>
        </p:nvPicPr>
        <p:blipFill>
          <a:blip r:embed="rId2"/>
          <a:stretch>
            <a:fillRect/>
          </a:stretch>
        </p:blipFill>
        <p:spPr>
          <a:xfrm>
            <a:off x="522046" y="1675227"/>
            <a:ext cx="8099907" cy="4394199"/>
          </a:xfrm>
          <a:prstGeom prst="rect">
            <a:avLst/>
          </a:prstGeom>
        </p:spPr>
      </p:pic>
    </p:spTree>
    <p:extLst>
      <p:ext uri="{BB962C8B-B14F-4D97-AF65-F5344CB8AC3E}">
        <p14:creationId xmlns:p14="http://schemas.microsoft.com/office/powerpoint/2010/main" val="4253951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3A2CD-6211-5923-2C25-16FD70F4DD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57F589-30E6-ED8A-4C70-95749635E12F}"/>
              </a:ext>
            </a:extLst>
          </p:cNvPr>
          <p:cNvSpPr>
            <a:spLocks noGrp="1"/>
          </p:cNvSpPr>
          <p:nvPr>
            <p:ph type="title"/>
          </p:nvPr>
        </p:nvSpPr>
        <p:spPr>
          <a:xfrm>
            <a:off x="628650" y="365126"/>
            <a:ext cx="7886700" cy="755751"/>
          </a:xfrm>
        </p:spPr>
        <p:txBody>
          <a:bodyPr>
            <a:noAutofit/>
          </a:bodyPr>
          <a:lstStyle/>
          <a:p>
            <a:r>
              <a:rPr lang="pt-BR" sz="2800" dirty="0"/>
              <a:t>Definições Básicas</a:t>
            </a:r>
          </a:p>
        </p:txBody>
      </p:sp>
      <p:sp>
        <p:nvSpPr>
          <p:cNvPr id="3" name="Espaço Reservado para Conteúdo 2">
            <a:extLst>
              <a:ext uri="{FF2B5EF4-FFF2-40B4-BE49-F238E27FC236}">
                <a16:creationId xmlns:a16="http://schemas.microsoft.com/office/drawing/2014/main" id="{6219F109-7A81-6561-15B0-61E7EB2BAEA0}"/>
              </a:ext>
            </a:extLst>
          </p:cNvPr>
          <p:cNvSpPr>
            <a:spLocks noGrp="1"/>
          </p:cNvSpPr>
          <p:nvPr>
            <p:ph idx="1"/>
          </p:nvPr>
        </p:nvSpPr>
        <p:spPr/>
        <p:txBody>
          <a:bodyPr>
            <a:normAutofit/>
          </a:bodyPr>
          <a:lstStyle/>
          <a:p>
            <a:pPr marL="0" indent="0" algn="just">
              <a:lnSpc>
                <a:spcPct val="150000"/>
              </a:lnSpc>
              <a:buNone/>
            </a:pPr>
            <a:r>
              <a:rPr lang="pt-BR" dirty="0"/>
              <a:t>Algumas opções de avaliações híbridas. Algumas definições são necessárias para iniciar o estudo de avaliação de desempenho. Será visto o que são métricas, parâmetros e carga de trabalho, e qual a relação entre eles em um estudo de avaliação de desempenho</a:t>
            </a:r>
          </a:p>
        </p:txBody>
      </p:sp>
    </p:spTree>
    <p:extLst>
      <p:ext uri="{BB962C8B-B14F-4D97-AF65-F5344CB8AC3E}">
        <p14:creationId xmlns:p14="http://schemas.microsoft.com/office/powerpoint/2010/main" val="2482145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4C79E-A919-AB69-72AD-FBAAADDF706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238EE30-AE9C-F4FD-08CB-AAAEC93999EB}"/>
              </a:ext>
            </a:extLst>
          </p:cNvPr>
          <p:cNvSpPr>
            <a:spLocks noGrp="1"/>
          </p:cNvSpPr>
          <p:nvPr>
            <p:ph type="title"/>
          </p:nvPr>
        </p:nvSpPr>
        <p:spPr>
          <a:xfrm>
            <a:off x="628650" y="365126"/>
            <a:ext cx="7886700" cy="755751"/>
          </a:xfrm>
        </p:spPr>
        <p:txBody>
          <a:bodyPr>
            <a:noAutofit/>
          </a:bodyPr>
          <a:lstStyle/>
          <a:p>
            <a:r>
              <a:rPr lang="pt-BR" sz="2800" dirty="0"/>
              <a:t>Métricas</a:t>
            </a:r>
          </a:p>
        </p:txBody>
      </p:sp>
      <p:sp>
        <p:nvSpPr>
          <p:cNvPr id="3" name="Espaço Reservado para Conteúdo 2">
            <a:extLst>
              <a:ext uri="{FF2B5EF4-FFF2-40B4-BE49-F238E27FC236}">
                <a16:creationId xmlns:a16="http://schemas.microsoft.com/office/drawing/2014/main" id="{28644B0B-9F7C-0D86-F9AB-EFAB98CB1566}"/>
              </a:ext>
            </a:extLst>
          </p:cNvPr>
          <p:cNvSpPr>
            <a:spLocks noGrp="1"/>
          </p:cNvSpPr>
          <p:nvPr>
            <p:ph idx="1"/>
          </p:nvPr>
        </p:nvSpPr>
        <p:spPr/>
        <p:txBody>
          <a:bodyPr>
            <a:normAutofit fontScale="92500" lnSpcReduction="10000"/>
          </a:bodyPr>
          <a:lstStyle/>
          <a:p>
            <a:pPr marL="0" indent="0" algn="just">
              <a:lnSpc>
                <a:spcPct val="150000"/>
              </a:lnSpc>
              <a:buNone/>
            </a:pPr>
            <a:r>
              <a:rPr lang="pt-BR" dirty="0"/>
              <a:t>	Métricas são critérios para quantificar o desempenho de um sistema, escolhidas de acordo com o objetivo do estudo. Em um sistema cliente-servidor, por exemplo, pode-se medir o tempo de resposta a pedidos e comparar cenários com diferentes números de itens ou máquinas servidoras. Em redes, métricas comuns incluem tempo de transmissão de pacotes ou quantidade de pacotes entregues por minuto. A definição da métrica é o primeiro passo para qualquer avaliação de desempenho.</a:t>
            </a:r>
          </a:p>
        </p:txBody>
      </p:sp>
    </p:spTree>
    <p:extLst>
      <p:ext uri="{BB962C8B-B14F-4D97-AF65-F5344CB8AC3E}">
        <p14:creationId xmlns:p14="http://schemas.microsoft.com/office/powerpoint/2010/main" val="2303213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E59EE-5EE2-68B6-7C7A-36D549A512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61D887-E2B3-15BA-B50A-CC1F48046B21}"/>
              </a:ext>
            </a:extLst>
          </p:cNvPr>
          <p:cNvSpPr>
            <a:spLocks noGrp="1"/>
          </p:cNvSpPr>
          <p:nvPr>
            <p:ph type="title"/>
          </p:nvPr>
        </p:nvSpPr>
        <p:spPr>
          <a:xfrm>
            <a:off x="628650" y="365126"/>
            <a:ext cx="7886700" cy="755751"/>
          </a:xfrm>
        </p:spPr>
        <p:txBody>
          <a:bodyPr>
            <a:noAutofit/>
          </a:bodyPr>
          <a:lstStyle/>
          <a:p>
            <a:r>
              <a:rPr lang="pt-BR" sz="2800" dirty="0"/>
              <a:t>Parâmetros</a:t>
            </a:r>
          </a:p>
        </p:txBody>
      </p:sp>
      <p:sp>
        <p:nvSpPr>
          <p:cNvPr id="3" name="Espaço Reservado para Conteúdo 2">
            <a:extLst>
              <a:ext uri="{FF2B5EF4-FFF2-40B4-BE49-F238E27FC236}">
                <a16:creationId xmlns:a16="http://schemas.microsoft.com/office/drawing/2014/main" id="{76BA06F0-A7D6-B894-DDF8-91279E9ECE4F}"/>
              </a:ext>
            </a:extLst>
          </p:cNvPr>
          <p:cNvSpPr>
            <a:spLocks noGrp="1"/>
          </p:cNvSpPr>
          <p:nvPr>
            <p:ph idx="1"/>
          </p:nvPr>
        </p:nvSpPr>
        <p:spPr/>
        <p:txBody>
          <a:bodyPr>
            <a:normAutofit fontScale="92500" lnSpcReduction="10000"/>
          </a:bodyPr>
          <a:lstStyle/>
          <a:p>
            <a:pPr marL="0" indent="0" algn="just">
              <a:lnSpc>
                <a:spcPct val="150000"/>
              </a:lnSpc>
              <a:buNone/>
            </a:pPr>
            <a:r>
              <a:rPr lang="pt-BR" dirty="0"/>
              <a:t>	Após definir as métricas, selecionam-se os parâmetros que serão variáveis no estudo e que influenciem diretamente essas métricas. Em um e-commerce, por exemplo, parâmetros podem ser o número de itens por pedido ou o tipo de servidor. Em redes, podem incluir tamanho de pacotes, protocolo de transporte ou largura de banda. É fundamental escolher parâmetros que tenham relação direta com a métrica avaliada, evitando elementos que não afetam o resultado.</a:t>
            </a:r>
          </a:p>
        </p:txBody>
      </p:sp>
    </p:spTree>
    <p:extLst>
      <p:ext uri="{BB962C8B-B14F-4D97-AF65-F5344CB8AC3E}">
        <p14:creationId xmlns:p14="http://schemas.microsoft.com/office/powerpoint/2010/main" val="189696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6A97E-2506-A5E2-72A6-C30A5989B5C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399F4B2-8A37-6056-DF93-444C55862FE6}"/>
              </a:ext>
            </a:extLst>
          </p:cNvPr>
          <p:cNvSpPr>
            <a:spLocks noGrp="1"/>
          </p:cNvSpPr>
          <p:nvPr>
            <p:ph type="title"/>
          </p:nvPr>
        </p:nvSpPr>
        <p:spPr>
          <a:xfrm>
            <a:off x="628650" y="365126"/>
            <a:ext cx="7886700" cy="755751"/>
          </a:xfrm>
        </p:spPr>
        <p:txBody>
          <a:bodyPr>
            <a:noAutofit/>
          </a:bodyPr>
          <a:lstStyle/>
          <a:p>
            <a:r>
              <a:rPr lang="pt-BR" sz="2800" dirty="0"/>
              <a:t>Carga de Trabalho</a:t>
            </a:r>
          </a:p>
        </p:txBody>
      </p:sp>
      <p:sp>
        <p:nvSpPr>
          <p:cNvPr id="3" name="Espaço Reservado para Conteúdo 2">
            <a:extLst>
              <a:ext uri="{FF2B5EF4-FFF2-40B4-BE49-F238E27FC236}">
                <a16:creationId xmlns:a16="http://schemas.microsoft.com/office/drawing/2014/main" id="{05F3D916-4531-4DEC-103F-95146DE4AB1D}"/>
              </a:ext>
            </a:extLst>
          </p:cNvPr>
          <p:cNvSpPr>
            <a:spLocks noGrp="1"/>
          </p:cNvSpPr>
          <p:nvPr>
            <p:ph idx="1"/>
          </p:nvPr>
        </p:nvSpPr>
        <p:spPr/>
        <p:txBody>
          <a:bodyPr>
            <a:normAutofit fontScale="92500" lnSpcReduction="20000"/>
          </a:bodyPr>
          <a:lstStyle/>
          <a:p>
            <a:pPr marL="0" indent="0" algn="just">
              <a:lnSpc>
                <a:spcPct val="150000"/>
              </a:lnSpc>
              <a:buNone/>
            </a:pPr>
            <a:r>
              <a:rPr lang="pt-BR" dirty="0"/>
              <a:t>A carga de trabalho é o conjunto de requisições que um sistema deve atender e deve representar fielmente os cenários reais de uso, tanto quantitativa quanto qualitativamente. Quantitativamente, cargas abaixo do uso real geram resultados subdimensionados; acima, resultados superdimensionados — que podem ser úteis para avaliar a capacidade futura. Qualitativamente, é importante que o tipo de carga corresponda ao uso real, evitando distorções, como testar um servidor de jogos com perfil de usuários de bibliotecas on-line.</a:t>
            </a:r>
          </a:p>
        </p:txBody>
      </p:sp>
    </p:spTree>
    <p:extLst>
      <p:ext uri="{BB962C8B-B14F-4D97-AF65-F5344CB8AC3E}">
        <p14:creationId xmlns:p14="http://schemas.microsoft.com/office/powerpoint/2010/main" val="4140860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D0276-6BD5-4CFF-CE36-AC53580F1C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7DC50EC-2FB6-0522-0A8B-F3D774EDB759}"/>
              </a:ext>
            </a:extLst>
          </p:cNvPr>
          <p:cNvSpPr>
            <a:spLocks noGrp="1"/>
          </p:cNvSpPr>
          <p:nvPr>
            <p:ph type="title"/>
          </p:nvPr>
        </p:nvSpPr>
        <p:spPr>
          <a:xfrm>
            <a:off x="628650" y="365126"/>
            <a:ext cx="7886700" cy="755751"/>
          </a:xfrm>
        </p:spPr>
        <p:txBody>
          <a:bodyPr>
            <a:noAutofit/>
          </a:bodyPr>
          <a:lstStyle/>
          <a:p>
            <a:r>
              <a:rPr lang="pt-BR" sz="2800" dirty="0"/>
              <a:t>Carga de Trabalho</a:t>
            </a:r>
          </a:p>
        </p:txBody>
      </p:sp>
      <p:sp>
        <p:nvSpPr>
          <p:cNvPr id="3" name="Espaço Reservado para Conteúdo 2">
            <a:extLst>
              <a:ext uri="{FF2B5EF4-FFF2-40B4-BE49-F238E27FC236}">
                <a16:creationId xmlns:a16="http://schemas.microsoft.com/office/drawing/2014/main" id="{5B9EEA77-5AF0-548F-C588-EE37B6E54C61}"/>
              </a:ext>
            </a:extLst>
          </p:cNvPr>
          <p:cNvSpPr>
            <a:spLocks noGrp="1"/>
          </p:cNvSpPr>
          <p:nvPr>
            <p:ph idx="1"/>
          </p:nvPr>
        </p:nvSpPr>
        <p:spPr>
          <a:xfrm>
            <a:off x="628650" y="1253331"/>
            <a:ext cx="7886700" cy="4351338"/>
          </a:xfrm>
        </p:spPr>
        <p:txBody>
          <a:bodyPr>
            <a:normAutofit fontScale="85000" lnSpcReduction="10000"/>
          </a:bodyPr>
          <a:lstStyle/>
          <a:p>
            <a:pPr algn="just"/>
            <a:r>
              <a:rPr lang="pt-BR" b="1" dirty="0"/>
              <a:t>CPU</a:t>
            </a:r>
            <a:endParaRPr lang="pt-BR" dirty="0"/>
          </a:p>
          <a:p>
            <a:pPr lvl="1" algn="just"/>
            <a:r>
              <a:rPr lang="pt-BR" b="1" dirty="0"/>
              <a:t>Objetivo:</a:t>
            </a:r>
            <a:r>
              <a:rPr lang="pt-BR" dirty="0"/>
              <a:t> aumentar o número de requisições processadas.</a:t>
            </a:r>
          </a:p>
          <a:p>
            <a:pPr lvl="1" algn="just"/>
            <a:r>
              <a:rPr lang="pt-BR" b="1" dirty="0"/>
              <a:t>Métrica:</a:t>
            </a:r>
            <a:r>
              <a:rPr lang="pt-BR" dirty="0"/>
              <a:t> requisições atendidas por segundo.</a:t>
            </a:r>
          </a:p>
          <a:p>
            <a:pPr lvl="1" algn="just"/>
            <a:r>
              <a:rPr lang="pt-BR" b="1" dirty="0"/>
              <a:t>Parâmetros:</a:t>
            </a:r>
            <a:r>
              <a:rPr lang="pt-BR" dirty="0"/>
              <a:t> tamanho da requisição e tipo de instrução de máquina.</a:t>
            </a:r>
          </a:p>
          <a:p>
            <a:pPr lvl="1" algn="just"/>
            <a:r>
              <a:rPr lang="pt-BR" b="1" dirty="0"/>
              <a:t>Carga de trabalho:</a:t>
            </a:r>
            <a:r>
              <a:rPr lang="pt-BR" dirty="0"/>
              <a:t> requisições do sistema operacional durante uso contínuo da máquina por um usuário comum.</a:t>
            </a:r>
          </a:p>
          <a:p>
            <a:pPr algn="just"/>
            <a:r>
              <a:rPr lang="pt-BR" b="1" dirty="0"/>
              <a:t>Banco de Dados</a:t>
            </a:r>
            <a:endParaRPr lang="pt-BR" dirty="0"/>
          </a:p>
          <a:p>
            <a:pPr lvl="1" algn="just"/>
            <a:r>
              <a:rPr lang="pt-BR" b="1" dirty="0"/>
              <a:t>Objetivo:</a:t>
            </a:r>
            <a:r>
              <a:rPr lang="pt-BR" dirty="0"/>
              <a:t> identificar o tipo de consulta atendida mais rapidamente.</a:t>
            </a:r>
          </a:p>
          <a:p>
            <a:pPr lvl="1" algn="just"/>
            <a:r>
              <a:rPr lang="pt-BR" b="1" dirty="0"/>
              <a:t>Métrica:</a:t>
            </a:r>
            <a:r>
              <a:rPr lang="pt-BR" dirty="0"/>
              <a:t> tempo de resposta da requisição.</a:t>
            </a:r>
          </a:p>
          <a:p>
            <a:pPr lvl="1" algn="just"/>
            <a:r>
              <a:rPr lang="pt-BR" b="1" dirty="0"/>
              <a:t>Parâmetros:</a:t>
            </a:r>
            <a:r>
              <a:rPr lang="pt-BR" dirty="0"/>
              <a:t> tipo de requisição SQL (consulta, inserção ou exclusão de registros).</a:t>
            </a:r>
          </a:p>
          <a:p>
            <a:pPr lvl="1" algn="just"/>
            <a:r>
              <a:rPr lang="pt-BR" b="1" dirty="0"/>
              <a:t>Carga de trabalho:</a:t>
            </a:r>
            <a:r>
              <a:rPr lang="pt-BR" dirty="0"/>
              <a:t> requisições de usuários de um sistema bancário durante o horário de atendimento externo.</a:t>
            </a:r>
          </a:p>
        </p:txBody>
      </p:sp>
    </p:spTree>
    <p:extLst>
      <p:ext uri="{BB962C8B-B14F-4D97-AF65-F5344CB8AC3E}">
        <p14:creationId xmlns:p14="http://schemas.microsoft.com/office/powerpoint/2010/main" val="3774133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BCE59-B25F-0388-7756-C6F9D6787F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19D81C-675C-0702-8323-F6C71470E0CF}"/>
              </a:ext>
            </a:extLst>
          </p:cNvPr>
          <p:cNvSpPr>
            <a:spLocks noGrp="1"/>
          </p:cNvSpPr>
          <p:nvPr>
            <p:ph type="title"/>
          </p:nvPr>
        </p:nvSpPr>
        <p:spPr>
          <a:xfrm>
            <a:off x="628650" y="365126"/>
            <a:ext cx="7886700" cy="755751"/>
          </a:xfrm>
        </p:spPr>
        <p:txBody>
          <a:bodyPr>
            <a:noAutofit/>
          </a:bodyPr>
          <a:lstStyle/>
          <a:p>
            <a:r>
              <a:rPr lang="pt-BR" sz="2800" dirty="0"/>
              <a:t>Carga de Trabalho</a:t>
            </a:r>
          </a:p>
        </p:txBody>
      </p:sp>
      <p:sp>
        <p:nvSpPr>
          <p:cNvPr id="3" name="Espaço Reservado para Conteúdo 2">
            <a:extLst>
              <a:ext uri="{FF2B5EF4-FFF2-40B4-BE49-F238E27FC236}">
                <a16:creationId xmlns:a16="http://schemas.microsoft.com/office/drawing/2014/main" id="{A9F7532B-6FDA-9894-CDED-EA369C7B66AE}"/>
              </a:ext>
            </a:extLst>
          </p:cNvPr>
          <p:cNvSpPr>
            <a:spLocks noGrp="1"/>
          </p:cNvSpPr>
          <p:nvPr>
            <p:ph idx="1"/>
          </p:nvPr>
        </p:nvSpPr>
        <p:spPr>
          <a:xfrm>
            <a:off x="628650" y="1253331"/>
            <a:ext cx="7886700" cy="4351338"/>
          </a:xfrm>
        </p:spPr>
        <p:txBody>
          <a:bodyPr>
            <a:normAutofit/>
          </a:bodyPr>
          <a:lstStyle/>
          <a:p>
            <a:pPr algn="just"/>
            <a:r>
              <a:rPr lang="pt-BR" b="1" dirty="0"/>
              <a:t>Rede de Computadores</a:t>
            </a:r>
            <a:endParaRPr lang="pt-BR" dirty="0"/>
          </a:p>
          <a:p>
            <a:pPr lvl="1" algn="just"/>
            <a:r>
              <a:rPr lang="pt-BR" b="1" dirty="0"/>
              <a:t>Objetivo:</a:t>
            </a:r>
            <a:r>
              <a:rPr lang="pt-BR" dirty="0"/>
              <a:t> identificar o tipo de rede mais adequado para uma aplicação de folha de pagamento em uma empresa.</a:t>
            </a:r>
          </a:p>
          <a:p>
            <a:pPr lvl="1" algn="just"/>
            <a:r>
              <a:rPr lang="pt-BR" b="1" dirty="0"/>
              <a:t>Métricas:</a:t>
            </a:r>
            <a:r>
              <a:rPr lang="pt-BR" dirty="0"/>
              <a:t> utilização da largura de banda e quantidade de pacotes transmitidos por segundo.</a:t>
            </a:r>
          </a:p>
          <a:p>
            <a:pPr lvl="1" algn="just"/>
            <a:r>
              <a:rPr lang="pt-BR" b="1" dirty="0"/>
              <a:t>Parâmetros:</a:t>
            </a:r>
            <a:r>
              <a:rPr lang="pt-BR" dirty="0"/>
              <a:t> uso de redes diferentes (Wi-Fi e Ethernet) com variações de largura de banda e MTU (Unidade Máxima de Transmissão).</a:t>
            </a:r>
          </a:p>
          <a:p>
            <a:pPr lvl="1" algn="just"/>
            <a:r>
              <a:rPr lang="pt-BR" b="1" dirty="0"/>
              <a:t>Carga de trabalho:</a:t>
            </a:r>
            <a:r>
              <a:rPr lang="pt-BR" dirty="0"/>
              <a:t> requisições realizadas por funcionários dos setores de RH e Financeiro.</a:t>
            </a:r>
          </a:p>
        </p:txBody>
      </p:sp>
    </p:spTree>
    <p:extLst>
      <p:ext uri="{BB962C8B-B14F-4D97-AF65-F5344CB8AC3E}">
        <p14:creationId xmlns:p14="http://schemas.microsoft.com/office/powerpoint/2010/main" val="42915858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Íon">
  <a:themeElements>
    <a:clrScheme name="Í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Í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Í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64</TotalTime>
  <Words>1068</Words>
  <Application>Microsoft Office PowerPoint</Application>
  <PresentationFormat>Apresentação na tela (4:3)</PresentationFormat>
  <Paragraphs>41</Paragraphs>
  <Slides>15</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15</vt:i4>
      </vt:variant>
    </vt:vector>
  </HeadingPairs>
  <TitlesOfParts>
    <vt:vector size="19" baseType="lpstr">
      <vt:lpstr>Cascadia Mono SemiBold</vt:lpstr>
      <vt:lpstr>Century Gothic</vt:lpstr>
      <vt:lpstr>Wingdings 3</vt:lpstr>
      <vt:lpstr>Íon</vt:lpstr>
      <vt:lpstr>Motivações e aplicações da avaliação </vt:lpstr>
      <vt:lpstr>Motivações e aplicações da avaliação </vt:lpstr>
      <vt:lpstr>Técnicas de Avaliação </vt:lpstr>
      <vt:lpstr>Técnicas de Avaliação </vt:lpstr>
      <vt:lpstr>Modelagem</vt:lpstr>
      <vt:lpstr>Simulação</vt:lpstr>
      <vt:lpstr>Experimentação ou Aferição</vt:lpstr>
      <vt:lpstr>Híbrido</vt:lpstr>
      <vt:lpstr>Híbrido</vt:lpstr>
      <vt:lpstr>Definições Básicas</vt:lpstr>
      <vt:lpstr>Métricas</vt:lpstr>
      <vt:lpstr>Parâmetros</vt:lpstr>
      <vt:lpstr>Carga de Trabalho</vt:lpstr>
      <vt:lpstr>Carga de Trabalho</vt:lpstr>
      <vt:lpstr>Carga de Trabalho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Elionai Magalhaes 487017 - Professor MULTIVIX</dc:creator>
  <cp:lastModifiedBy>Elionai Magalhaes 487017 - Professor MULTIVIX</cp:lastModifiedBy>
  <cp:revision>29</cp:revision>
  <dcterms:created xsi:type="dcterms:W3CDTF">2025-07-23T21:08:51Z</dcterms:created>
  <dcterms:modified xsi:type="dcterms:W3CDTF">2025-08-14T11:00:07Z</dcterms:modified>
</cp:coreProperties>
</file>