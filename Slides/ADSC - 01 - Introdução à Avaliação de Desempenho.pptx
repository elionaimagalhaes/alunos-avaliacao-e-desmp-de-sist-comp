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2D8F1-610A-4F7F-9C9A-799B031AE200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2326-D051-49B8-B3FD-ACC50713B9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2609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0"/>
            </a:lvl1pPr>
            <a:lvl2pPr>
              <a:defRPr sz="2400" b="0"/>
            </a:lvl2pPr>
            <a:lvl3pPr>
              <a:defRPr sz="2400" b="0"/>
            </a:lvl3pPr>
            <a:lvl4pPr>
              <a:defRPr sz="2400" b="0"/>
            </a:lvl4pPr>
            <a:lvl5pPr>
              <a:defRPr sz="2400" b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2D8F1-610A-4F7F-9C9A-799B031AE200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2326-D051-49B8-B3FD-ACC50713B9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2215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2D8F1-610A-4F7F-9C9A-799B031AE200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2326-D051-49B8-B3FD-ACC50713B9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9648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2D8F1-610A-4F7F-9C9A-799B031AE200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2326-D051-49B8-B3FD-ACC50713B9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545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2D8F1-610A-4F7F-9C9A-799B031AE200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2326-D051-49B8-B3FD-ACC50713B9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5368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2D8F1-610A-4F7F-9C9A-799B031AE200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2326-D051-49B8-B3FD-ACC50713B9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0228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2D8F1-610A-4F7F-9C9A-799B031AE200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2326-D051-49B8-B3FD-ACC50713B9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5801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2D8F1-610A-4F7F-9C9A-799B031AE200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2326-D051-49B8-B3FD-ACC50713B9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6442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2D8F1-610A-4F7F-9C9A-799B031AE200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2326-D051-49B8-B3FD-ACC50713B9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7900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2D8F1-610A-4F7F-9C9A-799B031AE200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2326-D051-49B8-B3FD-ACC50713B9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9623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2D8F1-610A-4F7F-9C9A-799B031AE200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2326-D051-49B8-B3FD-ACC50713B96D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883359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2D8F1-610A-4F7F-9C9A-799B031AE200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2326-D051-49B8-B3FD-ACC50713B9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08617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2D8F1-610A-4F7F-9C9A-799B031AE200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2326-D051-49B8-B3FD-ACC50713B96D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64710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2D8F1-610A-4F7F-9C9A-799B031AE200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2326-D051-49B8-B3FD-ACC50713B9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0773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2D8F1-610A-4F7F-9C9A-799B031AE200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2326-D051-49B8-B3FD-ACC50713B9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2481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2D8F1-610A-4F7F-9C9A-799B031AE200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2326-D051-49B8-B3FD-ACC50713B9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5570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52D8F1-610A-4F7F-9C9A-799B031AE200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1FC2326-D051-49B8-B3FD-ACC50713B9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0225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604F8-B8BA-20F7-1B51-A8F7CA2E2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48C748D-CF04-6192-4A37-E14924A9E477}"/>
              </a:ext>
            </a:extLst>
          </p:cNvPr>
          <p:cNvSpPr txBox="1"/>
          <p:nvPr/>
        </p:nvSpPr>
        <p:spPr>
          <a:xfrm>
            <a:off x="372397" y="1490008"/>
            <a:ext cx="713944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b="1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Tema central:</a:t>
            </a:r>
            <a:r>
              <a:rPr lang="pt-BR" sz="24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 </a:t>
            </a:r>
          </a:p>
          <a:p>
            <a:pPr>
              <a:buNone/>
            </a:pPr>
            <a:endParaRPr lang="pt-BR" sz="2400" dirty="0">
              <a:latin typeface="Cascadia Mono Light" panose="020B0609020000020004" pitchFamily="49" charset="0"/>
              <a:ea typeface="Cascadia Mono Light" panose="020B0609020000020004" pitchFamily="49" charset="0"/>
              <a:cs typeface="Cascadia Mono Light" panose="020B0609020000020004" pitchFamily="49" charset="0"/>
            </a:endParaRPr>
          </a:p>
          <a:p>
            <a:pPr>
              <a:buNone/>
            </a:pPr>
            <a:r>
              <a:rPr lang="pt-BR" sz="24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Conceito, importância e objetivos da avaliação de desempenho em sistemas computacionais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54E834F-4158-4F12-1EA1-B07A99E3F143}"/>
              </a:ext>
            </a:extLst>
          </p:cNvPr>
          <p:cNvSpPr txBox="1"/>
          <p:nvPr/>
        </p:nvSpPr>
        <p:spPr>
          <a:xfrm>
            <a:off x="254409" y="377079"/>
            <a:ext cx="68321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100" b="1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Unidade 1 – Introdução à Avaliação de Desempenho</a:t>
            </a:r>
          </a:p>
        </p:txBody>
      </p:sp>
    </p:spTree>
    <p:extLst>
      <p:ext uri="{BB962C8B-B14F-4D97-AF65-F5344CB8AC3E}">
        <p14:creationId xmlns:p14="http://schemas.microsoft.com/office/powerpoint/2010/main" val="705320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573767-008E-A8D8-67B3-461A6B622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126" y="1011800"/>
            <a:ext cx="7023266" cy="1130300"/>
          </a:xfrm>
        </p:spPr>
        <p:txBody>
          <a:bodyPr>
            <a:normAutofit/>
          </a:bodyPr>
          <a:lstStyle/>
          <a:p>
            <a:r>
              <a:rPr lang="pt-BR" dirty="0"/>
              <a:t>Avaliação de Desempenho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893050-9ACD-4D3E-B598-4842E8A7A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32" y="1612491"/>
            <a:ext cx="7527749" cy="4621161"/>
          </a:xfrm>
        </p:spPr>
        <p:txBody>
          <a:bodyPr vert="horz" lIns="108000" tIns="162000" rIns="108000" bIns="45720" rtlCol="0" anchor="ctr"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pt-BR" sz="2000" dirty="0"/>
              <a:t>O </a:t>
            </a:r>
            <a:r>
              <a:rPr lang="pt-BR" sz="2000" dirty="0" err="1"/>
              <a:t>dicionário</a:t>
            </a:r>
            <a:r>
              <a:rPr lang="pt-BR" sz="2000" dirty="0"/>
              <a:t> Houaiss define desempenho sendo a “maneira como atua ou se comporta </a:t>
            </a:r>
            <a:r>
              <a:rPr lang="pt-BR" sz="2000" dirty="0" err="1"/>
              <a:t>alguém</a:t>
            </a:r>
            <a:r>
              <a:rPr lang="pt-BR" sz="2000" dirty="0"/>
              <a:t> ou algo, avaliada em termos de </a:t>
            </a:r>
            <a:r>
              <a:rPr lang="pt-BR" sz="2000" dirty="0" err="1"/>
              <a:t>eficiência</a:t>
            </a:r>
            <a:r>
              <a:rPr lang="pt-BR" sz="2000" dirty="0"/>
              <a:t>, de rendimento”.</a:t>
            </a:r>
          </a:p>
          <a:p>
            <a:pPr algn="just">
              <a:lnSpc>
                <a:spcPct val="150000"/>
              </a:lnSpc>
            </a:pPr>
            <a:r>
              <a:rPr lang="pt-BR" sz="2000" dirty="0"/>
              <a:t>Este conceito pode ser utilizado em qualquer aspecto da vida </a:t>
            </a:r>
            <a:r>
              <a:rPr lang="pt-BR" sz="2000" dirty="0" err="1"/>
              <a:t>diária</a:t>
            </a:r>
            <a:r>
              <a:rPr lang="pt-BR" sz="2000" dirty="0"/>
              <a:t>, como na </a:t>
            </a:r>
            <a:r>
              <a:rPr lang="pt-BR" sz="2000" dirty="0" err="1"/>
              <a:t>avaliação</a:t>
            </a:r>
            <a:r>
              <a:rPr lang="pt-BR" sz="2000" dirty="0"/>
              <a:t> na hora de comprar um novo </a:t>
            </a:r>
            <a:r>
              <a:rPr lang="pt-BR" sz="2000" dirty="0" err="1"/>
              <a:t>automóvel</a:t>
            </a:r>
            <a:r>
              <a:rPr lang="pt-BR" sz="2000" dirty="0"/>
              <a:t>, no momento de avaliar o trabalho de um </a:t>
            </a:r>
            <a:r>
              <a:rPr lang="pt-BR" sz="2000" dirty="0" err="1"/>
              <a:t>funcionário</a:t>
            </a:r>
            <a:r>
              <a:rPr lang="pt-BR" sz="2000" dirty="0"/>
              <a:t> ou o rendimento dos alunos em uma sala de aula. O Quadro 1.1 mostra alguns exemplos de itens que </a:t>
            </a:r>
            <a:r>
              <a:rPr lang="pt-BR" sz="2000" dirty="0" err="1"/>
              <a:t>são</a:t>
            </a:r>
            <a:r>
              <a:rPr lang="pt-BR" sz="2000" dirty="0"/>
              <a:t> medidos no dia a dia e usados para avaliar o </a:t>
            </a:r>
            <a:r>
              <a:rPr lang="pt-BR" sz="2000" dirty="0" err="1"/>
              <a:t>dewsempenho</a:t>
            </a:r>
            <a:r>
              <a:rPr lang="pt-BR" sz="2000" dirty="0"/>
              <a:t> e realizar </a:t>
            </a:r>
            <a:r>
              <a:rPr lang="pt-BR" sz="2000" dirty="0" err="1"/>
              <a:t>comparações</a:t>
            </a:r>
            <a:r>
              <a:rPr lang="pt-BR" sz="2000" dirty="0"/>
              <a:t>.</a:t>
            </a:r>
          </a:p>
          <a:p>
            <a:pPr algn="just">
              <a:lnSpc>
                <a:spcPct val="150000"/>
              </a:lnSpc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56042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1F79BD-8698-CDD7-2156-E0CD47E9E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6D379675-6BE1-AC69-8687-6B4FF38754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0425" y="1170038"/>
            <a:ext cx="6583228" cy="383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6576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C787E-ACF9-98E3-56A4-0BFD1E8A7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D8266-65A6-4262-2492-25787CE5A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125" y="506361"/>
            <a:ext cx="7023266" cy="1130300"/>
          </a:xfrm>
        </p:spPr>
        <p:txBody>
          <a:bodyPr>
            <a:normAutofit/>
          </a:bodyPr>
          <a:lstStyle/>
          <a:p>
            <a:r>
              <a:rPr lang="pt-BR" dirty="0"/>
              <a:t>o que é avaliação de Desempenho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089BD4-1CFE-A96C-EC86-CEAED12B3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693" y="1266210"/>
            <a:ext cx="7527749" cy="4475829"/>
          </a:xfrm>
        </p:spPr>
        <p:txBody>
          <a:bodyPr vert="horz" lIns="108000" tIns="162000" rIns="108000" bIns="45720" rtlCol="0" anchor="ctr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1800" dirty="0"/>
              <a:t>O </a:t>
            </a:r>
            <a:r>
              <a:rPr lang="pt-BR" sz="1800" dirty="0" err="1"/>
              <a:t>dicionário</a:t>
            </a:r>
            <a:r>
              <a:rPr lang="pt-BR" sz="1800" dirty="0"/>
              <a:t> Houaiss define desempenho sendo a “maneira como atua ou se comporta </a:t>
            </a:r>
            <a:r>
              <a:rPr lang="pt-BR" sz="1800" dirty="0" err="1"/>
              <a:t>alguém</a:t>
            </a:r>
            <a:r>
              <a:rPr lang="pt-BR" sz="1800" dirty="0"/>
              <a:t> ou algo, avaliada em termos de </a:t>
            </a:r>
            <a:r>
              <a:rPr lang="pt-BR" sz="1800" dirty="0" err="1"/>
              <a:t>eficiência</a:t>
            </a:r>
            <a:r>
              <a:rPr lang="pt-BR" sz="1800" dirty="0"/>
              <a:t>, de rendimento”.</a:t>
            </a:r>
          </a:p>
          <a:p>
            <a:pPr algn="just">
              <a:lnSpc>
                <a:spcPct val="150000"/>
              </a:lnSpc>
            </a:pPr>
            <a:r>
              <a:rPr lang="pt-BR" sz="1800" dirty="0"/>
              <a:t>Este conceito pode ser utilizado em qualquer aspecto da vida </a:t>
            </a:r>
            <a:r>
              <a:rPr lang="pt-BR" sz="1800" dirty="0" err="1"/>
              <a:t>diária</a:t>
            </a:r>
            <a:r>
              <a:rPr lang="pt-BR" sz="1800" dirty="0"/>
              <a:t>, como na </a:t>
            </a:r>
            <a:r>
              <a:rPr lang="pt-BR" sz="1800" dirty="0" err="1"/>
              <a:t>avaliação</a:t>
            </a:r>
            <a:r>
              <a:rPr lang="pt-BR" sz="1800" dirty="0"/>
              <a:t> na hora de comprar um novo </a:t>
            </a:r>
            <a:r>
              <a:rPr lang="pt-BR" sz="1800" dirty="0" err="1"/>
              <a:t>automóvel</a:t>
            </a:r>
            <a:r>
              <a:rPr lang="pt-BR" sz="1800" dirty="0"/>
              <a:t>, no momento de avaliar o trabalho de um </a:t>
            </a:r>
            <a:r>
              <a:rPr lang="pt-BR" sz="1800" dirty="0" err="1"/>
              <a:t>funcionário</a:t>
            </a:r>
            <a:r>
              <a:rPr lang="pt-BR" sz="1800" dirty="0"/>
              <a:t> ou o rendimento dos alunos em uma sala de aula. O Quadro 1.1 mostra alguns exemplos de itens que </a:t>
            </a:r>
            <a:r>
              <a:rPr lang="pt-BR" sz="1800" dirty="0" err="1"/>
              <a:t>são</a:t>
            </a:r>
            <a:r>
              <a:rPr lang="pt-BR" sz="1800" dirty="0"/>
              <a:t> medidos no dia a dia e usados para avaliar o desempenho e realizar </a:t>
            </a:r>
            <a:r>
              <a:rPr lang="pt-BR" sz="1800" dirty="0" err="1"/>
              <a:t>comparações</a:t>
            </a:r>
            <a:r>
              <a:rPr lang="pt-B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9243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0A349-73BB-841E-97D6-895648BE4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3FBE43-E9E0-432F-9904-5379CE7AD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5" y="988961"/>
            <a:ext cx="7023266" cy="1130300"/>
          </a:xfrm>
        </p:spPr>
        <p:txBody>
          <a:bodyPr>
            <a:normAutofit/>
          </a:bodyPr>
          <a:lstStyle/>
          <a:p>
            <a:r>
              <a:rPr lang="pt-BR" dirty="0"/>
              <a:t>o que é avaliação de Desempenho</a:t>
            </a:r>
            <a:br>
              <a:rPr lang="pt-BR" dirty="0"/>
            </a:br>
            <a:endParaRPr lang="pt-BR" dirty="0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E155D00D-72D8-8FE7-653F-789A5ECFEB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097" y="1799283"/>
            <a:ext cx="7219928" cy="334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63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726C2-00AB-A794-3248-DDFC454DD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157262-3F89-1BEB-A936-6BAA5848A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5" y="988961"/>
            <a:ext cx="7023266" cy="1130300"/>
          </a:xfrm>
        </p:spPr>
        <p:txBody>
          <a:bodyPr>
            <a:normAutofit/>
          </a:bodyPr>
          <a:lstStyle/>
          <a:p>
            <a:r>
              <a:rPr lang="pt-BR" dirty="0" err="1"/>
              <a:t>Técnicas</a:t>
            </a:r>
            <a:r>
              <a:rPr lang="pt-BR" dirty="0"/>
              <a:t> de </a:t>
            </a:r>
            <a:r>
              <a:rPr lang="pt-BR" dirty="0" err="1"/>
              <a:t>Avaliação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D3E325-20D2-F7CC-3635-34AAD9072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030" y="1651819"/>
            <a:ext cx="7984369" cy="380508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2000" dirty="0"/>
              <a:t>Basicamente existem </a:t>
            </a:r>
            <a:r>
              <a:rPr lang="pt-BR" sz="2000" dirty="0" err="1"/>
              <a:t>três</a:t>
            </a:r>
            <a:r>
              <a:rPr lang="pt-BR" sz="2000" dirty="0"/>
              <a:t> </a:t>
            </a:r>
            <a:r>
              <a:rPr lang="pt-BR" sz="2000" dirty="0" err="1"/>
              <a:t>técnicas</a:t>
            </a:r>
            <a:r>
              <a:rPr lang="pt-BR" sz="2000" dirty="0"/>
              <a:t> de </a:t>
            </a:r>
            <a:r>
              <a:rPr lang="pt-BR" sz="2000" dirty="0" err="1"/>
              <a:t>avaliação</a:t>
            </a:r>
            <a:r>
              <a:rPr lang="pt-BR" sz="2000" dirty="0"/>
              <a:t> de desempenho: modelagem, </a:t>
            </a:r>
            <a:r>
              <a:rPr lang="pt-BR" sz="2000" dirty="0" err="1"/>
              <a:t>simulação</a:t>
            </a:r>
            <a:r>
              <a:rPr lang="pt-BR" sz="2000" dirty="0"/>
              <a:t> e </a:t>
            </a:r>
            <a:r>
              <a:rPr lang="pt-BR" sz="2000" dirty="0" err="1"/>
              <a:t>medição</a:t>
            </a:r>
            <a:r>
              <a:rPr lang="pt-BR" sz="2000" dirty="0"/>
              <a:t>. </a:t>
            </a:r>
          </a:p>
          <a:p>
            <a:pPr algn="just">
              <a:lnSpc>
                <a:spcPct val="150000"/>
              </a:lnSpc>
            </a:pPr>
            <a:r>
              <a:rPr lang="pt-BR" sz="2000" dirty="0"/>
              <a:t>Cada </a:t>
            </a:r>
            <a:r>
              <a:rPr lang="pt-BR" sz="2000" dirty="0" err="1"/>
              <a:t>técnica</a:t>
            </a:r>
            <a:r>
              <a:rPr lang="pt-BR" sz="2000" dirty="0"/>
              <a:t> possui vantagens e desvantagens e devem ser escolhidas segundo alguns </a:t>
            </a:r>
          </a:p>
          <a:p>
            <a:pPr algn="just">
              <a:lnSpc>
                <a:spcPct val="150000"/>
              </a:lnSpc>
            </a:pPr>
            <a:r>
              <a:rPr lang="pt-BR" sz="2000" dirty="0"/>
              <a:t>na </a:t>
            </a:r>
            <a:r>
              <a:rPr lang="pt-BR" sz="2000" dirty="0" err="1"/>
              <a:t>prática</a:t>
            </a:r>
            <a:r>
              <a:rPr lang="pt-BR" sz="2000" dirty="0"/>
              <a:t>, o avaliador usa a </a:t>
            </a:r>
            <a:r>
              <a:rPr lang="pt-BR" sz="2000" dirty="0" err="1"/>
              <a:t>técnica</a:t>
            </a:r>
            <a:r>
              <a:rPr lang="pt-BR" sz="2000" dirty="0"/>
              <a:t> com a qual sente-se mais familiarizado.</a:t>
            </a:r>
          </a:p>
          <a:p>
            <a:pPr algn="just">
              <a:lnSpc>
                <a:spcPct val="150000"/>
              </a:lnSpc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085671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0C259-4450-4584-ABD3-2840507D5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63AEBE-3252-441A-F127-C11258AFA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5" y="988961"/>
            <a:ext cx="7023266" cy="1130300"/>
          </a:xfrm>
        </p:spPr>
        <p:txBody>
          <a:bodyPr>
            <a:normAutofit/>
          </a:bodyPr>
          <a:lstStyle/>
          <a:p>
            <a:r>
              <a:rPr lang="pt-BR" dirty="0" err="1"/>
              <a:t>Técnicas</a:t>
            </a:r>
            <a:r>
              <a:rPr lang="pt-BR" dirty="0"/>
              <a:t> de </a:t>
            </a:r>
            <a:r>
              <a:rPr lang="pt-BR" dirty="0" err="1"/>
              <a:t>Avaliação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90FE560-7A46-32C3-549E-2FDF85EE5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031" y="1651820"/>
            <a:ext cx="7446900" cy="2711450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60000"/>
              </a:lnSpc>
            </a:pPr>
            <a:r>
              <a:rPr lang="pt-BR" sz="1800" dirty="0"/>
              <a:t>O uso de modelos </a:t>
            </a:r>
            <a:r>
              <a:rPr lang="pt-BR" sz="1800" dirty="0" err="1"/>
              <a:t>teóricos</a:t>
            </a:r>
            <a:r>
              <a:rPr lang="pt-BR" sz="1800" dirty="0"/>
              <a:t> ou simulador nos permite a </a:t>
            </a:r>
            <a:r>
              <a:rPr lang="pt-BR" sz="1800" dirty="0" err="1"/>
              <a:t>avaliação</a:t>
            </a:r>
            <a:r>
              <a:rPr lang="pt-BR" sz="1800" dirty="0"/>
              <a:t> de diferentes </a:t>
            </a:r>
            <a:r>
              <a:rPr lang="pt-BR" sz="1800" dirty="0" err="1"/>
              <a:t>cenários</a:t>
            </a:r>
            <a:r>
              <a:rPr lang="pt-BR" sz="1800" dirty="0"/>
              <a:t> e a </a:t>
            </a:r>
            <a:r>
              <a:rPr lang="pt-BR" sz="1800" dirty="0" err="1"/>
              <a:t>comparação</a:t>
            </a:r>
            <a:r>
              <a:rPr lang="pt-BR" sz="1800" dirty="0"/>
              <a:t> entre eles. </a:t>
            </a:r>
          </a:p>
          <a:p>
            <a:pPr algn="just">
              <a:lnSpc>
                <a:spcPct val="160000"/>
              </a:lnSpc>
            </a:pPr>
            <a:r>
              <a:rPr lang="pt-BR" sz="1800" dirty="0"/>
              <a:t>Imagine o projeto de um sistema de e-commerce. Em um modelo, é </a:t>
            </a:r>
            <a:r>
              <a:rPr lang="pt-BR" sz="1800" dirty="0" err="1"/>
              <a:t>possível</a:t>
            </a:r>
            <a:r>
              <a:rPr lang="pt-BR" sz="1800" dirty="0"/>
              <a:t> criar diversas </a:t>
            </a:r>
            <a:r>
              <a:rPr lang="pt-BR" sz="1800" dirty="0" err="1"/>
              <a:t>situações</a:t>
            </a:r>
            <a:r>
              <a:rPr lang="pt-BR" sz="1800" dirty="0"/>
              <a:t> de uso, de carga de trabalho, de tempo de processamento de </a:t>
            </a:r>
            <a:r>
              <a:rPr lang="pt-BR" sz="1800" dirty="0" err="1"/>
              <a:t>transações</a:t>
            </a:r>
            <a:r>
              <a:rPr lang="pt-BR" sz="1800" dirty="0"/>
              <a:t> etc., e verificar se o servidor consegue atender à demanda de </a:t>
            </a:r>
            <a:r>
              <a:rPr lang="pt-BR" sz="1800" dirty="0" err="1"/>
              <a:t>serviço</a:t>
            </a:r>
            <a:r>
              <a:rPr lang="pt-BR" sz="1800" dirty="0"/>
              <a:t> ou se é insuficiente. </a:t>
            </a:r>
          </a:p>
          <a:p>
            <a:pPr algn="just">
              <a:lnSpc>
                <a:spcPct val="160000"/>
              </a:lnSpc>
            </a:pPr>
            <a:r>
              <a:rPr lang="pt-BR" sz="1800" dirty="0"/>
              <a:t>Portanto, o avaliador </a:t>
            </a:r>
            <a:r>
              <a:rPr lang="pt-BR" sz="1800" dirty="0" err="1"/>
              <a:t>tera</a:t>
            </a:r>
            <a:r>
              <a:rPr lang="pt-BR" sz="1800" dirty="0"/>
              <a:t>́ diversas </a:t>
            </a:r>
            <a:r>
              <a:rPr lang="pt-BR" sz="1800" dirty="0" err="1"/>
              <a:t>opções</a:t>
            </a:r>
            <a:r>
              <a:rPr lang="pt-BR" sz="1800" dirty="0"/>
              <a:t> a modificar e </a:t>
            </a:r>
            <a:r>
              <a:rPr lang="pt-BR" sz="1800" dirty="0" err="1"/>
              <a:t>então</a:t>
            </a:r>
            <a:r>
              <a:rPr lang="pt-BR" sz="1800" dirty="0"/>
              <a:t> selecionar a </a:t>
            </a:r>
            <a:r>
              <a:rPr lang="pt-BR" sz="1800" dirty="0" err="1"/>
              <a:t>configuração</a:t>
            </a:r>
            <a:r>
              <a:rPr lang="pt-BR" sz="1800" dirty="0"/>
              <a:t> mais vantajosa</a:t>
            </a:r>
          </a:p>
        </p:txBody>
      </p:sp>
    </p:spTree>
    <p:extLst>
      <p:ext uri="{BB962C8B-B14F-4D97-AF65-F5344CB8AC3E}">
        <p14:creationId xmlns:p14="http://schemas.microsoft.com/office/powerpoint/2010/main" val="984540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8C313-FBB6-A681-DF1E-1543DF329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C71A12-6FCE-2026-1068-0B2CAF9C9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8" y="298450"/>
            <a:ext cx="7023266" cy="1130300"/>
          </a:xfrm>
        </p:spPr>
        <p:txBody>
          <a:bodyPr>
            <a:normAutofit/>
          </a:bodyPr>
          <a:lstStyle/>
          <a:p>
            <a:r>
              <a:rPr lang="pt-BR" dirty="0" err="1"/>
              <a:t>Técnicas</a:t>
            </a:r>
            <a:r>
              <a:rPr lang="pt-BR" dirty="0"/>
              <a:t> de </a:t>
            </a:r>
            <a:r>
              <a:rPr lang="pt-BR" dirty="0" err="1"/>
              <a:t>Avaliação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EBF3287-6370-ED0C-2472-04702415D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031" y="1120877"/>
            <a:ext cx="7446900" cy="5338917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60000"/>
              </a:lnSpc>
            </a:pPr>
            <a:endParaRPr lang="pt-BR" sz="1800" dirty="0"/>
          </a:p>
          <a:p>
            <a:pPr algn="just">
              <a:lnSpc>
                <a:spcPct val="160000"/>
              </a:lnSpc>
            </a:pPr>
            <a:r>
              <a:rPr lang="pt-BR" sz="1800" dirty="0"/>
              <a:t>No caso da </a:t>
            </a:r>
            <a:r>
              <a:rPr lang="pt-BR" sz="1800" dirty="0" err="1"/>
              <a:t>medição</a:t>
            </a:r>
            <a:r>
              <a:rPr lang="pt-BR" sz="1800" dirty="0"/>
              <a:t>, primeiro é </a:t>
            </a:r>
            <a:r>
              <a:rPr lang="pt-BR" sz="1800" dirty="0" err="1"/>
              <a:t>necessário</a:t>
            </a:r>
            <a:r>
              <a:rPr lang="pt-BR" sz="1800" dirty="0"/>
              <a:t> </a:t>
            </a:r>
            <a:r>
              <a:rPr lang="pt-BR" sz="1800" dirty="0" err="1"/>
              <a:t>ja</a:t>
            </a:r>
            <a:r>
              <a:rPr lang="pt-BR" sz="1800" dirty="0"/>
              <a:t>́ ter o sistema a ser medido ou algum </a:t>
            </a:r>
            <a:r>
              <a:rPr lang="pt-BR" sz="1800" dirty="0" err="1"/>
              <a:t>protótipo</a:t>
            </a:r>
            <a:r>
              <a:rPr lang="pt-BR" sz="1800" dirty="0"/>
              <a:t>. </a:t>
            </a:r>
          </a:p>
          <a:p>
            <a:pPr algn="just">
              <a:lnSpc>
                <a:spcPct val="160000"/>
              </a:lnSpc>
            </a:pPr>
            <a:r>
              <a:rPr lang="pt-BR" sz="1800" dirty="0"/>
              <a:t>Um </a:t>
            </a:r>
            <a:r>
              <a:rPr lang="pt-BR" sz="1800" dirty="0" err="1"/>
              <a:t>protótipo</a:t>
            </a:r>
            <a:r>
              <a:rPr lang="pt-BR" sz="1800" dirty="0"/>
              <a:t> pode ser usado nas fases de </a:t>
            </a:r>
            <a:r>
              <a:rPr lang="pt-BR" sz="1800" dirty="0" err="1"/>
              <a:t>avaliação</a:t>
            </a:r>
            <a:r>
              <a:rPr lang="pt-BR" sz="1800" dirty="0"/>
              <a:t> para a </a:t>
            </a:r>
            <a:r>
              <a:rPr lang="pt-BR" sz="1800" dirty="0" err="1"/>
              <a:t>verificação</a:t>
            </a:r>
            <a:r>
              <a:rPr lang="pt-BR" sz="1800" dirty="0"/>
              <a:t> da melhor </a:t>
            </a:r>
            <a:r>
              <a:rPr lang="pt-BR" sz="1800" dirty="0" err="1"/>
              <a:t>configuração</a:t>
            </a:r>
            <a:r>
              <a:rPr lang="pt-BR" sz="1800" dirty="0"/>
              <a:t>, antes que o produto esteja em sua fase final de </a:t>
            </a:r>
            <a:r>
              <a:rPr lang="pt-BR" sz="1800" dirty="0" err="1"/>
              <a:t>implementação</a:t>
            </a:r>
            <a:r>
              <a:rPr lang="pt-BR" sz="1800" dirty="0"/>
              <a:t> (ou </a:t>
            </a:r>
            <a:r>
              <a:rPr lang="pt-BR" sz="1800" dirty="0" err="1"/>
              <a:t>construção</a:t>
            </a:r>
            <a:r>
              <a:rPr lang="pt-BR" sz="1800" dirty="0"/>
              <a:t>). </a:t>
            </a:r>
          </a:p>
          <a:p>
            <a:pPr algn="just">
              <a:lnSpc>
                <a:spcPct val="160000"/>
              </a:lnSpc>
            </a:pPr>
            <a:r>
              <a:rPr lang="pt-BR" sz="1800" dirty="0"/>
              <a:t>O custo de realizar diversas </a:t>
            </a:r>
            <a:r>
              <a:rPr lang="pt-BR" sz="1800" dirty="0" err="1"/>
              <a:t>modificações</a:t>
            </a:r>
            <a:r>
              <a:rPr lang="pt-BR" sz="1800" dirty="0"/>
              <a:t> em um </a:t>
            </a:r>
            <a:r>
              <a:rPr lang="pt-BR" sz="1800" dirty="0" err="1"/>
              <a:t>protótipo</a:t>
            </a:r>
            <a:r>
              <a:rPr lang="pt-BR" sz="1800" dirty="0"/>
              <a:t> </a:t>
            </a:r>
            <a:r>
              <a:rPr lang="pt-BR" sz="1800" dirty="0" err="1"/>
              <a:t>sera</a:t>
            </a:r>
            <a:r>
              <a:rPr lang="pt-BR" sz="1800" dirty="0"/>
              <a:t>́ menor do que modificar um produto finalizado. </a:t>
            </a:r>
          </a:p>
          <a:p>
            <a:pPr algn="just">
              <a:lnSpc>
                <a:spcPct val="160000"/>
              </a:lnSpc>
            </a:pPr>
            <a:r>
              <a:rPr lang="pt-BR" sz="1800" dirty="0" err="1"/>
              <a:t>Também</a:t>
            </a:r>
            <a:r>
              <a:rPr lang="pt-BR" sz="1800" dirty="0"/>
              <a:t> é </a:t>
            </a:r>
            <a:r>
              <a:rPr lang="pt-BR" sz="1800" dirty="0" err="1"/>
              <a:t>possível</a:t>
            </a:r>
            <a:r>
              <a:rPr lang="pt-BR" sz="1800" dirty="0"/>
              <a:t> usar a </a:t>
            </a:r>
            <a:r>
              <a:rPr lang="pt-BR" sz="1800" dirty="0" err="1"/>
              <a:t>medição</a:t>
            </a:r>
            <a:r>
              <a:rPr lang="pt-BR" sz="1800" dirty="0"/>
              <a:t> para comparar um sistema existente com futuras </a:t>
            </a:r>
            <a:r>
              <a:rPr lang="pt-BR" sz="1800" dirty="0" err="1"/>
              <a:t>versões</a:t>
            </a:r>
            <a:r>
              <a:rPr lang="pt-BR" sz="1800" dirty="0"/>
              <a:t> deste, quando </a:t>
            </a:r>
            <a:r>
              <a:rPr lang="pt-BR" sz="1800" dirty="0" err="1"/>
              <a:t>seraá</a:t>
            </a:r>
            <a:r>
              <a:rPr lang="pt-BR" sz="1800" dirty="0"/>
              <a:t> </a:t>
            </a:r>
            <a:r>
              <a:rPr lang="pt-BR" sz="1800" dirty="0" err="1"/>
              <a:t>possível</a:t>
            </a:r>
            <a:r>
              <a:rPr lang="pt-BR" sz="1800" dirty="0"/>
              <a:t> confirmar se as novas funcionalidades ou </a:t>
            </a:r>
            <a:r>
              <a:rPr lang="pt-BR" sz="1800" dirty="0" err="1"/>
              <a:t>modificações</a:t>
            </a:r>
            <a:r>
              <a:rPr lang="pt-BR" sz="1800" dirty="0"/>
              <a:t> levam a um ganho de desempenho e a quantificar esse ganho.</a:t>
            </a:r>
          </a:p>
          <a:p>
            <a:pPr algn="just">
              <a:lnSpc>
                <a:spcPct val="160000"/>
              </a:lnSpc>
            </a:pP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3592164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90429-F01A-AF1D-D59D-7DBB80D7D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FF73AB-D3BD-316E-896B-0E7783D5C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5" y="988961"/>
            <a:ext cx="7023266" cy="1130300"/>
          </a:xfrm>
        </p:spPr>
        <p:txBody>
          <a:bodyPr>
            <a:normAutofit/>
          </a:bodyPr>
          <a:lstStyle/>
          <a:p>
            <a:r>
              <a:rPr lang="pt-BR" dirty="0"/>
              <a:t>Introdução a avaliação de desempenho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C8F7E5C-73A3-B2F6-7487-86213011E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031" y="1651819"/>
            <a:ext cx="7446900" cy="377743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Para uma maior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confiança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nos dados avaliados é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necessário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utilizar duas ou mais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técnicas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para a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verificação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validação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dos resultados obtidos.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Têm-se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então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as seguintes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opções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Modelagem ×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Simulação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Modelagem ×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Medição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Simulação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×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Medição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Modelagem ×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Simulação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×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Medição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741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11A4B-CE0E-3773-B019-1DC9E0BEB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C3CD8A-4801-24B9-EBE9-6621494B8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031" y="212212"/>
            <a:ext cx="7023266" cy="1130300"/>
          </a:xfrm>
        </p:spPr>
        <p:txBody>
          <a:bodyPr/>
          <a:lstStyle/>
          <a:p>
            <a:r>
              <a:rPr lang="pt-BR" dirty="0"/>
              <a:t>modelagem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D388D72-94E5-8A5E-62D4-A9BBF7DDD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214" y="1342512"/>
            <a:ext cx="7446900" cy="4694494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O uso de modelos torna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possível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abstração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de detalhes de baixo nível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Isso faz com que o processo de modelagem seja mais simples do que outras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técnicas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avaliação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ja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́ que nos permite identificar e eliminar detalhes irrelevantes.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Por exemplo, imagine a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avaliação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de um sistema de redes de computadores. Os detalhes importantes para saber o desempenho do link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são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a largura de banda do link, a taxa de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geração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de pacotes no lado emissor, o tamanho de cada pacote e a taxa de processamento de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recepção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no lado receptor. 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Os detalhes, como tipo de camada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física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e tamanho da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memória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dos computadores,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não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precisam ser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incluídos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em um modelo de alto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nível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No processo de modelagem, portanto, deve-se identificar os principais componentes do sistema, sua forma de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interação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e algumas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suposições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de funcionamento para realizar o estudo de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avaliação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2645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30BF0-3C4A-9F80-0F17-88AF2C33E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2ADE35-6AC9-470E-15DA-A3E6C9402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5" y="988961"/>
            <a:ext cx="7023266" cy="1130300"/>
          </a:xfrm>
        </p:spPr>
        <p:txBody>
          <a:bodyPr/>
          <a:lstStyle/>
          <a:p>
            <a:r>
              <a:rPr lang="pt-BR" dirty="0"/>
              <a:t>modelagem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ECAA50A-FC03-A890-E4AF-B1B569FE3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031" y="1651819"/>
            <a:ext cx="7446900" cy="3777431"/>
          </a:xfrm>
        </p:spPr>
        <p:txBody>
          <a:bodyPr>
            <a:normAutofit fontScale="92500" lnSpcReduction="20000"/>
          </a:bodyPr>
          <a:lstStyle/>
          <a:p>
            <a:pPr algn="just"/>
            <a:endParaRPr lang="pt-BR" sz="1800" dirty="0"/>
          </a:p>
          <a:p>
            <a:pPr algn="just"/>
            <a:r>
              <a:rPr lang="pt-BR" sz="1800" dirty="0"/>
              <a:t>A simulação é amplamente utilizada em sistemas computacionais por sua facilidade de aprendizado e aplicação. </a:t>
            </a:r>
          </a:p>
          <a:p>
            <a:pPr algn="just"/>
            <a:r>
              <a:rPr lang="pt-BR" sz="1800" dirty="0"/>
              <a:t>Permite prever o desempenho de sistemas ainda não implementados e avaliar o comportamento de sistemas existentes em diferentes cenários. </a:t>
            </a:r>
          </a:p>
          <a:p>
            <a:pPr algn="just"/>
            <a:r>
              <a:rPr lang="pt-BR" sz="1800" dirty="0"/>
              <a:t>Quando há necessidade de modificar o hardware, como redes de computadores ou barramentos de uma CPU, a simulação oferece uma alternativa econômica para análise de desempenho antes e depois das alterações.</a:t>
            </a:r>
          </a:p>
          <a:p>
            <a:pPr algn="just"/>
            <a:r>
              <a:rPr lang="pt-BR" sz="1800" dirty="0">
                <a:highlight>
                  <a:srgbClr val="FFFF00"/>
                </a:highlight>
              </a:rPr>
              <a:t>No entanto</a:t>
            </a:r>
            <a:r>
              <a:rPr lang="pt-BR" sz="1800" dirty="0"/>
              <a:t>, um desafio comum é a criação de modelos incorretos, que geram resultados imprecisos, muitas vezes </a:t>
            </a:r>
            <a:r>
              <a:rPr lang="pt-BR" sz="1800" dirty="0">
                <a:highlight>
                  <a:srgbClr val="C0C0C0"/>
                </a:highlight>
              </a:rPr>
              <a:t>causados por falhas </a:t>
            </a:r>
            <a:r>
              <a:rPr lang="pt-BR" sz="1800" dirty="0"/>
              <a:t>na especificação do software ou nos modelos estatísticos, como os de geração de carga. Por isso, recomenda-se o uso de simuladores já validados e reconhecidos pela comunidade científica ou profissional.</a:t>
            </a:r>
          </a:p>
          <a:p>
            <a:pPr marL="0" indent="0" algn="just">
              <a:buNone/>
            </a:pPr>
            <a:endParaRPr lang="pt-BR" sz="1800" dirty="0"/>
          </a:p>
        </p:txBody>
      </p:sp>
      <p:pic>
        <p:nvPicPr>
          <p:cNvPr id="3" name="Câmera 2">
            <a:extLst>
              <a:ext uri="{FF2B5EF4-FFF2-40B4-BE49-F238E27FC236}">
                <a16:creationId xmlns:a16="http://schemas.microsoft.com/office/drawing/2014/main" id="{D8F6BA05-F363-D30B-A064-687EE747DD0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5" name="Câmera 4">
            <a:extLst>
              <a:ext uri="{FF2B5EF4-FFF2-40B4-BE49-F238E27FC236}">
                <a16:creationId xmlns:a16="http://schemas.microsoft.com/office/drawing/2014/main" id="{84D43E3D-EC9B-C317-E6E5-403D06C89B4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6" name="Câmera 5">
            <a:extLst>
              <a:ext uri="{FF2B5EF4-FFF2-40B4-BE49-F238E27FC236}">
                <a16:creationId xmlns:a16="http://schemas.microsoft.com/office/drawing/2014/main" id="{B1CCCDBF-4F9C-4034-6A43-93207284E87B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7" name="Câmera 6">
            <a:extLst>
              <a:ext uri="{FF2B5EF4-FFF2-40B4-BE49-F238E27FC236}">
                <a16:creationId xmlns:a16="http://schemas.microsoft.com/office/drawing/2014/main" id="{06851BE8-FF50-D17F-A6C6-1A505F03778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8" name="Câmera 7">
            <a:extLst>
              <a:ext uri="{FF2B5EF4-FFF2-40B4-BE49-F238E27FC236}">
                <a16:creationId xmlns:a16="http://schemas.microsoft.com/office/drawing/2014/main" id="{EE6950F4-109F-78A2-B2B9-C78BB905E504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30190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F3AF3-729C-9C57-F4D2-FDBA8F813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576828-5264-1D7E-3041-F771910FA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5" y="988961"/>
            <a:ext cx="7023266" cy="1130300"/>
          </a:xfrm>
        </p:spPr>
        <p:txBody>
          <a:bodyPr/>
          <a:lstStyle/>
          <a:p>
            <a:r>
              <a:rPr lang="pt-BR" dirty="0"/>
              <a:t>Experimentação ou Aferição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6E819D9-5B36-DED8-AA18-489BA9A46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031" y="1924664"/>
            <a:ext cx="7446900" cy="377743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1800" dirty="0"/>
              <a:t>A avaliação de um sistema computacional existente por meio de experimentação permite medir seu desempenho real sob a carga de trabalho atual. Diversos parâmetros podem ser analisados, como tempo de resposta e uso de recursos.</a:t>
            </a:r>
          </a:p>
          <a:p>
            <a:pPr algn="just"/>
            <a:r>
              <a:rPr lang="pt-BR" sz="1800" dirty="0"/>
              <a:t>Sistemas de software podem incluir métodos no código-fonte para coletar dados de desempenho em tempo real ou posterior. Em redes de computadores, é comum o uso de ferramentas instaladas nos dispositivos para monitorar tráfego e uso dos links.</a:t>
            </a:r>
          </a:p>
          <a:p>
            <a:pPr algn="just"/>
            <a:r>
              <a:rPr lang="pt-BR" sz="1800" dirty="0"/>
              <a:t>Outra abordagem é o uso de </a:t>
            </a:r>
            <a:r>
              <a:rPr lang="pt-BR" sz="1800" i="1" dirty="0"/>
              <a:t>benchmarks</a:t>
            </a:r>
            <a:r>
              <a:rPr lang="pt-BR" sz="1800" dirty="0"/>
              <a:t>, softwares que avaliam e comparam o desempenho de sistemas executando funções específicas. Por exemplo, benchmarks de CPU submetem o processador a cargas intensas para medir seu desempenho, geralmente comparando-o a uma referência padrão. Essa técnica é amplamente aplicada em processadores, memória, sistemas de E/S, redes e bancos de dados.</a:t>
            </a:r>
          </a:p>
          <a:p>
            <a:pPr marL="0" indent="0" algn="just">
              <a:buNone/>
            </a:pPr>
            <a:endParaRPr lang="pt-BR" sz="1800" dirty="0"/>
          </a:p>
        </p:txBody>
      </p:sp>
      <p:pic>
        <p:nvPicPr>
          <p:cNvPr id="3" name="Câmera 2">
            <a:extLst>
              <a:ext uri="{FF2B5EF4-FFF2-40B4-BE49-F238E27FC236}">
                <a16:creationId xmlns:a16="http://schemas.microsoft.com/office/drawing/2014/main" id="{8C1FAC5E-2AC2-76C6-306B-6F5AE87547C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5" name="Câmera 4">
            <a:extLst>
              <a:ext uri="{FF2B5EF4-FFF2-40B4-BE49-F238E27FC236}">
                <a16:creationId xmlns:a16="http://schemas.microsoft.com/office/drawing/2014/main" id="{EE1B6618-1481-4B00-D10B-CB3E87A01E0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6" name="Câmera 5">
            <a:extLst>
              <a:ext uri="{FF2B5EF4-FFF2-40B4-BE49-F238E27FC236}">
                <a16:creationId xmlns:a16="http://schemas.microsoft.com/office/drawing/2014/main" id="{56AA971F-1FB8-128E-C304-66FC0939B38B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7" name="Câmera 6">
            <a:extLst>
              <a:ext uri="{FF2B5EF4-FFF2-40B4-BE49-F238E27FC236}">
                <a16:creationId xmlns:a16="http://schemas.microsoft.com/office/drawing/2014/main" id="{FDFCBDB8-5F4A-EE7B-7057-BD499AA2ADB1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8" name="Câmera 7">
            <a:extLst>
              <a:ext uri="{FF2B5EF4-FFF2-40B4-BE49-F238E27FC236}">
                <a16:creationId xmlns:a16="http://schemas.microsoft.com/office/drawing/2014/main" id="{9D038ABC-E38D-A113-65CF-4FE33266F93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75144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2C981-027E-E87C-4567-95F10B796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DBF880-3FFF-4FEC-476C-7E4627557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5" y="988961"/>
            <a:ext cx="7023266" cy="1130300"/>
          </a:xfrm>
        </p:spPr>
        <p:txBody>
          <a:bodyPr>
            <a:normAutofit/>
          </a:bodyPr>
          <a:lstStyle/>
          <a:p>
            <a:r>
              <a:rPr lang="pt-BR" dirty="0"/>
              <a:t>Modelo Híbrido de Avaliação de Desempenho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E44D3B5-514D-B4AE-A062-3A04838FF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031" y="1924664"/>
            <a:ext cx="7446900" cy="3777431"/>
          </a:xfrm>
        </p:spPr>
        <p:txBody>
          <a:bodyPr>
            <a:normAutofit lnSpcReduction="10000"/>
          </a:bodyPr>
          <a:lstStyle/>
          <a:p>
            <a:r>
              <a:rPr lang="pt-BR" sz="1800" dirty="0"/>
              <a:t>A medição nem sempre é viável, especialmente em sistemas </a:t>
            </a:r>
            <a:r>
              <a:rPr lang="pt-BR" sz="1800" b="1" dirty="0"/>
              <a:t>incompletos</a:t>
            </a:r>
            <a:r>
              <a:rPr lang="pt-BR" sz="1800" dirty="0"/>
              <a:t>.</a:t>
            </a:r>
          </a:p>
          <a:p>
            <a:r>
              <a:rPr lang="pt-BR" sz="1800" dirty="0"/>
              <a:t>Nestes casos, utiliza-se um </a:t>
            </a:r>
            <a:r>
              <a:rPr lang="pt-BR" sz="1800" b="1" dirty="0"/>
              <a:t>modelo híbrido</a:t>
            </a:r>
            <a:r>
              <a:rPr lang="pt-BR" sz="1800" dirty="0"/>
              <a:t>, combinando diferentes técnicas.</a:t>
            </a:r>
          </a:p>
          <a:p>
            <a:r>
              <a:rPr lang="pt-BR" sz="1800" b="1" dirty="0"/>
              <a:t>Aplicações do Modelo Híbrido:</a:t>
            </a:r>
          </a:p>
          <a:p>
            <a:r>
              <a:rPr lang="pt-BR" sz="1800" dirty="0"/>
              <a:t>Estudo de sistemas </a:t>
            </a:r>
            <a:r>
              <a:rPr lang="pt-BR" sz="1800" b="1" dirty="0"/>
              <a:t>parcialmente implementados</a:t>
            </a:r>
            <a:r>
              <a:rPr lang="pt-BR" sz="1800" dirty="0"/>
              <a:t>.</a:t>
            </a:r>
          </a:p>
          <a:p>
            <a:r>
              <a:rPr lang="pt-BR" sz="1800" dirty="0"/>
              <a:t>Análise de sistemas de </a:t>
            </a:r>
            <a:r>
              <a:rPr lang="pt-BR" sz="1800" b="1" dirty="0"/>
              <a:t>nível superior</a:t>
            </a:r>
            <a:r>
              <a:rPr lang="pt-BR" sz="1800" dirty="0"/>
              <a:t> com base em resultados de </a:t>
            </a:r>
            <a:r>
              <a:rPr lang="pt-BR" sz="1800" b="1" dirty="0"/>
              <a:t>nível inferior</a:t>
            </a:r>
            <a:r>
              <a:rPr lang="pt-BR" sz="1800" dirty="0"/>
              <a:t>.</a:t>
            </a:r>
          </a:p>
          <a:p>
            <a:r>
              <a:rPr lang="pt-BR" sz="1800" b="1" dirty="0"/>
              <a:t>Exemplo:</a:t>
            </a:r>
          </a:p>
          <a:p>
            <a:r>
              <a:rPr lang="pt-BR" sz="1800" dirty="0"/>
              <a:t>Simulação de CPU que usa como entrada dados obtidos pela </a:t>
            </a:r>
            <a:r>
              <a:rPr lang="pt-BR" sz="1800" b="1" dirty="0"/>
              <a:t>medição do barramento</a:t>
            </a:r>
            <a:r>
              <a:rPr lang="pt-BR" sz="1800" dirty="0"/>
              <a:t>.</a:t>
            </a:r>
          </a:p>
          <a:p>
            <a:pPr marL="0" indent="0" algn="just">
              <a:buNone/>
            </a:pPr>
            <a:endParaRPr lang="pt-BR" sz="1800" dirty="0"/>
          </a:p>
        </p:txBody>
      </p:sp>
      <p:pic>
        <p:nvPicPr>
          <p:cNvPr id="3" name="Câmera 2">
            <a:extLst>
              <a:ext uri="{FF2B5EF4-FFF2-40B4-BE49-F238E27FC236}">
                <a16:creationId xmlns:a16="http://schemas.microsoft.com/office/drawing/2014/main" id="{3433F747-B6EE-F401-1A4C-0B396FF3041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5" name="Câmera 4">
            <a:extLst>
              <a:ext uri="{FF2B5EF4-FFF2-40B4-BE49-F238E27FC236}">
                <a16:creationId xmlns:a16="http://schemas.microsoft.com/office/drawing/2014/main" id="{4E3B84B0-DDE5-44ED-9F2C-282DF2B1794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6" name="Câmera 5">
            <a:extLst>
              <a:ext uri="{FF2B5EF4-FFF2-40B4-BE49-F238E27FC236}">
                <a16:creationId xmlns:a16="http://schemas.microsoft.com/office/drawing/2014/main" id="{132F242A-BDFD-314D-D55E-898D646A2BB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7" name="Câmera 6">
            <a:extLst>
              <a:ext uri="{FF2B5EF4-FFF2-40B4-BE49-F238E27FC236}">
                <a16:creationId xmlns:a16="http://schemas.microsoft.com/office/drawing/2014/main" id="{9802C679-9115-D063-F8B6-ADC1A7EA7FF8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8" name="Câmera 7">
            <a:extLst>
              <a:ext uri="{FF2B5EF4-FFF2-40B4-BE49-F238E27FC236}">
                <a16:creationId xmlns:a16="http://schemas.microsoft.com/office/drawing/2014/main" id="{D4DB65D0-4C89-40A1-5507-3E45ABB912E1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185942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FDBD7-3975-1589-6585-1736943BA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666B6D-683F-412B-BE11-B340CBB25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5" y="988961"/>
            <a:ext cx="7023266" cy="1130300"/>
          </a:xfrm>
        </p:spPr>
        <p:txBody>
          <a:bodyPr>
            <a:normAutofit/>
          </a:bodyPr>
          <a:lstStyle/>
          <a:p>
            <a:r>
              <a:rPr lang="pt-BR" dirty="0"/>
              <a:t>Modelo Híbrido de Avaliação de Desempenho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3B99A01-ECC9-0B63-31D2-F80FCF776D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2875453"/>
            <a:ext cx="6348413" cy="2451706"/>
          </a:xfrm>
        </p:spPr>
      </p:pic>
      <p:pic>
        <p:nvPicPr>
          <p:cNvPr id="3" name="Câmera 2">
            <a:extLst>
              <a:ext uri="{FF2B5EF4-FFF2-40B4-BE49-F238E27FC236}">
                <a16:creationId xmlns:a16="http://schemas.microsoft.com/office/drawing/2014/main" id="{65560EEE-D756-16C3-4A0B-C4C263ACA39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4" name="Câmera 3">
            <a:extLst>
              <a:ext uri="{FF2B5EF4-FFF2-40B4-BE49-F238E27FC236}">
                <a16:creationId xmlns:a16="http://schemas.microsoft.com/office/drawing/2014/main" id="{95C069C5-6308-D80D-C742-4706440E6509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6" name="Câmera 5">
            <a:extLst>
              <a:ext uri="{FF2B5EF4-FFF2-40B4-BE49-F238E27FC236}">
                <a16:creationId xmlns:a16="http://schemas.microsoft.com/office/drawing/2014/main" id="{A72F760F-DD22-5741-FFE2-07D5327D4B91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7" name="Câmera 6">
            <a:extLst>
              <a:ext uri="{FF2B5EF4-FFF2-40B4-BE49-F238E27FC236}">
                <a16:creationId xmlns:a16="http://schemas.microsoft.com/office/drawing/2014/main" id="{037A934C-73BE-4F51-2F25-7F66F773901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8" name="Câmera 7">
            <a:extLst>
              <a:ext uri="{FF2B5EF4-FFF2-40B4-BE49-F238E27FC236}">
                <a16:creationId xmlns:a16="http://schemas.microsoft.com/office/drawing/2014/main" id="{0B1E667F-C4A9-201C-4022-C122F1F80D4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320154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2377D-7A01-C76C-8830-C0E567F21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8A42BA-BEC8-F733-03F3-D33A787F4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5" y="988961"/>
            <a:ext cx="7023266" cy="1130300"/>
          </a:xfrm>
        </p:spPr>
        <p:txBody>
          <a:bodyPr>
            <a:normAutofit/>
          </a:bodyPr>
          <a:lstStyle/>
          <a:p>
            <a:r>
              <a:rPr lang="pt-BR" dirty="0"/>
              <a:t>Métricas - 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C9E47CE-B3A2-B92C-FA01-6B9EE61BF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391" y="2073275"/>
            <a:ext cx="7915544" cy="3326479"/>
          </a:xfrm>
        </p:spPr>
        <p:txBody>
          <a:bodyPr>
            <a:normAutofit fontScale="55000" lnSpcReduction="20000"/>
          </a:bodyPr>
          <a:lstStyle/>
          <a:p>
            <a:r>
              <a:rPr lang="pt-BR" b="1" dirty="0"/>
              <a:t>Métricas de Desempenho</a:t>
            </a:r>
          </a:p>
          <a:p>
            <a:r>
              <a:rPr lang="pt-BR" b="1" dirty="0"/>
              <a:t>Métricas</a:t>
            </a:r>
            <a:r>
              <a:rPr lang="pt-BR" dirty="0"/>
              <a:t> são critérios usados para </a:t>
            </a:r>
            <a:r>
              <a:rPr lang="pt-BR" b="1" dirty="0"/>
              <a:t>quantificar o desempenho</a:t>
            </a:r>
            <a:r>
              <a:rPr lang="pt-BR" dirty="0"/>
              <a:t> de um sistema.</a:t>
            </a:r>
          </a:p>
          <a:p>
            <a:r>
              <a:rPr lang="pt-BR" dirty="0"/>
              <a:t>Em qualquer estudo de desempenho, é essencial </a:t>
            </a:r>
            <a:r>
              <a:rPr lang="pt-BR" b="1" dirty="0"/>
              <a:t>definir previamente</a:t>
            </a:r>
            <a:r>
              <a:rPr lang="pt-BR" dirty="0"/>
              <a:t> quais métricas serão observadas e comparadas entre diferentes cenários.</a:t>
            </a:r>
          </a:p>
          <a:p>
            <a:r>
              <a:rPr lang="pt-BR" b="1" dirty="0"/>
              <a:t>Exemplos de Aplicação:</a:t>
            </a:r>
          </a:p>
          <a:p>
            <a:r>
              <a:rPr lang="pt-BR" b="1" dirty="0"/>
              <a:t>Sistema Web cliente-servidor (e-commerce)</a:t>
            </a:r>
            <a:r>
              <a:rPr lang="pt-BR" dirty="0"/>
              <a:t>:</a:t>
            </a:r>
            <a:br>
              <a:rPr lang="pt-BR" dirty="0"/>
            </a:br>
            <a:r>
              <a:rPr lang="pt-BR" dirty="0"/>
              <a:t>Avalia-se o </a:t>
            </a:r>
            <a:r>
              <a:rPr lang="pt-BR" b="1" dirty="0"/>
              <a:t>tempo de resposta</a:t>
            </a:r>
            <a:r>
              <a:rPr lang="pt-BR" dirty="0"/>
              <a:t> a um pedido de compra, variando o número de itens ou comparando dois servidores distintos.</a:t>
            </a:r>
          </a:p>
          <a:p>
            <a:r>
              <a:rPr lang="pt-BR" b="1" dirty="0"/>
              <a:t>Rede de computadores</a:t>
            </a:r>
            <a:r>
              <a:rPr lang="pt-BR" dirty="0"/>
              <a:t>:</a:t>
            </a:r>
            <a:br>
              <a:rPr lang="pt-BR" dirty="0"/>
            </a:br>
            <a:r>
              <a:rPr lang="pt-BR" dirty="0"/>
              <a:t>Pode-se medir o </a:t>
            </a:r>
            <a:r>
              <a:rPr lang="pt-BR" b="1" dirty="0"/>
              <a:t>tempo de trânsito dos pacotes</a:t>
            </a:r>
            <a:r>
              <a:rPr lang="pt-BR" dirty="0"/>
              <a:t> ou a </a:t>
            </a:r>
            <a:r>
              <a:rPr lang="pt-BR" b="1" dirty="0"/>
              <a:t>quantidade de pacotes entregues por minuto</a:t>
            </a:r>
            <a:r>
              <a:rPr lang="pt-BR" dirty="0"/>
              <a:t>.</a:t>
            </a:r>
          </a:p>
          <a:p>
            <a:r>
              <a:rPr lang="pt-BR" b="1" dirty="0"/>
              <a:t>Escolha da Métrica:</a:t>
            </a:r>
          </a:p>
          <a:p>
            <a:r>
              <a:rPr lang="pt-BR" dirty="0"/>
              <a:t>A escolha da métrica depende do </a:t>
            </a:r>
            <a:r>
              <a:rPr lang="pt-BR" b="1" dirty="0"/>
              <a:t>tipo de sistema</a:t>
            </a:r>
            <a:r>
              <a:rPr lang="pt-BR" dirty="0"/>
              <a:t> e do </a:t>
            </a:r>
            <a:r>
              <a:rPr lang="pt-BR" b="1" dirty="0"/>
              <a:t>objetivo da avaliação</a:t>
            </a:r>
            <a:r>
              <a:rPr lang="pt-BR" dirty="0"/>
              <a:t>.</a:t>
            </a:r>
          </a:p>
          <a:p>
            <a:r>
              <a:rPr lang="pt-BR" dirty="0"/>
              <a:t>Exemplo: tempo de resposta, vazão, utilização de CPU, latência, taxa de perda, entre outros.</a:t>
            </a:r>
          </a:p>
          <a:p>
            <a:endParaRPr lang="pt-BR" dirty="0"/>
          </a:p>
        </p:txBody>
      </p:sp>
      <p:pic>
        <p:nvPicPr>
          <p:cNvPr id="3" name="Câmera 2">
            <a:extLst>
              <a:ext uri="{FF2B5EF4-FFF2-40B4-BE49-F238E27FC236}">
                <a16:creationId xmlns:a16="http://schemas.microsoft.com/office/drawing/2014/main" id="{ADFC2F51-7687-C98F-DBAA-695C4D8E5B70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5" name="Câmera 4">
            <a:extLst>
              <a:ext uri="{FF2B5EF4-FFF2-40B4-BE49-F238E27FC236}">
                <a16:creationId xmlns:a16="http://schemas.microsoft.com/office/drawing/2014/main" id="{0AF8CF97-4A6C-125E-17A8-F7AD7264A911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6" name="Câmera 5">
            <a:extLst>
              <a:ext uri="{FF2B5EF4-FFF2-40B4-BE49-F238E27FC236}">
                <a16:creationId xmlns:a16="http://schemas.microsoft.com/office/drawing/2014/main" id="{4F2F3A42-8E82-5AD9-AF11-797D8553A39F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7" name="Câmera 6">
            <a:extLst>
              <a:ext uri="{FF2B5EF4-FFF2-40B4-BE49-F238E27FC236}">
                <a16:creationId xmlns:a16="http://schemas.microsoft.com/office/drawing/2014/main" id="{B99C317B-17D2-E972-FD8E-EED96522BC0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8" name="Câmera 7">
            <a:extLst>
              <a:ext uri="{FF2B5EF4-FFF2-40B4-BE49-F238E27FC236}">
                <a16:creationId xmlns:a16="http://schemas.microsoft.com/office/drawing/2014/main" id="{BD3D7329-7C23-127D-2D7A-0234D1F016E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161736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B5A10-3D4B-BBFF-59C5-96B12E9BC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10D16F-975F-051C-3D5E-0B0A5F254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014" y="84394"/>
            <a:ext cx="7023266" cy="712019"/>
          </a:xfrm>
        </p:spPr>
        <p:txBody>
          <a:bodyPr>
            <a:normAutofit/>
          </a:bodyPr>
          <a:lstStyle/>
          <a:p>
            <a:r>
              <a:rPr lang="pt-BR" dirty="0"/>
              <a:t>Métricas - parâmetros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FCB5DFF-CB5C-2FCF-D115-A2232C986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391" y="2073275"/>
            <a:ext cx="7915544" cy="3326479"/>
          </a:xfrm>
        </p:spPr>
        <p:txBody>
          <a:bodyPr>
            <a:normAutofit fontScale="62500" lnSpcReduction="20000"/>
          </a:bodyPr>
          <a:lstStyle/>
          <a:p>
            <a:r>
              <a:rPr lang="pt-BR" b="1" dirty="0"/>
              <a:t>Parâmetros de Estudo de Desempenho</a:t>
            </a:r>
          </a:p>
          <a:p>
            <a:pPr lvl="1"/>
            <a:r>
              <a:rPr lang="pt-BR" dirty="0"/>
              <a:t>Após definir as </a:t>
            </a:r>
            <a:r>
              <a:rPr lang="pt-BR" b="1" dirty="0"/>
              <a:t>métricas</a:t>
            </a:r>
            <a:r>
              <a:rPr lang="pt-BR" dirty="0"/>
              <a:t>, o próximo passo é escolher os </a:t>
            </a:r>
            <a:r>
              <a:rPr lang="pt-BR" b="1" dirty="0"/>
              <a:t>parâmetros</a:t>
            </a:r>
            <a:r>
              <a:rPr lang="pt-BR" dirty="0"/>
              <a:t> que serão </a:t>
            </a:r>
            <a:r>
              <a:rPr lang="pt-BR" b="1" dirty="0"/>
              <a:t>variados</a:t>
            </a:r>
            <a:r>
              <a:rPr lang="pt-BR" dirty="0"/>
              <a:t> durante a avaliação.</a:t>
            </a:r>
          </a:p>
          <a:p>
            <a:r>
              <a:rPr lang="pt-BR" b="1" dirty="0"/>
              <a:t>Exemplos práticos:</a:t>
            </a:r>
          </a:p>
          <a:p>
            <a:r>
              <a:rPr lang="pt-BR" b="1" dirty="0"/>
              <a:t>Sistema de e-commerce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Parâmetros: número de itens por pedido, tipo de servidor (hardware).</a:t>
            </a:r>
          </a:p>
          <a:p>
            <a:pPr lvl="1"/>
            <a:r>
              <a:rPr lang="pt-BR" dirty="0"/>
              <a:t>Métrica relacionada: tempo de resposta.</a:t>
            </a:r>
          </a:p>
          <a:p>
            <a:r>
              <a:rPr lang="pt-BR" b="1" dirty="0"/>
              <a:t>Rede de computadores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Parâmetros: tamanho dos pacotes, protocolo de transporte, largura de banda.</a:t>
            </a:r>
          </a:p>
          <a:p>
            <a:pPr lvl="1"/>
            <a:r>
              <a:rPr lang="pt-BR" dirty="0"/>
              <a:t>Métrica relacionada: latência, taxa de entrega de pacotes.</a:t>
            </a:r>
          </a:p>
          <a:p>
            <a:pPr marL="342900" lvl="1" indent="0">
              <a:buNone/>
            </a:pPr>
            <a:endParaRPr lang="pt-BR" dirty="0"/>
          </a:p>
          <a:p>
            <a:endParaRPr lang="pt-BR" dirty="0"/>
          </a:p>
        </p:txBody>
      </p:sp>
      <p:pic>
        <p:nvPicPr>
          <p:cNvPr id="3" name="Câmera 2">
            <a:extLst>
              <a:ext uri="{FF2B5EF4-FFF2-40B4-BE49-F238E27FC236}">
                <a16:creationId xmlns:a16="http://schemas.microsoft.com/office/drawing/2014/main" id="{F9B330CA-7812-2C17-D8CA-6FD151860F1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5" name="Câmera 4">
            <a:extLst>
              <a:ext uri="{FF2B5EF4-FFF2-40B4-BE49-F238E27FC236}">
                <a16:creationId xmlns:a16="http://schemas.microsoft.com/office/drawing/2014/main" id="{17B1BFA9-AD40-9C90-9393-30F337572851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6" name="Câmera 5">
            <a:extLst>
              <a:ext uri="{FF2B5EF4-FFF2-40B4-BE49-F238E27FC236}">
                <a16:creationId xmlns:a16="http://schemas.microsoft.com/office/drawing/2014/main" id="{86B1D21F-0B40-77DC-6B0D-411F6738182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7" name="Câmera 6">
            <a:extLst>
              <a:ext uri="{FF2B5EF4-FFF2-40B4-BE49-F238E27FC236}">
                <a16:creationId xmlns:a16="http://schemas.microsoft.com/office/drawing/2014/main" id="{758C9A0B-BD9F-77EC-1CDD-B016FE61A335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8" name="Câmera 7">
            <a:extLst>
              <a:ext uri="{FF2B5EF4-FFF2-40B4-BE49-F238E27FC236}">
                <a16:creationId xmlns:a16="http://schemas.microsoft.com/office/drawing/2014/main" id="{7EE7D894-965B-2CD4-F5AD-4AA9FAA98371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171096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3976E-A052-EB08-B03B-EF7A932DF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99A889-28B1-A6A2-700A-5B2FCFE88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5" y="988961"/>
            <a:ext cx="7023266" cy="1130300"/>
          </a:xfrm>
        </p:spPr>
        <p:txBody>
          <a:bodyPr>
            <a:normAutofit/>
          </a:bodyPr>
          <a:lstStyle/>
          <a:p>
            <a:r>
              <a:rPr lang="pt-BR" dirty="0"/>
              <a:t>Métricas - parâmetros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D7D89B-9270-50EC-2BBF-2E0E3E574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391" y="2073275"/>
            <a:ext cx="7915544" cy="3326479"/>
          </a:xfrm>
        </p:spPr>
        <p:txBody>
          <a:bodyPr>
            <a:normAutofit lnSpcReduction="10000"/>
          </a:bodyPr>
          <a:lstStyle/>
          <a:p>
            <a:r>
              <a:rPr lang="pt-BR" b="1" dirty="0"/>
              <a:t>Relação entre Parâmetro e Métrica</a:t>
            </a:r>
          </a:p>
          <a:p>
            <a:r>
              <a:rPr lang="pt-BR" dirty="0"/>
              <a:t>Os parâmetros devem </a:t>
            </a:r>
            <a:r>
              <a:rPr lang="pt-BR" b="1" dirty="0"/>
              <a:t>influenciar diretamente a métrica</a:t>
            </a:r>
            <a:r>
              <a:rPr lang="pt-BR" dirty="0"/>
              <a:t> observada.</a:t>
            </a:r>
          </a:p>
          <a:p>
            <a:r>
              <a:rPr lang="pt-BR" dirty="0"/>
              <a:t>Exemplo:</a:t>
            </a:r>
          </a:p>
          <a:p>
            <a:pPr lvl="1"/>
            <a:r>
              <a:rPr lang="pt-BR" dirty="0"/>
              <a:t>Avaliar tempo de resposta de um servidor </a:t>
            </a:r>
            <a:r>
              <a:rPr lang="pt-BR" b="1" dirty="0"/>
              <a:t>não depende</a:t>
            </a:r>
            <a:r>
              <a:rPr lang="pt-BR" dirty="0"/>
              <a:t> da memória do cliente.</a:t>
            </a:r>
          </a:p>
          <a:p>
            <a:pPr lvl="1"/>
            <a:r>
              <a:rPr lang="pt-BR" dirty="0"/>
              <a:t>Testar velocidade de transmissão </a:t>
            </a:r>
            <a:r>
              <a:rPr lang="pt-BR" b="1" dirty="0"/>
              <a:t>não depende</a:t>
            </a:r>
            <a:r>
              <a:rPr lang="pt-BR" dirty="0"/>
              <a:t> do software do emissor (se o link for o foco).</a:t>
            </a:r>
          </a:p>
          <a:p>
            <a:pPr marL="342900" lvl="1" indent="0">
              <a:buNone/>
            </a:pPr>
            <a:endParaRPr lang="pt-BR" dirty="0"/>
          </a:p>
          <a:p>
            <a:endParaRPr lang="pt-BR" dirty="0"/>
          </a:p>
        </p:txBody>
      </p:sp>
      <p:pic>
        <p:nvPicPr>
          <p:cNvPr id="3" name="Câmera 2">
            <a:extLst>
              <a:ext uri="{FF2B5EF4-FFF2-40B4-BE49-F238E27FC236}">
                <a16:creationId xmlns:a16="http://schemas.microsoft.com/office/drawing/2014/main" id="{619F1CB3-229C-5EB9-4394-BCBFA2268E0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5" name="Câmera 4">
            <a:extLst>
              <a:ext uri="{FF2B5EF4-FFF2-40B4-BE49-F238E27FC236}">
                <a16:creationId xmlns:a16="http://schemas.microsoft.com/office/drawing/2014/main" id="{1732E6D6-27D3-F56B-E77D-75CE139DA59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6" name="Câmera 5">
            <a:extLst>
              <a:ext uri="{FF2B5EF4-FFF2-40B4-BE49-F238E27FC236}">
                <a16:creationId xmlns:a16="http://schemas.microsoft.com/office/drawing/2014/main" id="{C4361593-5EEB-0799-97A7-ADAE42C1E1E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7" name="Câmera 6">
            <a:extLst>
              <a:ext uri="{FF2B5EF4-FFF2-40B4-BE49-F238E27FC236}">
                <a16:creationId xmlns:a16="http://schemas.microsoft.com/office/drawing/2014/main" id="{8259E756-8FB7-552F-3391-1044280A5A69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8" name="Câmera 7">
            <a:extLst>
              <a:ext uri="{FF2B5EF4-FFF2-40B4-BE49-F238E27FC236}">
                <a16:creationId xmlns:a16="http://schemas.microsoft.com/office/drawing/2014/main" id="{F533FFB0-2A7C-8B55-22FE-BB7AC4A47CD8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5983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BDEBA-17CC-CB83-BDCE-A4C2E591A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42D7C9-09C0-1A99-AE04-6AAD87D22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5" y="988961"/>
            <a:ext cx="7023266" cy="1130300"/>
          </a:xfrm>
        </p:spPr>
        <p:txBody>
          <a:bodyPr>
            <a:normAutofit/>
          </a:bodyPr>
          <a:lstStyle/>
          <a:p>
            <a:r>
              <a:rPr lang="pt-BR" b="1" dirty="0"/>
              <a:t>Carga de Trabalho (</a:t>
            </a:r>
            <a:r>
              <a:rPr lang="pt-BR" b="1" dirty="0" err="1"/>
              <a:t>Workload</a:t>
            </a:r>
            <a:r>
              <a:rPr lang="pt-BR" b="1" dirty="0"/>
              <a:t>)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1C8672-9964-3098-E84C-91057B91F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391" y="2073275"/>
            <a:ext cx="7915544" cy="332647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/>
              <a:t>A </a:t>
            </a:r>
            <a:r>
              <a:rPr lang="pt-BR" b="1" dirty="0"/>
              <a:t>carga de trabalho</a:t>
            </a:r>
            <a:r>
              <a:rPr lang="pt-BR" dirty="0"/>
              <a:t> representa o </a:t>
            </a:r>
            <a:r>
              <a:rPr lang="pt-BR" b="1" dirty="0"/>
              <a:t>conjunto de requisições</a:t>
            </a:r>
            <a:r>
              <a:rPr lang="pt-BR" dirty="0"/>
              <a:t> que o sistema precisa atender durante a avaliação de desempenho.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b="1" dirty="0"/>
              <a:t>Exemplos de Carga de Trabalho:</a:t>
            </a:r>
          </a:p>
          <a:p>
            <a:pPr lvl="1"/>
            <a:r>
              <a:rPr lang="pt-BR" b="1" dirty="0"/>
              <a:t>Rede de computadores</a:t>
            </a:r>
            <a:r>
              <a:rPr lang="pt-BR" dirty="0"/>
              <a:t>:</a:t>
            </a:r>
            <a:br>
              <a:rPr lang="pt-BR" dirty="0"/>
            </a:br>
            <a:r>
              <a:rPr lang="pt-BR" dirty="0"/>
              <a:t>Quantidade de </a:t>
            </a:r>
            <a:r>
              <a:rPr lang="pt-BR" b="1" dirty="0"/>
              <a:t>pacotes a serem transmitidos</a:t>
            </a:r>
            <a:r>
              <a:rPr lang="pt-BR" dirty="0"/>
              <a:t>.</a:t>
            </a:r>
          </a:p>
          <a:p>
            <a:pPr lvl="1"/>
            <a:r>
              <a:rPr lang="pt-BR" b="1" dirty="0"/>
              <a:t>Banco de dados</a:t>
            </a:r>
            <a:r>
              <a:rPr lang="pt-BR" dirty="0"/>
              <a:t>:</a:t>
            </a:r>
            <a:br>
              <a:rPr lang="pt-BR" dirty="0"/>
            </a:br>
            <a:r>
              <a:rPr lang="pt-BR" dirty="0"/>
              <a:t>Número de </a:t>
            </a:r>
            <a:r>
              <a:rPr lang="pt-BR" b="1" dirty="0"/>
              <a:t>consultas realizadas</a:t>
            </a:r>
            <a:r>
              <a:rPr lang="pt-BR" dirty="0"/>
              <a:t>.</a:t>
            </a:r>
          </a:p>
          <a:p>
            <a:pPr lvl="1"/>
            <a:r>
              <a:rPr lang="pt-BR" b="1" dirty="0"/>
              <a:t>Computador/CPU</a:t>
            </a:r>
            <a:r>
              <a:rPr lang="pt-BR" dirty="0"/>
              <a:t>:</a:t>
            </a:r>
            <a:br>
              <a:rPr lang="pt-BR" dirty="0"/>
            </a:br>
            <a:r>
              <a:rPr lang="pt-BR" dirty="0"/>
              <a:t>Volume de </a:t>
            </a:r>
            <a:r>
              <a:rPr lang="pt-BR" b="1" dirty="0"/>
              <a:t>instruções processadas</a:t>
            </a:r>
            <a:r>
              <a:rPr lang="pt-BR" dirty="0"/>
              <a:t> ou </a:t>
            </a:r>
            <a:r>
              <a:rPr lang="pt-BR" b="1" dirty="0"/>
              <a:t>acessos à memória</a:t>
            </a:r>
            <a:r>
              <a:rPr lang="pt-BR" dirty="0"/>
              <a:t>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3" name="Câmera 2">
            <a:extLst>
              <a:ext uri="{FF2B5EF4-FFF2-40B4-BE49-F238E27FC236}">
                <a16:creationId xmlns:a16="http://schemas.microsoft.com/office/drawing/2014/main" id="{804F2055-1CD4-9C3A-91E2-11460A4ED290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5" name="Câmera 4">
            <a:extLst>
              <a:ext uri="{FF2B5EF4-FFF2-40B4-BE49-F238E27FC236}">
                <a16:creationId xmlns:a16="http://schemas.microsoft.com/office/drawing/2014/main" id="{B0A4A910-1935-6EB9-B186-33DBBA13FED0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6" name="Câmera 5">
            <a:extLst>
              <a:ext uri="{FF2B5EF4-FFF2-40B4-BE49-F238E27FC236}">
                <a16:creationId xmlns:a16="http://schemas.microsoft.com/office/drawing/2014/main" id="{E9013AA4-5115-FE85-F18F-D97CA29B4594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7" name="Câmera 6">
            <a:extLst>
              <a:ext uri="{FF2B5EF4-FFF2-40B4-BE49-F238E27FC236}">
                <a16:creationId xmlns:a16="http://schemas.microsoft.com/office/drawing/2014/main" id="{12338DC5-CA16-D4D1-AD3E-F9C668B79BBB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8" name="Câmera 7">
            <a:extLst>
              <a:ext uri="{FF2B5EF4-FFF2-40B4-BE49-F238E27FC236}">
                <a16:creationId xmlns:a16="http://schemas.microsoft.com/office/drawing/2014/main" id="{F9902B21-34FA-EC36-803B-C60344323E5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769981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76003-2E98-7B46-F490-D9A0110F6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94A678-FCC0-C1A5-C8A4-C2A101DEC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207" y="94225"/>
            <a:ext cx="7023266" cy="1130300"/>
          </a:xfrm>
        </p:spPr>
        <p:txBody>
          <a:bodyPr>
            <a:normAutofit/>
          </a:bodyPr>
          <a:lstStyle/>
          <a:p>
            <a:r>
              <a:rPr lang="pt-BR" b="1" dirty="0"/>
              <a:t>Carga de Trabalho (</a:t>
            </a:r>
            <a:r>
              <a:rPr lang="pt-BR" b="1" dirty="0" err="1"/>
              <a:t>Workload</a:t>
            </a:r>
            <a:r>
              <a:rPr lang="pt-BR" b="1" dirty="0"/>
              <a:t>)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14205E8-5BC4-D0C1-8C6D-FDCF392BC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391" y="2073275"/>
            <a:ext cx="7915544" cy="332647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pt-BR" b="1" dirty="0"/>
              <a:t>Importância da Carga de Trabalho</a:t>
            </a:r>
          </a:p>
          <a:p>
            <a:pPr marL="0" indent="0">
              <a:buNone/>
            </a:pPr>
            <a:endParaRPr lang="pt-BR" b="1" dirty="0"/>
          </a:p>
          <a:p>
            <a:r>
              <a:rPr lang="pt-BR" dirty="0"/>
              <a:t>A escolha da carga adequada é </a:t>
            </a:r>
            <a:r>
              <a:rPr lang="pt-BR" b="1" dirty="0"/>
              <a:t>crucial</a:t>
            </a:r>
            <a:r>
              <a:rPr lang="pt-BR" dirty="0"/>
              <a:t> para obter </a:t>
            </a:r>
            <a:r>
              <a:rPr lang="pt-BR" b="1" dirty="0"/>
              <a:t>resultados válidos</a:t>
            </a:r>
            <a:r>
              <a:rPr lang="pt-BR" dirty="0"/>
              <a:t>.</a:t>
            </a:r>
          </a:p>
          <a:p>
            <a:r>
              <a:rPr lang="pt-BR" dirty="0"/>
              <a:t>Cargas </a:t>
            </a:r>
            <a:r>
              <a:rPr lang="pt-BR" b="1" dirty="0"/>
              <a:t>inapropriadas ou irreais</a:t>
            </a:r>
            <a:r>
              <a:rPr lang="pt-BR" dirty="0"/>
              <a:t> podem tornar o estudo </a:t>
            </a:r>
            <a:r>
              <a:rPr lang="pt-BR" b="1" dirty="0"/>
              <a:t>inaceitável ou inválido</a:t>
            </a:r>
            <a:r>
              <a:rPr lang="pt-BR" dirty="0"/>
              <a:t>.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b="1" dirty="0"/>
              <a:t>Requisitos para uma Carga Representativa:</a:t>
            </a:r>
          </a:p>
          <a:p>
            <a:pPr marL="0" indent="0">
              <a:buNone/>
            </a:pPr>
            <a:endParaRPr lang="pt-BR" b="1" dirty="0"/>
          </a:p>
          <a:p>
            <a:r>
              <a:rPr lang="pt-BR" dirty="0"/>
              <a:t>Deve refletir o </a:t>
            </a:r>
            <a:r>
              <a:rPr lang="pt-BR" b="1" dirty="0"/>
              <a:t>uso real do sistema</a:t>
            </a:r>
            <a:r>
              <a:rPr lang="pt-BR" dirty="0"/>
              <a:t>.</a:t>
            </a:r>
          </a:p>
          <a:p>
            <a:r>
              <a:rPr lang="pt-BR" dirty="0"/>
              <a:t>Deve ser </a:t>
            </a:r>
            <a:r>
              <a:rPr lang="pt-BR" b="1" dirty="0"/>
              <a:t>coerente em quantidade e tipo de requisição</a:t>
            </a:r>
            <a:r>
              <a:rPr lang="pt-BR" dirty="0"/>
              <a:t>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3" name="Câmera 2">
            <a:extLst>
              <a:ext uri="{FF2B5EF4-FFF2-40B4-BE49-F238E27FC236}">
                <a16:creationId xmlns:a16="http://schemas.microsoft.com/office/drawing/2014/main" id="{772C7222-96E2-DC7A-4506-5DBCC9BBB4EB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5" name="Câmera 4">
            <a:extLst>
              <a:ext uri="{FF2B5EF4-FFF2-40B4-BE49-F238E27FC236}">
                <a16:creationId xmlns:a16="http://schemas.microsoft.com/office/drawing/2014/main" id="{168A45D9-3290-E0C7-5C0B-09746302A771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6" name="Câmera 5">
            <a:extLst>
              <a:ext uri="{FF2B5EF4-FFF2-40B4-BE49-F238E27FC236}">
                <a16:creationId xmlns:a16="http://schemas.microsoft.com/office/drawing/2014/main" id="{868F8C16-F44A-88DA-A80F-252EF556033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7" name="Câmera 6">
            <a:extLst>
              <a:ext uri="{FF2B5EF4-FFF2-40B4-BE49-F238E27FC236}">
                <a16:creationId xmlns:a16="http://schemas.microsoft.com/office/drawing/2014/main" id="{806B888E-2941-D45D-2CDC-0795D37FAE6F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8" name="Câmera 7">
            <a:extLst>
              <a:ext uri="{FF2B5EF4-FFF2-40B4-BE49-F238E27FC236}">
                <a16:creationId xmlns:a16="http://schemas.microsoft.com/office/drawing/2014/main" id="{B9B95702-CFDF-D3EA-8127-C323092D61F8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705526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59E2D-B6E7-D8CE-7914-7C50AAFAA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1AAF25-F312-1206-E6ED-8EBA9BDC9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5" y="988961"/>
            <a:ext cx="7023266" cy="1130300"/>
          </a:xfrm>
        </p:spPr>
        <p:txBody>
          <a:bodyPr>
            <a:normAutofit/>
          </a:bodyPr>
          <a:lstStyle/>
          <a:p>
            <a:r>
              <a:rPr lang="pt-BR" b="1" dirty="0"/>
              <a:t>Carga de Trabalho (</a:t>
            </a:r>
            <a:r>
              <a:rPr lang="pt-BR" b="1" dirty="0" err="1"/>
              <a:t>Workload</a:t>
            </a:r>
            <a:r>
              <a:rPr lang="pt-BR" b="1" dirty="0"/>
              <a:t>)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7736E0F-6344-1F0D-46DB-8CA4C784C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391" y="2073275"/>
            <a:ext cx="7915544" cy="332647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pt-BR" b="1" dirty="0"/>
              <a:t>Carga de Trabalho Quantitativa</a:t>
            </a:r>
          </a:p>
          <a:p>
            <a:r>
              <a:rPr lang="pt-BR" dirty="0"/>
              <a:t>A </a:t>
            </a:r>
            <a:r>
              <a:rPr lang="pt-BR" b="1" dirty="0"/>
              <a:t>carga de trabalho deve refletir o uso real do sistema</a:t>
            </a:r>
            <a:r>
              <a:rPr lang="pt-BR" dirty="0"/>
              <a:t>. Escolhas inadequadas impactam diretamente a </a:t>
            </a:r>
            <a:r>
              <a:rPr lang="pt-BR" b="1" dirty="0"/>
              <a:t>validade dos resultados</a:t>
            </a:r>
            <a:r>
              <a:rPr lang="pt-BR" dirty="0"/>
              <a:t> do estudo de desempenho.</a:t>
            </a:r>
          </a:p>
          <a:p>
            <a:pPr marL="0" indent="0">
              <a:buNone/>
            </a:pPr>
            <a:r>
              <a:rPr lang="pt-BR" b="1" dirty="0"/>
              <a:t>Subdimensionamento</a:t>
            </a:r>
          </a:p>
          <a:p>
            <a:r>
              <a:rPr lang="pt-BR" dirty="0"/>
              <a:t>Ocorre quando a carga escolhida está </a:t>
            </a:r>
            <a:r>
              <a:rPr lang="pt-BR" b="1" dirty="0"/>
              <a:t>abaixo da realidade esperada</a:t>
            </a:r>
            <a:r>
              <a:rPr lang="pt-BR" dirty="0"/>
              <a:t>.</a:t>
            </a:r>
          </a:p>
          <a:p>
            <a:pPr lvl="1"/>
            <a:r>
              <a:rPr lang="pt-BR" b="1" dirty="0"/>
              <a:t>Exemplo</a:t>
            </a:r>
            <a:r>
              <a:rPr lang="pt-BR" dirty="0"/>
              <a:t>:</a:t>
            </a:r>
            <a:br>
              <a:rPr lang="pt-BR" dirty="0"/>
            </a:br>
            <a:r>
              <a:rPr lang="pt-BR" dirty="0"/>
              <a:t>Estudo prevê 100 requisições/hora em um e-commerce, mas o uso real é de 400/hora.</a:t>
            </a:r>
            <a:br>
              <a:rPr lang="pt-BR" dirty="0"/>
            </a:br>
            <a:r>
              <a:rPr lang="pt-BR" dirty="0"/>
              <a:t>➜ Resultado: sistema parece eficiente, mas </a:t>
            </a:r>
            <a:r>
              <a:rPr lang="pt-BR" b="1" dirty="0"/>
              <a:t>não atende bem na prática</a:t>
            </a:r>
            <a:r>
              <a:rPr lang="pt-BR" dirty="0"/>
              <a:t>.</a:t>
            </a:r>
          </a:p>
          <a:p>
            <a:pPr marL="0" indent="0">
              <a:buNone/>
            </a:pPr>
            <a:r>
              <a:rPr lang="pt-BR" b="1" dirty="0"/>
              <a:t>Superdimensionamento</a:t>
            </a:r>
          </a:p>
          <a:p>
            <a:pPr lvl="1"/>
            <a:r>
              <a:rPr lang="pt-BR" dirty="0"/>
              <a:t>Carga acima do esperado. Pode gerar resultados </a:t>
            </a:r>
            <a:r>
              <a:rPr lang="pt-BR" b="1" dirty="0"/>
              <a:t>pessimistas ou irreais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Contudo, pode ser </a:t>
            </a:r>
            <a:r>
              <a:rPr lang="pt-BR" b="1" dirty="0"/>
              <a:t>útil para avaliar limites</a:t>
            </a:r>
            <a:r>
              <a:rPr lang="pt-BR" dirty="0"/>
              <a:t> ou preparar o sistema para cargas futuras.</a:t>
            </a:r>
          </a:p>
          <a:p>
            <a:pPr lvl="1"/>
            <a:r>
              <a:rPr lang="pt-BR" b="1" dirty="0"/>
              <a:t>Exemplo</a:t>
            </a:r>
            <a:r>
              <a:rPr lang="pt-BR" dirty="0"/>
              <a:t>:</a:t>
            </a:r>
            <a:br>
              <a:rPr lang="pt-BR" dirty="0"/>
            </a:br>
            <a:r>
              <a:rPr lang="pt-BR" dirty="0"/>
              <a:t>Testar o e-commerce com 1000 clientes/hora para verificar se o servidor suportará um aumento futuro na demanda.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3" name="Câmera 2">
            <a:extLst>
              <a:ext uri="{FF2B5EF4-FFF2-40B4-BE49-F238E27FC236}">
                <a16:creationId xmlns:a16="http://schemas.microsoft.com/office/drawing/2014/main" id="{6BD00ED5-EC52-38E2-CCD6-1027E801CFBB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5" name="Câmera 4">
            <a:extLst>
              <a:ext uri="{FF2B5EF4-FFF2-40B4-BE49-F238E27FC236}">
                <a16:creationId xmlns:a16="http://schemas.microsoft.com/office/drawing/2014/main" id="{3705504F-00D0-4A6B-1945-A167CE4ED721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6" name="Câmera 5">
            <a:extLst>
              <a:ext uri="{FF2B5EF4-FFF2-40B4-BE49-F238E27FC236}">
                <a16:creationId xmlns:a16="http://schemas.microsoft.com/office/drawing/2014/main" id="{00C80B0A-F6B7-3F70-63BD-D602D169482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7" name="Câmera 6">
            <a:extLst>
              <a:ext uri="{FF2B5EF4-FFF2-40B4-BE49-F238E27FC236}">
                <a16:creationId xmlns:a16="http://schemas.microsoft.com/office/drawing/2014/main" id="{7975BA25-4B6F-B206-BF5F-012DEFB9C3E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8" name="Câmera 7">
            <a:extLst>
              <a:ext uri="{FF2B5EF4-FFF2-40B4-BE49-F238E27FC236}">
                <a16:creationId xmlns:a16="http://schemas.microsoft.com/office/drawing/2014/main" id="{BA162269-4C0B-B355-C403-BF1AA93D6C7A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2108339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62704-487E-9EAE-2D89-5E9283871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7088D1-C31E-84ED-4CDF-CD1A5208D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5" y="988961"/>
            <a:ext cx="7023266" cy="1130300"/>
          </a:xfrm>
        </p:spPr>
        <p:txBody>
          <a:bodyPr>
            <a:normAutofit/>
          </a:bodyPr>
          <a:lstStyle/>
          <a:p>
            <a:r>
              <a:rPr lang="pt-BR" b="1" dirty="0"/>
              <a:t>Carga de Trabalho (</a:t>
            </a:r>
            <a:r>
              <a:rPr lang="pt-BR" b="1" dirty="0" err="1"/>
              <a:t>Workload</a:t>
            </a:r>
            <a:r>
              <a:rPr lang="pt-BR" b="1" dirty="0"/>
              <a:t>)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DB3659C-3771-C8D5-CE0D-745896710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391" y="2073275"/>
            <a:ext cx="7915544" cy="332647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b="1" dirty="0"/>
              <a:t>Carga de Trabalho Quantitativa</a:t>
            </a:r>
          </a:p>
          <a:p>
            <a:pPr marL="0" indent="0">
              <a:buNone/>
            </a:pPr>
            <a:r>
              <a:rPr lang="pt-BR" dirty="0"/>
              <a:t>A </a:t>
            </a:r>
            <a:r>
              <a:rPr lang="pt-BR" b="1" dirty="0"/>
              <a:t>qualidade da carga de trabalho</a:t>
            </a:r>
            <a:r>
              <a:rPr lang="pt-BR" dirty="0"/>
              <a:t> também impacta o resultado do estudo de desempenho.</a:t>
            </a:r>
          </a:p>
          <a:p>
            <a:r>
              <a:rPr lang="pt-BR" b="1" dirty="0"/>
              <a:t>Erro de Perfil (Carga Qualitativamente Incorreta)</a:t>
            </a:r>
          </a:p>
          <a:p>
            <a:pPr lvl="1"/>
            <a:r>
              <a:rPr lang="pt-BR" dirty="0"/>
              <a:t>Ocorre quando o </a:t>
            </a:r>
            <a:r>
              <a:rPr lang="pt-BR" b="1" dirty="0"/>
              <a:t>tipo de uso simulado</a:t>
            </a:r>
            <a:r>
              <a:rPr lang="pt-BR" dirty="0"/>
              <a:t> é diferente do </a:t>
            </a:r>
            <a:r>
              <a:rPr lang="pt-BR" b="1" dirty="0"/>
              <a:t>uso real do sistema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Isso leva a </a:t>
            </a:r>
            <a:r>
              <a:rPr lang="pt-BR" b="1" dirty="0"/>
              <a:t>resultados imprecisos e não representativos</a:t>
            </a:r>
            <a:r>
              <a:rPr lang="pt-BR" dirty="0"/>
              <a:t>.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/>
              <a:t>⚠️</a:t>
            </a:r>
            <a:r>
              <a:rPr lang="pt-BR" dirty="0"/>
              <a:t> </a:t>
            </a:r>
            <a:r>
              <a:rPr lang="pt-BR" i="1" dirty="0"/>
              <a:t>Avaliações com perfis errados de usuários produzem resultados enganosos, mesmo com cargas numericamente corretas.</a:t>
            </a:r>
            <a:endParaRPr lang="pt-BR" dirty="0"/>
          </a:p>
        </p:txBody>
      </p:sp>
      <p:pic>
        <p:nvPicPr>
          <p:cNvPr id="3" name="Câmera 2">
            <a:extLst>
              <a:ext uri="{FF2B5EF4-FFF2-40B4-BE49-F238E27FC236}">
                <a16:creationId xmlns:a16="http://schemas.microsoft.com/office/drawing/2014/main" id="{99D02F4E-2C3C-7B57-C78B-719E921BE8F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5" name="Câmera 4">
            <a:extLst>
              <a:ext uri="{FF2B5EF4-FFF2-40B4-BE49-F238E27FC236}">
                <a16:creationId xmlns:a16="http://schemas.microsoft.com/office/drawing/2014/main" id="{B9D4453B-9E69-86D0-580A-5FC5E05619A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6" name="Câmera 5">
            <a:extLst>
              <a:ext uri="{FF2B5EF4-FFF2-40B4-BE49-F238E27FC236}">
                <a16:creationId xmlns:a16="http://schemas.microsoft.com/office/drawing/2014/main" id="{96930DE2-1F95-5C9D-5B2F-EEC3B64A4B8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7" name="Câmera 6">
            <a:extLst>
              <a:ext uri="{FF2B5EF4-FFF2-40B4-BE49-F238E27FC236}">
                <a16:creationId xmlns:a16="http://schemas.microsoft.com/office/drawing/2014/main" id="{83C98345-474E-E2A8-D8CD-3DE939DF90D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8" name="Câmera 7">
            <a:extLst>
              <a:ext uri="{FF2B5EF4-FFF2-40B4-BE49-F238E27FC236}">
                <a16:creationId xmlns:a16="http://schemas.microsoft.com/office/drawing/2014/main" id="{BEF8BA60-16AE-4A34-6ADB-F825A9BF71C8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9563042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FDC43-680E-7E37-4F7B-39C94CE1E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D514D4-B572-7086-7A8B-D471053D2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5" y="988961"/>
            <a:ext cx="7023266" cy="1130300"/>
          </a:xfrm>
        </p:spPr>
        <p:txBody>
          <a:bodyPr>
            <a:normAutofit/>
          </a:bodyPr>
          <a:lstStyle/>
          <a:p>
            <a:r>
              <a:rPr lang="pt-BR" b="1" dirty="0"/>
              <a:t>Introdução à avaliação de desempenho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8BD73D57-3E1C-B696-B1FE-7BB006AF4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662" y="1983659"/>
            <a:ext cx="3896609" cy="3593075"/>
          </a:xfrm>
        </p:spPr>
        <p:txBody>
          <a:bodyPr>
            <a:normAutofit fontScale="92500" lnSpcReduction="20000"/>
          </a:bodyPr>
          <a:lstStyle/>
          <a:p>
            <a:r>
              <a:rPr lang="pt-BR" b="1" dirty="0"/>
              <a:t>Estudo de Desempenho: CPU</a:t>
            </a:r>
          </a:p>
          <a:p>
            <a:r>
              <a:rPr lang="pt-BR" b="1" dirty="0"/>
              <a:t>🎯 Objetivo:</a:t>
            </a:r>
            <a:br>
              <a:rPr lang="pt-BR" dirty="0"/>
            </a:br>
            <a:r>
              <a:rPr lang="pt-BR" dirty="0"/>
              <a:t>Aumentar o número de </a:t>
            </a:r>
            <a:r>
              <a:rPr lang="pt-BR" b="1" dirty="0"/>
              <a:t>requisições atendidas pelo processador</a:t>
            </a:r>
            <a:r>
              <a:rPr lang="pt-BR" dirty="0"/>
              <a:t>.</a:t>
            </a:r>
          </a:p>
          <a:p>
            <a:r>
              <a:rPr lang="pt-BR" b="1" dirty="0"/>
              <a:t>📏 Métrica</a:t>
            </a:r>
          </a:p>
          <a:p>
            <a:r>
              <a:rPr lang="pt-BR" b="1" dirty="0"/>
              <a:t>Requisições atendidas por segundo</a:t>
            </a:r>
            <a:br>
              <a:rPr lang="pt-BR" dirty="0"/>
            </a:br>
            <a:r>
              <a:rPr lang="pt-BR" dirty="0"/>
              <a:t>(mede a capacidade de processamento da CPU).</a:t>
            </a:r>
          </a:p>
          <a:p>
            <a:endParaRPr lang="pt-BR" dirty="0"/>
          </a:p>
        </p:txBody>
      </p:sp>
      <p:sp>
        <p:nvSpPr>
          <p:cNvPr id="15" name="Espaço Reservado para Conteúdo 13">
            <a:extLst>
              <a:ext uri="{FF2B5EF4-FFF2-40B4-BE49-F238E27FC236}">
                <a16:creationId xmlns:a16="http://schemas.microsoft.com/office/drawing/2014/main" id="{1211E361-C95B-90D1-C2B0-BA1D8D9C54B6}"/>
              </a:ext>
            </a:extLst>
          </p:cNvPr>
          <p:cNvSpPr txBox="1">
            <a:spLocks/>
          </p:cNvSpPr>
          <p:nvPr/>
        </p:nvSpPr>
        <p:spPr>
          <a:xfrm>
            <a:off x="4380271" y="1983659"/>
            <a:ext cx="3896609" cy="3593075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t-BR" sz="1500" b="1" dirty="0"/>
              <a:t>🧪 Parâmetros</a:t>
            </a:r>
          </a:p>
          <a:p>
            <a:pPr marL="0" indent="0">
              <a:buNone/>
            </a:pPr>
            <a:r>
              <a:rPr lang="pt-BR" sz="1500" b="1" dirty="0"/>
              <a:t>Tamanho da requisição</a:t>
            </a:r>
            <a:endParaRPr lang="pt-BR" sz="1500" dirty="0"/>
          </a:p>
          <a:p>
            <a:pPr marL="0" indent="0">
              <a:buNone/>
            </a:pPr>
            <a:r>
              <a:rPr lang="pt-BR" sz="1500" b="1" dirty="0"/>
              <a:t>Tipo da instrução de máquina</a:t>
            </a:r>
            <a:br>
              <a:rPr lang="pt-BR" sz="1500" dirty="0"/>
            </a:br>
            <a:r>
              <a:rPr lang="pt-BR" sz="1500" dirty="0"/>
              <a:t>(influenciam o tempo de execução e uso de recursos).</a:t>
            </a:r>
          </a:p>
          <a:p>
            <a:pPr marL="0" indent="0">
              <a:buNone/>
            </a:pPr>
            <a:endParaRPr lang="pt-BR" sz="1500" dirty="0"/>
          </a:p>
          <a:p>
            <a:r>
              <a:rPr lang="pt-BR" sz="1500" b="1" dirty="0"/>
              <a:t>⚙️ Carga de Trabalho</a:t>
            </a:r>
          </a:p>
          <a:p>
            <a:pPr marL="0" indent="0">
              <a:buNone/>
            </a:pPr>
            <a:r>
              <a:rPr lang="pt-BR" sz="1500" dirty="0"/>
              <a:t>Requisições geradas pelo sistema operacional</a:t>
            </a:r>
          </a:p>
          <a:p>
            <a:pPr marL="0" indent="0">
              <a:buNone/>
            </a:pPr>
            <a:r>
              <a:rPr lang="pt-BR" sz="1500" dirty="0"/>
              <a:t>Uso contínuo da máquina por um usuário comum</a:t>
            </a:r>
          </a:p>
          <a:p>
            <a:pPr marL="0" indent="0">
              <a:buNone/>
            </a:pPr>
            <a:endParaRPr lang="pt-BR" sz="1500" dirty="0"/>
          </a:p>
          <a:p>
            <a:endParaRPr lang="pt-BR" sz="1500" dirty="0"/>
          </a:p>
        </p:txBody>
      </p:sp>
      <p:pic>
        <p:nvPicPr>
          <p:cNvPr id="3" name="Câmera 2">
            <a:extLst>
              <a:ext uri="{FF2B5EF4-FFF2-40B4-BE49-F238E27FC236}">
                <a16:creationId xmlns:a16="http://schemas.microsoft.com/office/drawing/2014/main" id="{CEFE0F74-21AC-70FD-3E30-2A8766B48020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4" name="Câmera 3">
            <a:extLst>
              <a:ext uri="{FF2B5EF4-FFF2-40B4-BE49-F238E27FC236}">
                <a16:creationId xmlns:a16="http://schemas.microsoft.com/office/drawing/2014/main" id="{FD2EC523-2F80-C92C-B7F2-08A2083324C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5" name="Câmera 4">
            <a:extLst>
              <a:ext uri="{FF2B5EF4-FFF2-40B4-BE49-F238E27FC236}">
                <a16:creationId xmlns:a16="http://schemas.microsoft.com/office/drawing/2014/main" id="{2954B33A-33C6-3481-5CFC-A2E2AE9FA125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6" name="Câmera 5">
            <a:extLst>
              <a:ext uri="{FF2B5EF4-FFF2-40B4-BE49-F238E27FC236}">
                <a16:creationId xmlns:a16="http://schemas.microsoft.com/office/drawing/2014/main" id="{9CADBF1B-CD8F-D3C2-F253-0F288016319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7" name="Câmera 6">
            <a:extLst>
              <a:ext uri="{FF2B5EF4-FFF2-40B4-BE49-F238E27FC236}">
                <a16:creationId xmlns:a16="http://schemas.microsoft.com/office/drawing/2014/main" id="{4CA965B6-19C5-C885-E5EC-7E13E8A76E0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7571648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93C89-FDCE-30AB-D5FB-A4A9CCA84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C44C65-67E6-C9B3-2AEF-F53FB0858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5" y="988961"/>
            <a:ext cx="7023266" cy="1130300"/>
          </a:xfrm>
        </p:spPr>
        <p:txBody>
          <a:bodyPr>
            <a:normAutofit/>
          </a:bodyPr>
          <a:lstStyle/>
          <a:p>
            <a:r>
              <a:rPr lang="pt-BR" b="1" dirty="0"/>
              <a:t>Introdução à avaliação de desempenho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2CBB55B4-DFB9-4224-B9A4-C6081C8D9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662" y="1983659"/>
            <a:ext cx="3896609" cy="3593075"/>
          </a:xfrm>
        </p:spPr>
        <p:txBody>
          <a:bodyPr>
            <a:normAutofit fontScale="85000" lnSpcReduction="20000"/>
          </a:bodyPr>
          <a:lstStyle/>
          <a:p>
            <a:r>
              <a:rPr lang="pt-BR" b="1" dirty="0"/>
              <a:t>Estudo de Desempenho: Banco de Dados</a:t>
            </a:r>
          </a:p>
          <a:p>
            <a:r>
              <a:rPr lang="pt-BR" b="1" dirty="0"/>
              <a:t>🎯 Objetivo:</a:t>
            </a:r>
            <a:br>
              <a:rPr lang="pt-BR" dirty="0"/>
            </a:br>
            <a:r>
              <a:rPr lang="pt-BR" dirty="0"/>
              <a:t>Verificar </a:t>
            </a:r>
            <a:r>
              <a:rPr lang="pt-BR" b="1" dirty="0"/>
              <a:t>quais tipos de consultas</a:t>
            </a:r>
            <a:r>
              <a:rPr lang="pt-BR" dirty="0"/>
              <a:t> são atendidas mais rapidamente.</a:t>
            </a:r>
          </a:p>
          <a:p>
            <a:r>
              <a:rPr lang="pt-BR" b="1" dirty="0"/>
              <a:t>📏 Métrica</a:t>
            </a:r>
          </a:p>
          <a:p>
            <a:pPr lvl="1"/>
            <a:r>
              <a:rPr lang="pt-BR" b="1" dirty="0"/>
              <a:t>Tempo de atendimento de requisição</a:t>
            </a:r>
            <a:br>
              <a:rPr lang="pt-BR" dirty="0"/>
            </a:br>
            <a:r>
              <a:rPr lang="pt-BR" dirty="0"/>
              <a:t>(mede a eficiência das operações no banco de dados).</a:t>
            </a:r>
          </a:p>
          <a:p>
            <a:endParaRPr lang="pt-BR" dirty="0"/>
          </a:p>
        </p:txBody>
      </p:sp>
      <p:sp>
        <p:nvSpPr>
          <p:cNvPr id="15" name="Espaço Reservado para Conteúdo 13">
            <a:extLst>
              <a:ext uri="{FF2B5EF4-FFF2-40B4-BE49-F238E27FC236}">
                <a16:creationId xmlns:a16="http://schemas.microsoft.com/office/drawing/2014/main" id="{48C3F51A-CB81-FD5A-763A-CA1872B87317}"/>
              </a:ext>
            </a:extLst>
          </p:cNvPr>
          <p:cNvSpPr txBox="1">
            <a:spLocks/>
          </p:cNvSpPr>
          <p:nvPr/>
        </p:nvSpPr>
        <p:spPr>
          <a:xfrm>
            <a:off x="4590324" y="2175388"/>
            <a:ext cx="3896609" cy="3593075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t-BR" sz="1500" b="1" dirty="0"/>
              <a:t>🧪 Parâmetros</a:t>
            </a:r>
          </a:p>
          <a:p>
            <a:pPr marL="0" indent="0">
              <a:buNone/>
            </a:pPr>
            <a:r>
              <a:rPr lang="pt-BR" sz="1500" b="1" dirty="0"/>
              <a:t>	Tamanho da requisição</a:t>
            </a:r>
            <a:endParaRPr lang="pt-BR" sz="1500" dirty="0"/>
          </a:p>
          <a:p>
            <a:pPr marL="0" indent="0">
              <a:buNone/>
            </a:pPr>
            <a:r>
              <a:rPr lang="pt-BR" sz="1500" b="1" dirty="0"/>
              <a:t>Tipo da instrução de máquina</a:t>
            </a:r>
            <a:br>
              <a:rPr lang="pt-BR" sz="1500" dirty="0"/>
            </a:br>
            <a:r>
              <a:rPr lang="pt-BR" sz="1500" dirty="0"/>
              <a:t>(influenciam o tempo de execução e uso de recursos).</a:t>
            </a:r>
          </a:p>
          <a:p>
            <a:pPr marL="0" indent="0">
              <a:buNone/>
            </a:pPr>
            <a:endParaRPr lang="pt-BR" sz="1500" dirty="0"/>
          </a:p>
          <a:p>
            <a:pPr lvl="1"/>
            <a:r>
              <a:rPr lang="pt-BR" sz="1350" b="1" dirty="0"/>
              <a:t>⚙️ Carga de Trabalho</a:t>
            </a:r>
          </a:p>
          <a:p>
            <a:pPr marL="0" indent="0">
              <a:buNone/>
            </a:pPr>
            <a:r>
              <a:rPr lang="pt-BR" sz="1500" dirty="0"/>
              <a:t>	Requisições de usuários de um sistema bancário </a:t>
            </a:r>
          </a:p>
          <a:p>
            <a:pPr marL="342900" lvl="1" indent="0">
              <a:buNone/>
            </a:pPr>
            <a:r>
              <a:rPr lang="pt-BR" sz="1350" dirty="0"/>
              <a:t>Durante o horário de atendimento externo </a:t>
            </a:r>
          </a:p>
          <a:p>
            <a:pPr marL="342900" lvl="1" indent="0">
              <a:buNone/>
            </a:pPr>
            <a:r>
              <a:rPr lang="pt-BR" sz="1350" dirty="0"/>
              <a:t>Reflete cenários de uso intensivo e realistas</a:t>
            </a:r>
          </a:p>
          <a:p>
            <a:endParaRPr lang="pt-BR" sz="15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A627805-4567-05E1-03B2-056B29AA338F}"/>
              </a:ext>
            </a:extLst>
          </p:cNvPr>
          <p:cNvSpPr txBox="1"/>
          <p:nvPr/>
        </p:nvSpPr>
        <p:spPr>
          <a:xfrm>
            <a:off x="140436" y="5201625"/>
            <a:ext cx="4583061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50" dirty="0"/>
              <a:t>✅ </a:t>
            </a:r>
            <a:r>
              <a:rPr lang="pt-BR" sz="1350" i="1" dirty="0"/>
              <a:t>Esse estudo ajuda a identificar gargalos e otimizar operações mais frequentes em ambientes críticos.</a:t>
            </a:r>
            <a:endParaRPr lang="pt-BR" sz="1350" dirty="0"/>
          </a:p>
        </p:txBody>
      </p:sp>
      <p:pic>
        <p:nvPicPr>
          <p:cNvPr id="3" name="Câmera 2">
            <a:extLst>
              <a:ext uri="{FF2B5EF4-FFF2-40B4-BE49-F238E27FC236}">
                <a16:creationId xmlns:a16="http://schemas.microsoft.com/office/drawing/2014/main" id="{75581DCF-0217-6140-F7F8-BEFBF423C42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4" name="Câmera 3">
            <a:extLst>
              <a:ext uri="{FF2B5EF4-FFF2-40B4-BE49-F238E27FC236}">
                <a16:creationId xmlns:a16="http://schemas.microsoft.com/office/drawing/2014/main" id="{006711AB-B755-2B70-E64C-BEBEEFAC0F31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6" name="Câmera 5">
            <a:extLst>
              <a:ext uri="{FF2B5EF4-FFF2-40B4-BE49-F238E27FC236}">
                <a16:creationId xmlns:a16="http://schemas.microsoft.com/office/drawing/2014/main" id="{484E56B3-543E-04AE-60FE-533F0C5073D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7" name="Câmera 6">
            <a:extLst>
              <a:ext uri="{FF2B5EF4-FFF2-40B4-BE49-F238E27FC236}">
                <a16:creationId xmlns:a16="http://schemas.microsoft.com/office/drawing/2014/main" id="{D0AD72C1-DC62-4BB9-37E0-F8F8237ECE6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8" name="Câmera 7">
            <a:extLst>
              <a:ext uri="{FF2B5EF4-FFF2-40B4-BE49-F238E27FC236}">
                <a16:creationId xmlns:a16="http://schemas.microsoft.com/office/drawing/2014/main" id="{1AC91250-519C-6807-091D-34DC17C98F4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2784055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E3D9D-AE98-64A8-7A0E-47AA1C297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8034F-395E-33B5-C47E-C0E4CF77B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5" y="988961"/>
            <a:ext cx="7023266" cy="1130300"/>
          </a:xfrm>
        </p:spPr>
        <p:txBody>
          <a:bodyPr>
            <a:normAutofit/>
          </a:bodyPr>
          <a:lstStyle/>
          <a:p>
            <a:r>
              <a:rPr lang="pt-BR" b="1" dirty="0"/>
              <a:t>Introdução à avaliação de desempenho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A4ED7521-40F8-DED8-DF3B-048F44BC7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662" y="1983659"/>
            <a:ext cx="3896609" cy="3593075"/>
          </a:xfrm>
        </p:spPr>
        <p:txBody>
          <a:bodyPr>
            <a:normAutofit fontScale="85000" lnSpcReduction="20000"/>
          </a:bodyPr>
          <a:lstStyle/>
          <a:p>
            <a:r>
              <a:rPr lang="pt-BR" b="1" dirty="0"/>
              <a:t>Estudo de Desempenho: Rede de Computadores</a:t>
            </a:r>
          </a:p>
          <a:p>
            <a:r>
              <a:rPr lang="pt-BR" b="1" dirty="0"/>
              <a:t>🎯 Objetivo:</a:t>
            </a:r>
            <a:br>
              <a:rPr lang="pt-BR" dirty="0"/>
            </a:br>
            <a:r>
              <a:rPr lang="pt-BR" dirty="0"/>
              <a:t>Verificar o </a:t>
            </a:r>
            <a:r>
              <a:rPr lang="pt-BR" b="1" dirty="0"/>
              <a:t>tipo de rede mais adequado</a:t>
            </a:r>
            <a:r>
              <a:rPr lang="pt-BR" dirty="0"/>
              <a:t> para uma aplicação de folha de pagamento em ambiente corporativo.</a:t>
            </a:r>
          </a:p>
          <a:p>
            <a:r>
              <a:rPr lang="pt-BR" b="1" dirty="0"/>
              <a:t>📏 Métrica</a:t>
            </a:r>
          </a:p>
          <a:p>
            <a:r>
              <a:rPr lang="pt-BR" dirty="0"/>
              <a:t>Utilização da banda</a:t>
            </a:r>
          </a:p>
          <a:p>
            <a:r>
              <a:rPr lang="pt-BR" dirty="0"/>
              <a:t>Pacotes transmitidos por segundo</a:t>
            </a:r>
          </a:p>
        </p:txBody>
      </p:sp>
      <p:sp>
        <p:nvSpPr>
          <p:cNvPr id="15" name="Espaço Reservado para Conteúdo 13">
            <a:extLst>
              <a:ext uri="{FF2B5EF4-FFF2-40B4-BE49-F238E27FC236}">
                <a16:creationId xmlns:a16="http://schemas.microsoft.com/office/drawing/2014/main" id="{7B4AFEDC-3353-5D81-1360-F5D5DB60A1E0}"/>
              </a:ext>
            </a:extLst>
          </p:cNvPr>
          <p:cNvSpPr txBox="1">
            <a:spLocks/>
          </p:cNvSpPr>
          <p:nvPr/>
        </p:nvSpPr>
        <p:spPr>
          <a:xfrm>
            <a:off x="4590324" y="2175388"/>
            <a:ext cx="3896609" cy="3593075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t-BR" sz="1500" b="1" dirty="0"/>
              <a:t>🧪 Parâmetros</a:t>
            </a:r>
          </a:p>
          <a:p>
            <a:pPr lvl="1"/>
            <a:r>
              <a:rPr lang="pt-BR" sz="1350" dirty="0"/>
              <a:t>Tipo de rede: </a:t>
            </a:r>
            <a:r>
              <a:rPr lang="pt-BR" sz="1350" b="1" dirty="0"/>
              <a:t>Wi-Fi</a:t>
            </a:r>
            <a:r>
              <a:rPr lang="pt-BR" sz="1350" dirty="0"/>
              <a:t> vs. </a:t>
            </a:r>
            <a:r>
              <a:rPr lang="pt-BR" sz="1350" b="1" dirty="0"/>
              <a:t>Ethernet</a:t>
            </a:r>
            <a:endParaRPr lang="pt-BR" sz="1350" dirty="0"/>
          </a:p>
          <a:p>
            <a:pPr lvl="1"/>
            <a:r>
              <a:rPr lang="pt-BR" sz="1350" b="1" dirty="0"/>
              <a:t>Largura de banda</a:t>
            </a:r>
            <a:r>
              <a:rPr lang="pt-BR" sz="1350" dirty="0"/>
              <a:t> disponível</a:t>
            </a:r>
          </a:p>
          <a:p>
            <a:pPr lvl="1"/>
            <a:r>
              <a:rPr lang="pt-BR" sz="1350" b="1" dirty="0"/>
              <a:t>MTU (Unidade Máxima de Transmissão)</a:t>
            </a:r>
            <a:endParaRPr lang="pt-BR" sz="1350" dirty="0"/>
          </a:p>
          <a:p>
            <a:pPr marL="0" indent="0">
              <a:buNone/>
            </a:pPr>
            <a:endParaRPr lang="pt-BR" sz="1500" dirty="0"/>
          </a:p>
          <a:p>
            <a:pPr lvl="1"/>
            <a:r>
              <a:rPr lang="pt-BR" sz="1350" b="1" dirty="0"/>
              <a:t>⚙️ Carga de Trabalho</a:t>
            </a:r>
          </a:p>
          <a:p>
            <a:pPr marL="0" indent="0">
              <a:buNone/>
            </a:pPr>
            <a:r>
              <a:rPr lang="pt-BR" sz="1500" b="1" dirty="0"/>
              <a:t>		Requisições de funcionários dos setores de RH e Financeiro</a:t>
            </a:r>
            <a:endParaRPr lang="pt-BR" sz="1500" dirty="0"/>
          </a:p>
          <a:p>
            <a:pPr marL="0" indent="0">
              <a:buNone/>
            </a:pPr>
            <a:r>
              <a:rPr lang="pt-BR" sz="1500" dirty="0"/>
              <a:t>		Representam o perfil real de uso da aplicação</a:t>
            </a:r>
          </a:p>
          <a:p>
            <a:endParaRPr lang="pt-BR" sz="15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53ECA92-7009-F9C6-9F90-FE94957AFAA6}"/>
              </a:ext>
            </a:extLst>
          </p:cNvPr>
          <p:cNvSpPr txBox="1"/>
          <p:nvPr/>
        </p:nvSpPr>
        <p:spPr>
          <a:xfrm>
            <a:off x="140436" y="5201625"/>
            <a:ext cx="4583061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50" dirty="0"/>
              <a:t>✅ </a:t>
            </a:r>
            <a:r>
              <a:rPr lang="pt-BR" sz="1350" i="1" dirty="0"/>
              <a:t>Esse tipo de estudo permite escolher a infraestrutura de rede ideal para garantir desempenho e confiabilidade.</a:t>
            </a:r>
            <a:endParaRPr lang="pt-BR" sz="1350" dirty="0"/>
          </a:p>
        </p:txBody>
      </p:sp>
      <p:pic>
        <p:nvPicPr>
          <p:cNvPr id="3" name="Câmera 2">
            <a:extLst>
              <a:ext uri="{FF2B5EF4-FFF2-40B4-BE49-F238E27FC236}">
                <a16:creationId xmlns:a16="http://schemas.microsoft.com/office/drawing/2014/main" id="{87D8CF86-D8B2-478E-DF25-4261C6C893DB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4" name="Câmera 3">
            <a:extLst>
              <a:ext uri="{FF2B5EF4-FFF2-40B4-BE49-F238E27FC236}">
                <a16:creationId xmlns:a16="http://schemas.microsoft.com/office/drawing/2014/main" id="{F8D483E3-8095-F8BF-BA11-7E671F082789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6" name="Câmera 5">
            <a:extLst>
              <a:ext uri="{FF2B5EF4-FFF2-40B4-BE49-F238E27FC236}">
                <a16:creationId xmlns:a16="http://schemas.microsoft.com/office/drawing/2014/main" id="{A4A49515-65BF-EB36-6078-A9628F8DB11A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7" name="Câmera 6">
            <a:extLst>
              <a:ext uri="{FF2B5EF4-FFF2-40B4-BE49-F238E27FC236}">
                <a16:creationId xmlns:a16="http://schemas.microsoft.com/office/drawing/2014/main" id="{D8D450EE-061B-50C6-C9AD-AE7A126FF43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8" name="Câmera 7">
            <a:extLst>
              <a:ext uri="{FF2B5EF4-FFF2-40B4-BE49-F238E27FC236}">
                <a16:creationId xmlns:a16="http://schemas.microsoft.com/office/drawing/2014/main" id="{039940C1-8015-65A5-BC5F-96ED4DAC50B4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789509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C4CB3-78BC-4103-05ED-A0383CA48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4BB92C-DC90-2FE8-311C-0960DF401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5" y="988961"/>
            <a:ext cx="7023266" cy="1130300"/>
          </a:xfrm>
        </p:spPr>
        <p:txBody>
          <a:bodyPr>
            <a:normAutofit/>
          </a:bodyPr>
          <a:lstStyle/>
          <a:p>
            <a:r>
              <a:rPr lang="pt-BR" b="1" dirty="0"/>
              <a:t>Introdução à avaliação de desempenho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8A5DD710-6F56-C18A-DA6D-ABDA156A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662" y="1983659"/>
            <a:ext cx="8070402" cy="3593075"/>
          </a:xfrm>
        </p:spPr>
        <p:txBody>
          <a:bodyPr>
            <a:normAutofit/>
          </a:bodyPr>
          <a:lstStyle/>
          <a:p>
            <a:r>
              <a:rPr lang="pt-BR" sz="1800" b="1" dirty="0"/>
              <a:t>Quantidades Básicas</a:t>
            </a:r>
          </a:p>
          <a:p>
            <a:pPr marL="0" indent="0" algn="just">
              <a:buNone/>
            </a:pPr>
            <a:r>
              <a:rPr lang="pt-BR" sz="1800" dirty="0"/>
              <a:t>Nesta seção, são apresentados os principais </a:t>
            </a:r>
            <a:r>
              <a:rPr lang="pt-BR" sz="1800" b="1" dirty="0"/>
              <a:t>parâmetros e métricas</a:t>
            </a:r>
            <a:r>
              <a:rPr lang="pt-BR" sz="1800" dirty="0"/>
              <a:t> usados em estudos de avaliação de desempenho. Eles serão aplicados em diversos exemplos ao longo do curso.</a:t>
            </a:r>
          </a:p>
          <a:p>
            <a:r>
              <a:rPr lang="pt-BR" sz="1800" b="1" dirty="0"/>
              <a:t>📌 Métrica: Utilização</a:t>
            </a:r>
          </a:p>
          <a:p>
            <a:r>
              <a:rPr lang="pt-BR" sz="1800" b="1" dirty="0"/>
              <a:t>Definição:</a:t>
            </a:r>
            <a:br>
              <a:rPr lang="pt-BR" sz="1800" dirty="0"/>
            </a:br>
            <a:r>
              <a:rPr lang="pt-BR" sz="1800" dirty="0"/>
              <a:t>Fração do tempo em que um recurso permanece </a:t>
            </a:r>
            <a:r>
              <a:rPr lang="pt-BR" sz="1800" b="1" dirty="0"/>
              <a:t>ocupado</a:t>
            </a:r>
            <a:r>
              <a:rPr lang="pt-BR" sz="1800" dirty="0"/>
              <a:t> atendendo às requisições dos usuários.</a:t>
            </a:r>
          </a:p>
          <a:p>
            <a:r>
              <a:rPr lang="pt-BR" sz="1800" b="1" dirty="0"/>
              <a:t>Representação:</a:t>
            </a:r>
            <a:br>
              <a:rPr lang="pt-BR" sz="1800" dirty="0"/>
            </a:br>
            <a:r>
              <a:rPr lang="pt-BR" sz="1800" dirty="0"/>
              <a:t>Expressa em </a:t>
            </a:r>
            <a:r>
              <a:rPr lang="pt-BR" sz="1800" b="1" dirty="0"/>
              <a:t>porcentagem (%)</a:t>
            </a:r>
            <a:endParaRPr lang="pt-BR" sz="1800" dirty="0"/>
          </a:p>
          <a:p>
            <a:endParaRPr lang="pt-BR" sz="1800" dirty="0"/>
          </a:p>
        </p:txBody>
      </p:sp>
      <p:pic>
        <p:nvPicPr>
          <p:cNvPr id="3" name="Câmera 2">
            <a:extLst>
              <a:ext uri="{FF2B5EF4-FFF2-40B4-BE49-F238E27FC236}">
                <a16:creationId xmlns:a16="http://schemas.microsoft.com/office/drawing/2014/main" id="{5A9A9BBE-88FC-065A-30C0-FC402354DEB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4" name="Câmera 3">
            <a:extLst>
              <a:ext uri="{FF2B5EF4-FFF2-40B4-BE49-F238E27FC236}">
                <a16:creationId xmlns:a16="http://schemas.microsoft.com/office/drawing/2014/main" id="{E6FC5B43-A4F8-03BD-D113-A9ACFBC5B8AB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5" name="Câmera 4">
            <a:extLst>
              <a:ext uri="{FF2B5EF4-FFF2-40B4-BE49-F238E27FC236}">
                <a16:creationId xmlns:a16="http://schemas.microsoft.com/office/drawing/2014/main" id="{B45595DF-FA9C-F1E0-B034-14C3B7644985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6" name="Câmera 5">
            <a:extLst>
              <a:ext uri="{FF2B5EF4-FFF2-40B4-BE49-F238E27FC236}">
                <a16:creationId xmlns:a16="http://schemas.microsoft.com/office/drawing/2014/main" id="{DA769AFC-B489-2DC3-AAB2-EB4820857A11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7" name="Câmera 6">
            <a:extLst>
              <a:ext uri="{FF2B5EF4-FFF2-40B4-BE49-F238E27FC236}">
                <a16:creationId xmlns:a16="http://schemas.microsoft.com/office/drawing/2014/main" id="{3858C297-AC9C-7A37-C3BC-C4AA30D7B26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2703482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F6392-7DD9-F3E2-CD42-07D39B19A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B72FB-6200-4C0F-8141-EE6C7054D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5" y="988961"/>
            <a:ext cx="7023266" cy="1130300"/>
          </a:xfrm>
        </p:spPr>
        <p:txBody>
          <a:bodyPr>
            <a:normAutofit/>
          </a:bodyPr>
          <a:lstStyle/>
          <a:p>
            <a:r>
              <a:rPr lang="pt-BR" b="1" dirty="0"/>
              <a:t>Introdução à avaliação de desempenho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26AAE5AB-F373-2025-BF01-8A8DC48AC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662" y="1983659"/>
            <a:ext cx="8070402" cy="3593075"/>
          </a:xfrm>
        </p:spPr>
        <p:txBody>
          <a:bodyPr>
            <a:normAutofit/>
          </a:bodyPr>
          <a:lstStyle/>
          <a:p>
            <a:r>
              <a:rPr lang="pt-BR" sz="1800" b="1" dirty="0"/>
              <a:t>Exemplo:</a:t>
            </a:r>
          </a:p>
          <a:p>
            <a:r>
              <a:rPr lang="pt-BR" sz="1800" dirty="0"/>
              <a:t>Se uma CPU fica ocupada 80% do tempo durante um teste, sua </a:t>
            </a:r>
            <a:r>
              <a:rPr lang="pt-BR" sz="1800" b="1" dirty="0"/>
              <a:t>utilização</a:t>
            </a:r>
            <a:r>
              <a:rPr lang="pt-BR" sz="1800" dirty="0"/>
              <a:t> é de </a:t>
            </a:r>
            <a:r>
              <a:rPr lang="pt-BR" sz="1800" b="1" dirty="0"/>
              <a:t>80%</a:t>
            </a:r>
            <a:endParaRPr lang="pt-BR" sz="1800" dirty="0"/>
          </a:p>
          <a:p>
            <a:r>
              <a:rPr lang="pt-BR" sz="1800" dirty="0"/>
              <a:t>✅ </a:t>
            </a:r>
            <a:r>
              <a:rPr lang="pt-BR" sz="1800" i="1" dirty="0"/>
              <a:t>Métrica essencial para identificar sobrecarga, subutilização e necessidade de escalonamento de recursos.</a:t>
            </a:r>
            <a:endParaRPr lang="pt-BR" sz="1800" dirty="0"/>
          </a:p>
        </p:txBody>
      </p:sp>
      <p:pic>
        <p:nvPicPr>
          <p:cNvPr id="3" name="Câmera 2">
            <a:extLst>
              <a:ext uri="{FF2B5EF4-FFF2-40B4-BE49-F238E27FC236}">
                <a16:creationId xmlns:a16="http://schemas.microsoft.com/office/drawing/2014/main" id="{FA5CC78A-E9C0-63AD-0ACE-31D7E2E086D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4" name="Câmera 3">
            <a:extLst>
              <a:ext uri="{FF2B5EF4-FFF2-40B4-BE49-F238E27FC236}">
                <a16:creationId xmlns:a16="http://schemas.microsoft.com/office/drawing/2014/main" id="{CBE76CBB-7E9A-EA2A-4B27-517F0FDEA0F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5" name="Câmera 4">
            <a:extLst>
              <a:ext uri="{FF2B5EF4-FFF2-40B4-BE49-F238E27FC236}">
                <a16:creationId xmlns:a16="http://schemas.microsoft.com/office/drawing/2014/main" id="{81957752-3C7B-B637-DF18-67B34F5F970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6" name="Câmera 5">
            <a:extLst>
              <a:ext uri="{FF2B5EF4-FFF2-40B4-BE49-F238E27FC236}">
                <a16:creationId xmlns:a16="http://schemas.microsoft.com/office/drawing/2014/main" id="{B2413D43-5D74-9681-2743-00C5F9F1D7C0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7" name="Câmera 6">
            <a:extLst>
              <a:ext uri="{FF2B5EF4-FFF2-40B4-BE49-F238E27FC236}">
                <a16:creationId xmlns:a16="http://schemas.microsoft.com/office/drawing/2014/main" id="{35114F4C-82DE-B8D8-D8D2-FD0A37F0508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478458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FE4EE-BA11-27C2-6E49-A863A7EF6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53471-1405-5FB3-0404-9614D29E4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5" y="988961"/>
            <a:ext cx="7023266" cy="1130300"/>
          </a:xfrm>
        </p:spPr>
        <p:txBody>
          <a:bodyPr>
            <a:normAutofit/>
          </a:bodyPr>
          <a:lstStyle/>
          <a:p>
            <a:r>
              <a:rPr lang="pt-BR" b="1" dirty="0"/>
              <a:t>Introdução à avaliação de desempenho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1812037D-B2C6-7695-0437-186DC3B7F2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2519340"/>
            <a:ext cx="6348413" cy="3163933"/>
          </a:xfrm>
        </p:spPr>
      </p:pic>
      <p:pic>
        <p:nvPicPr>
          <p:cNvPr id="3" name="Câmera 2">
            <a:extLst>
              <a:ext uri="{FF2B5EF4-FFF2-40B4-BE49-F238E27FC236}">
                <a16:creationId xmlns:a16="http://schemas.microsoft.com/office/drawing/2014/main" id="{1AEF04AF-3FB4-959C-3329-E68D1D65F625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5" name="Câmera 4">
            <a:extLst>
              <a:ext uri="{FF2B5EF4-FFF2-40B4-BE49-F238E27FC236}">
                <a16:creationId xmlns:a16="http://schemas.microsoft.com/office/drawing/2014/main" id="{98B18506-424A-9B7D-D97B-40F918FCCD9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6" name="Câmera 5">
            <a:extLst>
              <a:ext uri="{FF2B5EF4-FFF2-40B4-BE49-F238E27FC236}">
                <a16:creationId xmlns:a16="http://schemas.microsoft.com/office/drawing/2014/main" id="{69FB42E0-B908-7BF6-0A59-49F65CFE6D1A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7" name="Câmera 6">
            <a:extLst>
              <a:ext uri="{FF2B5EF4-FFF2-40B4-BE49-F238E27FC236}">
                <a16:creationId xmlns:a16="http://schemas.microsoft.com/office/drawing/2014/main" id="{551583CF-D230-2AFF-6B7B-4CC21F5060C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8" name="Câmera 7">
            <a:extLst>
              <a:ext uri="{FF2B5EF4-FFF2-40B4-BE49-F238E27FC236}">
                <a16:creationId xmlns:a16="http://schemas.microsoft.com/office/drawing/2014/main" id="{2B95EE39-60CB-8BB8-4906-2156B92E0EE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1206963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71C0A-A68B-DA57-143D-DCC6E9017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5B197-FE9C-BC93-2B8E-170E41A57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30" y="982612"/>
            <a:ext cx="7023266" cy="919283"/>
          </a:xfrm>
        </p:spPr>
        <p:txBody>
          <a:bodyPr>
            <a:normAutofit/>
          </a:bodyPr>
          <a:lstStyle/>
          <a:p>
            <a:r>
              <a:rPr lang="pt-BR" b="1" dirty="0"/>
              <a:t>Vazão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142B3A4-1A7C-49DE-A0AB-E4BDA0D95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765" y="2073275"/>
            <a:ext cx="6856463" cy="3215866"/>
          </a:xfrm>
        </p:spPr>
        <p:txBody>
          <a:bodyPr>
            <a:normAutofit/>
          </a:bodyPr>
          <a:lstStyle/>
          <a:p>
            <a:pPr algn="just"/>
            <a:r>
              <a:rPr lang="pt-BR" sz="1800" dirty="0"/>
              <a:t>Vazão é a taxa na qual os pedidos recebidos são atendidos pelo sistema computacional. Por taxa entende-se o número de pedidos atendidos por unidade de tempo. A vazão (ou </a:t>
            </a:r>
            <a:r>
              <a:rPr lang="pt-BR" sz="1800" dirty="0" err="1"/>
              <a:t>throughput</a:t>
            </a:r>
            <a:r>
              <a:rPr lang="pt-BR" sz="1800" dirty="0"/>
              <a:t>) é uma das métricas mais usadas em sistemas computacionais para avaliar quantitativamente os sistemas existentes no dia a dia. Exemplos comuns de uso da métrica vazão em sistemas computacionais são: 0 CPUS: MIPS ou MFLOPS. O Redes de computadores: bits por segundo (bps). O Sistemas de bancos dados: consultas solicitadas por segundo</a:t>
            </a:r>
          </a:p>
        </p:txBody>
      </p:sp>
      <p:pic>
        <p:nvPicPr>
          <p:cNvPr id="3" name="Câmera 2">
            <a:extLst>
              <a:ext uri="{FF2B5EF4-FFF2-40B4-BE49-F238E27FC236}">
                <a16:creationId xmlns:a16="http://schemas.microsoft.com/office/drawing/2014/main" id="{CF53881D-D2D4-BC22-09B5-5FF7E38C3F6B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7" name="Câmera 6">
            <a:extLst>
              <a:ext uri="{FF2B5EF4-FFF2-40B4-BE49-F238E27FC236}">
                <a16:creationId xmlns:a16="http://schemas.microsoft.com/office/drawing/2014/main" id="{048F692B-98BE-5A9C-A073-26F7A591987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8" name="Câmera 7">
            <a:extLst>
              <a:ext uri="{FF2B5EF4-FFF2-40B4-BE49-F238E27FC236}">
                <a16:creationId xmlns:a16="http://schemas.microsoft.com/office/drawing/2014/main" id="{23754377-38CC-39D7-DB2B-8D0F6E7E552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4" name="Câmera 3">
            <a:extLst>
              <a:ext uri="{FF2B5EF4-FFF2-40B4-BE49-F238E27FC236}">
                <a16:creationId xmlns:a16="http://schemas.microsoft.com/office/drawing/2014/main" id="{48D93A38-960F-72C7-CF48-A4B38CE1D91B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5" name="Câmera 4">
            <a:extLst>
              <a:ext uri="{FF2B5EF4-FFF2-40B4-BE49-F238E27FC236}">
                <a16:creationId xmlns:a16="http://schemas.microsoft.com/office/drawing/2014/main" id="{E2B9689B-214F-8243-A509-1026D51EE6EA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1118442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87D6F-9DAF-7731-118B-6131FB7EC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B03ECE-BB15-86EF-A6A7-43D56D333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30" y="982612"/>
            <a:ext cx="7023266" cy="919283"/>
          </a:xfrm>
        </p:spPr>
        <p:txBody>
          <a:bodyPr>
            <a:normAutofit/>
          </a:bodyPr>
          <a:lstStyle/>
          <a:p>
            <a:r>
              <a:rPr lang="pt-BR" b="1" dirty="0"/>
              <a:t>Vazão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BCCE7B73-3873-EC63-C95B-FA8013DEB3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2270858"/>
            <a:ext cx="6348413" cy="3660897"/>
          </a:xfrm>
          <a:prstGeom prst="rect">
            <a:avLst/>
          </a:prstGeom>
        </p:spPr>
      </p:pic>
      <p:pic>
        <p:nvPicPr>
          <p:cNvPr id="3" name="Câmera 2">
            <a:extLst>
              <a:ext uri="{FF2B5EF4-FFF2-40B4-BE49-F238E27FC236}">
                <a16:creationId xmlns:a16="http://schemas.microsoft.com/office/drawing/2014/main" id="{EB51AF2E-00B1-A0FD-059B-46F7E7EA50D8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7" name="Câmera 6">
            <a:extLst>
              <a:ext uri="{FF2B5EF4-FFF2-40B4-BE49-F238E27FC236}">
                <a16:creationId xmlns:a16="http://schemas.microsoft.com/office/drawing/2014/main" id="{D652790E-14EB-E1F9-A27E-E4F95A4C0B6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8" name="Câmera 7">
            <a:extLst>
              <a:ext uri="{FF2B5EF4-FFF2-40B4-BE49-F238E27FC236}">
                <a16:creationId xmlns:a16="http://schemas.microsoft.com/office/drawing/2014/main" id="{8F5AECD9-8AC4-7372-7FBF-0295E8CE352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4" name="Câmera 3">
            <a:extLst>
              <a:ext uri="{FF2B5EF4-FFF2-40B4-BE49-F238E27FC236}">
                <a16:creationId xmlns:a16="http://schemas.microsoft.com/office/drawing/2014/main" id="{F3AFF635-BF51-61CA-8206-EB4938A7AAE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6" name="Câmera 5">
            <a:extLst>
              <a:ext uri="{FF2B5EF4-FFF2-40B4-BE49-F238E27FC236}">
                <a16:creationId xmlns:a16="http://schemas.microsoft.com/office/drawing/2014/main" id="{14A936CF-7AC4-B255-7470-6E60D8324DD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655947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C3213-389A-5105-F0A3-306946CCF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17A83-317C-5F65-1DE5-7F47D50A1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30" y="982612"/>
            <a:ext cx="7023266" cy="919283"/>
          </a:xfrm>
        </p:spPr>
        <p:txBody>
          <a:bodyPr>
            <a:normAutofit/>
          </a:bodyPr>
          <a:lstStyle/>
          <a:p>
            <a:r>
              <a:rPr lang="pt-BR" b="1" dirty="0"/>
              <a:t>Vazão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B2A5966-3D68-B2B0-4775-A76A6BBBC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959" y="1684528"/>
            <a:ext cx="7198637" cy="3619361"/>
          </a:xfrm>
        </p:spPr>
        <p:txBody>
          <a:bodyPr>
            <a:normAutofit/>
          </a:bodyPr>
          <a:lstStyle/>
          <a:p>
            <a:pPr algn="just"/>
            <a:r>
              <a:rPr lang="pt-BR" sz="1800" dirty="0"/>
              <a:t>Exemplo 2: Um Java </a:t>
            </a:r>
            <a:r>
              <a:rPr lang="pt-BR" sz="1800" dirty="0" err="1"/>
              <a:t>Servlet</a:t>
            </a:r>
            <a:r>
              <a:rPr lang="pt-BR" sz="1800" dirty="0"/>
              <a:t> foi instalado em duas máquinas diferentes. Pretende-se testar qual máquina é mais rápida para processar os pedidos recebidos dos usuários. A máquina A atendeu a cinco requisições por segundo, e a máquina B atendeu a duas requisições por segundo. Portanto, a máquina A tem maior vazão do que a máquina B em requisições atendidas por segundo</a:t>
            </a:r>
          </a:p>
        </p:txBody>
      </p:sp>
      <p:pic>
        <p:nvPicPr>
          <p:cNvPr id="3" name="Câmera 2">
            <a:extLst>
              <a:ext uri="{FF2B5EF4-FFF2-40B4-BE49-F238E27FC236}">
                <a16:creationId xmlns:a16="http://schemas.microsoft.com/office/drawing/2014/main" id="{DE9C2B8D-8E9A-22D5-A407-FECDCFCE0AD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7" name="Câmera 6">
            <a:extLst>
              <a:ext uri="{FF2B5EF4-FFF2-40B4-BE49-F238E27FC236}">
                <a16:creationId xmlns:a16="http://schemas.microsoft.com/office/drawing/2014/main" id="{62D23A28-7C7D-CE08-65CC-F0187960CAA5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8" name="Câmera 7">
            <a:extLst>
              <a:ext uri="{FF2B5EF4-FFF2-40B4-BE49-F238E27FC236}">
                <a16:creationId xmlns:a16="http://schemas.microsoft.com/office/drawing/2014/main" id="{3E0C64C8-FC4C-3C63-A0E9-7C3DF3DABD91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4" name="Câmera 3">
            <a:extLst>
              <a:ext uri="{FF2B5EF4-FFF2-40B4-BE49-F238E27FC236}">
                <a16:creationId xmlns:a16="http://schemas.microsoft.com/office/drawing/2014/main" id="{384D8851-B0DF-F9EB-A956-0A429C014EC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5" name="Câmera 4">
            <a:extLst>
              <a:ext uri="{FF2B5EF4-FFF2-40B4-BE49-F238E27FC236}">
                <a16:creationId xmlns:a16="http://schemas.microsoft.com/office/drawing/2014/main" id="{A696D250-E482-3FF9-FE28-D48FDB721F38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7545081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05105-5C90-2C81-C973-031C11B4B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19ABC-5C0A-6CF3-7AA2-56BA3D389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14" y="0"/>
            <a:ext cx="7023266" cy="727587"/>
          </a:xfrm>
        </p:spPr>
        <p:txBody>
          <a:bodyPr>
            <a:normAutofit/>
          </a:bodyPr>
          <a:lstStyle/>
          <a:p>
            <a:r>
              <a:rPr lang="pt-BR" dirty="0"/>
              <a:t>Tempo de Resposta</a:t>
            </a:r>
            <a:endParaRPr lang="pt-BR" b="1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7A6A17-73B7-E1C9-AAF0-F84D2B0CF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959" y="1042220"/>
            <a:ext cx="7198637" cy="426167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pt-BR" b="1" dirty="0"/>
              <a:t>Exemplo</a:t>
            </a:r>
            <a:r>
              <a:rPr lang="pt-BR" dirty="0"/>
              <a:t> 2: Um Java </a:t>
            </a:r>
            <a:r>
              <a:rPr lang="pt-BR" dirty="0" err="1"/>
              <a:t>Servlet</a:t>
            </a:r>
            <a:r>
              <a:rPr lang="pt-BR" dirty="0"/>
              <a:t> foi instalado em duas máquinas diferentes. Pretende-se testar qual máquina é mais rápida para processar os pedidos recebidos dos usuários. A máquina A atendeu a cinco requisições por segundo, e a máquina B atendeu a duas requisições por segundo. Portanto, a máquina A tem maior vazão do que a máquina B em requisições atendidas por segundo</a:t>
            </a:r>
          </a:p>
        </p:txBody>
      </p:sp>
      <p:pic>
        <p:nvPicPr>
          <p:cNvPr id="3" name="Câmera 2">
            <a:extLst>
              <a:ext uri="{FF2B5EF4-FFF2-40B4-BE49-F238E27FC236}">
                <a16:creationId xmlns:a16="http://schemas.microsoft.com/office/drawing/2014/main" id="{9FC1DB93-476D-8A94-B1C0-54C74400D22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4" name="Câmera 3">
            <a:extLst>
              <a:ext uri="{FF2B5EF4-FFF2-40B4-BE49-F238E27FC236}">
                <a16:creationId xmlns:a16="http://schemas.microsoft.com/office/drawing/2014/main" id="{FED6B2BF-EEC0-3921-26B9-A4DF52B0CD0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5" name="Câmera 4">
            <a:extLst>
              <a:ext uri="{FF2B5EF4-FFF2-40B4-BE49-F238E27FC236}">
                <a16:creationId xmlns:a16="http://schemas.microsoft.com/office/drawing/2014/main" id="{3BA6B975-D6EE-9789-B0F4-6B880FCAAC41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7" name="Câmera 6">
            <a:extLst>
              <a:ext uri="{FF2B5EF4-FFF2-40B4-BE49-F238E27FC236}">
                <a16:creationId xmlns:a16="http://schemas.microsoft.com/office/drawing/2014/main" id="{3C9B1966-D4CC-C50B-4406-3F4A083BAA2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8" name="Câmera 7">
            <a:extLst>
              <a:ext uri="{FF2B5EF4-FFF2-40B4-BE49-F238E27FC236}">
                <a16:creationId xmlns:a16="http://schemas.microsoft.com/office/drawing/2014/main" id="{A39785DC-7ACA-4F05-12BC-F199C8C14278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518367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84C33-EBB4-3706-54F8-EF778AED7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B6A20B-5216-A692-407E-2FBD55CB4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30" y="982612"/>
            <a:ext cx="7023266" cy="919283"/>
          </a:xfrm>
        </p:spPr>
        <p:txBody>
          <a:bodyPr>
            <a:normAutofit/>
          </a:bodyPr>
          <a:lstStyle/>
          <a:p>
            <a:r>
              <a:rPr lang="pt-BR" dirty="0"/>
              <a:t>Tempo de Resposta</a:t>
            </a:r>
            <a:endParaRPr lang="pt-BR" b="1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0DBA116-8972-9220-3A4E-EEC477CFF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959" y="1684528"/>
            <a:ext cx="7198637" cy="3619361"/>
          </a:xfrm>
        </p:spPr>
        <p:txBody>
          <a:bodyPr>
            <a:normAutofit/>
          </a:bodyPr>
          <a:lstStyle/>
          <a:p>
            <a:pPr algn="just"/>
            <a:r>
              <a:rPr lang="pt-BR" sz="1800" dirty="0"/>
              <a:t>Tempo de resposta é o tempo decorrido entre o pedido da realização de serviço pelo cliente e a chegada da resposta do pedido realizado até o cliente requisitante. Esta métrica é usada geralmente como a medida de velocidade de um sistema. Por exemplo, ao comparar dois links de comunicação, o mais rápido é o que teve menor tempo para transmitir um pacote. Para comparar dois computadores, o menor tempo de resposta para realizar um processamento nos informa qual a máquina mais rápida. A Figura 1.2 mostra o conceito de tempo de resposta graficamente</a:t>
            </a:r>
          </a:p>
        </p:txBody>
      </p:sp>
      <p:pic>
        <p:nvPicPr>
          <p:cNvPr id="3" name="Câmera 2">
            <a:extLst>
              <a:ext uri="{FF2B5EF4-FFF2-40B4-BE49-F238E27FC236}">
                <a16:creationId xmlns:a16="http://schemas.microsoft.com/office/drawing/2014/main" id="{CF161C56-A103-6291-0FE9-E377C2056ED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4" name="Câmera 3">
            <a:extLst>
              <a:ext uri="{FF2B5EF4-FFF2-40B4-BE49-F238E27FC236}">
                <a16:creationId xmlns:a16="http://schemas.microsoft.com/office/drawing/2014/main" id="{824E364A-6DF9-AC59-C05F-F8A81A9CDF79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5" name="Câmera 4">
            <a:extLst>
              <a:ext uri="{FF2B5EF4-FFF2-40B4-BE49-F238E27FC236}">
                <a16:creationId xmlns:a16="http://schemas.microsoft.com/office/drawing/2014/main" id="{AC4035D3-3550-6646-893A-866EAD22A15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7" name="Câmera 6">
            <a:extLst>
              <a:ext uri="{FF2B5EF4-FFF2-40B4-BE49-F238E27FC236}">
                <a16:creationId xmlns:a16="http://schemas.microsoft.com/office/drawing/2014/main" id="{2473D246-BEC0-3F90-94CB-EE2269F866E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8" name="Câmera 7">
            <a:extLst>
              <a:ext uri="{FF2B5EF4-FFF2-40B4-BE49-F238E27FC236}">
                <a16:creationId xmlns:a16="http://schemas.microsoft.com/office/drawing/2014/main" id="{2DEC279D-3DE1-7D61-5805-32AB597FE81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0507906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AB9CF-3BC7-B4B3-771E-27FA8B8BC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D56FF4-A669-F0FC-59FA-D611975B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30" y="982612"/>
            <a:ext cx="7023266" cy="919283"/>
          </a:xfrm>
        </p:spPr>
        <p:txBody>
          <a:bodyPr>
            <a:normAutofit/>
          </a:bodyPr>
          <a:lstStyle/>
          <a:p>
            <a:r>
              <a:rPr lang="pt-BR" dirty="0"/>
              <a:t>Tempo de Resposta</a:t>
            </a:r>
            <a:endParaRPr lang="pt-BR" b="1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7D23CE-1113-0703-728C-6AE571B4B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959" y="1684528"/>
            <a:ext cx="7198637" cy="3619361"/>
          </a:xfrm>
        </p:spPr>
        <p:txBody>
          <a:bodyPr>
            <a:normAutofit/>
          </a:bodyPr>
          <a:lstStyle/>
          <a:p>
            <a:pPr algn="just"/>
            <a:r>
              <a:rPr lang="pt-BR" sz="1800" dirty="0"/>
              <a:t>Existem autores que consideram o tempo de resposta também o tempo entre a realização de um pedido e o início da geração da resposta, mas neste livro será adotada apenas a chegada da resposta do pedido no cliente. Exemplo 1 - Uma requisição de impressão foi solicitada às 20h1min00s e a impressão terminou às 20h02min30s. O tempo de resposta é de 1min30s. </a:t>
            </a:r>
          </a:p>
          <a:p>
            <a:pPr algn="just"/>
            <a:r>
              <a:rPr lang="pt-BR" sz="1800" dirty="0"/>
              <a:t>Exemplo 2 - Uma consulta a um banco de dados é realizada pelo cliente às 23h59min00s. A resposta foi recebida às 00h00min1Os do dia seguinte. O tempo de resposta é de 70 segundos</a:t>
            </a:r>
          </a:p>
        </p:txBody>
      </p:sp>
      <p:pic>
        <p:nvPicPr>
          <p:cNvPr id="3" name="Câmera 2">
            <a:extLst>
              <a:ext uri="{FF2B5EF4-FFF2-40B4-BE49-F238E27FC236}">
                <a16:creationId xmlns:a16="http://schemas.microsoft.com/office/drawing/2014/main" id="{86706B19-DBEC-C407-ED9F-DDE37000CB3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4" name="Câmera 3">
            <a:extLst>
              <a:ext uri="{FF2B5EF4-FFF2-40B4-BE49-F238E27FC236}">
                <a16:creationId xmlns:a16="http://schemas.microsoft.com/office/drawing/2014/main" id="{1D93650D-AAB2-34E4-FEE4-098AD36B7AD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5" name="Câmera 4">
            <a:extLst>
              <a:ext uri="{FF2B5EF4-FFF2-40B4-BE49-F238E27FC236}">
                <a16:creationId xmlns:a16="http://schemas.microsoft.com/office/drawing/2014/main" id="{6A307C15-6E60-9556-B481-B302D1C9EA64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7" name="Câmera 6">
            <a:extLst>
              <a:ext uri="{FF2B5EF4-FFF2-40B4-BE49-F238E27FC236}">
                <a16:creationId xmlns:a16="http://schemas.microsoft.com/office/drawing/2014/main" id="{1B8AD535-1966-9049-62E6-069274858F2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  <p:pic>
        <p:nvPicPr>
          <p:cNvPr id="8" name="Câmera 7">
            <a:extLst>
              <a:ext uri="{FF2B5EF4-FFF2-40B4-BE49-F238E27FC236}">
                <a16:creationId xmlns:a16="http://schemas.microsoft.com/office/drawing/2014/main" id="{520A60C4-FAB5-C37B-3DEB-92F68D5251B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4395978"/>
            <a:ext cx="1543050" cy="15430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08204724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2463</TotalTime>
  <Words>2582</Words>
  <Application>Microsoft Office PowerPoint</Application>
  <PresentationFormat>Apresentação na tela (4:3)</PresentationFormat>
  <Paragraphs>178</Paragraphs>
  <Slides>33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9" baseType="lpstr">
      <vt:lpstr>Arial</vt:lpstr>
      <vt:lpstr>Cascadia Mono Light</vt:lpstr>
      <vt:lpstr>Cascadia Mono SemiBold</vt:lpstr>
      <vt:lpstr>Trebuchet MS</vt:lpstr>
      <vt:lpstr>Wingdings 3</vt:lpstr>
      <vt:lpstr>Facetado</vt:lpstr>
      <vt:lpstr>Apresentação do PowerPoint</vt:lpstr>
      <vt:lpstr>Avaliação de Desempenho </vt:lpstr>
      <vt:lpstr>Apresentação do PowerPoint</vt:lpstr>
      <vt:lpstr>o que é avaliação de Desempenho </vt:lpstr>
      <vt:lpstr>o que é avaliação de Desempenho </vt:lpstr>
      <vt:lpstr>Técnicas de Avaliação </vt:lpstr>
      <vt:lpstr>Técnicas de Avaliação </vt:lpstr>
      <vt:lpstr>Técnicas de Avaliação </vt:lpstr>
      <vt:lpstr>Introdução a avaliação de desempenho</vt:lpstr>
      <vt:lpstr>modelagem</vt:lpstr>
      <vt:lpstr>modelagem</vt:lpstr>
      <vt:lpstr>Experimentação ou Aferição</vt:lpstr>
      <vt:lpstr>Modelo Híbrido de Avaliação de Desempenho</vt:lpstr>
      <vt:lpstr>Modelo Híbrido de Avaliação de Desempenho</vt:lpstr>
      <vt:lpstr>Métricas - </vt:lpstr>
      <vt:lpstr>Métricas - parâmetros</vt:lpstr>
      <vt:lpstr>Métricas - parâmetros</vt:lpstr>
      <vt:lpstr>Carga de Trabalho (Workload)</vt:lpstr>
      <vt:lpstr>Carga de Trabalho (Workload)</vt:lpstr>
      <vt:lpstr>Carga de Trabalho (Workload)</vt:lpstr>
      <vt:lpstr>Carga de Trabalho (Workload)</vt:lpstr>
      <vt:lpstr>Introdução à avaliação de desempenho</vt:lpstr>
      <vt:lpstr>Introdução à avaliação de desempenho</vt:lpstr>
      <vt:lpstr>Introdução à avaliação de desempenho</vt:lpstr>
      <vt:lpstr>Introdução à avaliação de desempenho</vt:lpstr>
      <vt:lpstr>Introdução à avaliação de desempenho</vt:lpstr>
      <vt:lpstr>Introdução à avaliação de desempenho</vt:lpstr>
      <vt:lpstr>Vazão</vt:lpstr>
      <vt:lpstr>Vazão</vt:lpstr>
      <vt:lpstr>Vazão</vt:lpstr>
      <vt:lpstr>Tempo de Resposta</vt:lpstr>
      <vt:lpstr>Tempo de Resposta</vt:lpstr>
      <vt:lpstr>Tempo de Resposta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Elionai Magalhaes 487017 - Professor MULTIVIX</dc:creator>
  <cp:lastModifiedBy>Elionai</cp:lastModifiedBy>
  <cp:revision>41</cp:revision>
  <dcterms:created xsi:type="dcterms:W3CDTF">2025-07-23T21:08:51Z</dcterms:created>
  <dcterms:modified xsi:type="dcterms:W3CDTF">2026-08-11T22:50:04Z</dcterms:modified>
</cp:coreProperties>
</file>