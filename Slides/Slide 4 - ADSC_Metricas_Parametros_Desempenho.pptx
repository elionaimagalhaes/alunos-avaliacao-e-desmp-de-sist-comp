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15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Inicie explicando que desempenho não é apenas “ser rápido”. Um sistema pode responder rápido para poucos usuários e falhar quando a carga aumenta. Apresente o objetivo da aula: aprender a escolher o que medir, como interpretar os números e como relacionar resultados a decisões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avaliação de desempenho ajuda no planejamento, na compra de equipamentos, na escolha de arquitetura e na análise de problemas. O material-base apresenta exemplos cotidianos, como automóveis, caixas de banco e restaurantes, para mostrar que avaliação significa medir e comparar.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imagem para mostrar entrada, processamento e saída. Relacione com o livro, que apresenta sistemas computacionais como entidades que recebem pedidos, jobs, pacotes ou requisições e executam serviços para usuários ou outros softwares.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uma avaliação começa pela pergunta: “o que queremos saber?”. Métricas diferentes respondem perguntas diferentes. Se a pergunta é velocidade percebida pelo usuário, tempo de resposta é melhor que consumo de CPU. Se a pergunta é capacidade, vazão é mais adequada.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o exemplo do e-commerce: se a métrica é tempo de resposta de compra, parâmetros úteis podem ser quantidade de itens no pedido e número de usuários simultâneos. Memória do computador do cliente pode não influenciar tanto se o processamento ocorre no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diferença entre carga quantitativa e qualitativa. Quantitativa: quantidade de requisições. Qualitativa: tipo de requisição. Uma consulta simples e uma geração de relatório pesado podem ter impactos muito diferentes no mesmo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exemplos simples: impressão solicitada às 20h01 e concluída às 20h02min30s resulta em 1min30s. Em sistemas web, o usuário percebe o tempo total: rede, servidor, banco, processamento e renderização. Mostre que ele é uma métrica de ponta a ponta.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latência de tempo de resposta. Latência costuma destacar atraso de comunicação ou espera inicial, enquanto tempo de resposta considera a jornada completa da requisição. Em APIs, muitas equipes analisam latência média e percentis, como p95 e p99.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com turma: em 100 requisições ordenadas da mais rápida à mais lenta, o p95 é o tempo da requisição na posição 95. Ele mostra a cauda da distribuição. Sistemas modernos usam percentis porque poucos usuários lentos podem indicar gargalos importantes.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exemplo do material-base: uma máquina que atende cinco requisições por segundo tem maior vazão que outra que atende duas requisições por segundo, se a tarefa for equivalente. Reforce que vazão alta nem sempre garante boa experiência se a latência também subir.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conta com os alunos. A = 300 / 60 = 5. B = 420 / 60 = 7. Pergunte: isso significa que B é sempre melhor? Depende de erro, custo, consumo, estabilidade e tempo de resposta sob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com o livro: utilização é a fração do tempo em que o recurso está ocupado atendendo requisições. Use exemplos como CPU, memória, disco, rede e conexões de banco. Explique que 100% constante geralmente é sinal de gargalo.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Reproduza a lógica do exemplo clássico de utilização. Explique que o indicador não diz sozinho se o sistema é bom; é preciso saber se o recurso respondeu bem, se houve filas, erros e se a demanda esperada foi atendida.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uptime e downtime. Uptime é tempo disponível; downtime é tempo indisponível. A disponibilidade não mede se o sistema é veloz, mas se ele está funcionando. Relacione com sistemas acadêmicos, matrícula, portal do aluno e serviços bancários.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eficiência importa em ambientes de nuvem, onde uso de CPU, memória e tráfego pode gerar custo financeiro. Compare dois sistemas com a mesma vazão: se um usa metade dos recursos, ele é mais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escalabilidade vertical e horizontal. Vertical: máquina maior. Horizontal: mais máquinas trabalhando juntas. Use a imagem de expansão para explicar por que sistemas modernos preferem separar componentes e distribuir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exemplos. Um computador com mais memória é escala vertical. Vários servidores atrás de um balanceador é escala horizontal. Explique que a horizontal costuma exigir aplicações sem estado ou com estado bem compartilhado.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uma analogia de restaurante: mais clientes por hora aumenta a vazão, mas se a cozinha lota, o tempo de espera cresce. Em sistemas, CPU, banco ou rede podem se tornar gargalos conforme a carga aumenta.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aumentar servidor web não resolve se o gargalo está no banco. A análise deve observar métricas por componente. Ferramentas de monitoramento ajudam a confirmar hipóteses antes de mudar infraestrutura.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com teoria de filas do livro. Se a taxa de chegada ultrapassa a taxa de serviço, o sistema acumula requisições. Use exemplos de impressora compartilhada, roteador com pacotes e banco de dados com muitas consultas simultâneas.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de forma intuitiva, sem aprofundar matemática. Fórmula: L = λ × W. L é número médio no sistema; λ é taxa de chegada; W é tempo médio no sistema. Mostre que reduzir tempo de resposta reduz acúmulo.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SLO e SLA são comuns em empresas de tecnologia, provedores de nuvem e sistemas críticos. SLO orienta a engenharia; SLA pode ter consequência contratual. Use exemplos simples para primeiros períodos.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que Prometheus trabalha com tipos de métricas como counters, gauges e histograms, úteis para contagem, valores instantâneos e distribuição de latência. Grafana permite visualizar painéis. Não precisa instalar agora; apresente a função das ferramentas.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ferramentas gratuitas: Apache JMeter e Grafana k6. O JMeter possui interface gráfica; o k6 usa scripts em JavaScript. Explique que o teste deve ser planejado para não derrubar sistemas reais indevidamente.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demonstração: usar uma API pública de teste ou ambiente local. Código mínimo: import http from "k6/http"; export default function(){ http.get("https://test.k6.io/"); }. Executar: k6 run script.js. Mostre que os resultados aparecem no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termos: Thread Group representa usuários virtuais; ramp-up distribui a entrada dos usuários; sampler é a requisição; listener exibe resultados. Reforce boas práticas: começar pequeno, testar ambiente controlado e não sobrecarregar serviços de terceiros.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em sala: abrir um site simples, pressionar F12, guia Network, marcar Disable cache se necessário, recarregar e ordenar por tempo. Explique que esse método mede a percepção do cliente, incluindo rede, download e processamento do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um roteiro: 1) pergunta de avaliação; 2) hipótese; 3) métrica; 4) parâmetros; 5) carga; 6) ferramentas; 7) coleta; 8) análise; 9) conclusão. Reforce que desempenho precisa de método, não apenas de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Sugira planilha simples. Colunas: cenário, ferramenta, usuários, duração, tempo médio, p95, req/s, erros, CPU, memória, observações. Isso ajuda o aluno a transformar o teste em relatório e não apenas em execução da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Conduza análise: tempo médio pode parecer aceitável, mas p95 de 5 s mostra muitos usuários lentos. CPU a 92% indica possível gargalo. A recomendação pode envolver cache, otimização de consultas, balanceamento ou ampliação temporária.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vieses comuns: cache aquecido em um teste e frio no outro, horários diferentes, rede instável, dados diferentes, versões diferentes. Uma comparação confiável exige controle de variáveis e repetição.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 exemplos oralmente: 0% de erro é importante; p95 ajuda a ver extremos; utilização precisa ser comparada com vazão; disponibilidade não garante desempenho. A recomendação final deve explicar evidências, não apenas apresentar valores isolados.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uma atividade rápida em duplas. Peça que respondam sem consultar. Depois discuta: 1) vazão/throughput; 2) utilização; 3) porque mostra a experiência de parte dos usuários mais lentos, escondida pela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Resolução: 3 minutos = 180 segundos. Vazão = 900 / 180 = 5 req/s. Utilização = 135 / 180 × 100 = 75%. Pergunte aos alunos se esses números são suficientes para concluir que o sistema está bom; a resposta é não, faltam latência, erros e carga esperada.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Oriente os alunos a justificar a decisão: CPU do servidor web não está saturada, mas banco tem consultas lentas. Medidas possíveis: índice, revisão de consulta, cache para buscas frequentes, paginação e monitoramento contínuo após 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retomando os termos centrais. Reforce que a disciplina não busca apenas fórmulas, mas raciocínio técnico: transformar dados de desempenho em diagnóstico e recomendação. Convide os alunos a pensar em sistemas que usam no dia a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livro fornece a base conceitual de métricas, parâmetros, carga, utilização, vazão, tempo de resposta e técnicas de avaliação. As documentações oficiais complementam com ferramentas contemporâneas usadas em mercado para testes e monitoramento.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e parâmetros de desempenho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 da aula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Nesta aula estudaremos como medir desempenho em sistemas computacionais. Vamos diferenciar métrica, parâmetro e carga de trabalho, depois aplicar tempo de resposta, latência, vazão, utilização, disponibilidade, eficiência e escalabilidade em exemplos de redes, bancos de dados e aplicações web.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medir desempenho?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antes da decisão técnica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desempenho permite comparar alternativas com base em dados, não apenas em impressão. Um professor, por exemplo, pode perguntar se um servidor novo realmente melhora o Moodle. Para responder, precisamos observar indicadores objetivos antes, durante e depois da mudança.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0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computacional como serviço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Pedidos, processamento e respostas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sistema computacional recebe requisições, executa algum processamento e devolve respostas. A requisição pode ser uma consulta SQL, um pacote de rede, um clique em uma página ou uma tarefa de impressão. O desempenho depende desse fluxo completo.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ty_batch_4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Métrica: o que será medido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quantitativo de comparação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é o indicador usado para quantificar o desempenho. Em uma aplicação web, pode ser o tempo até abrir uma página; em rede, a vazão em Mbps; em banco de dados, consultas por segundo. A métrica precisa combinar com o objetivo do estudo.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Parâmetro: o que será variado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Fatores que influenciam a métrica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 é aquilo que o avaliador modifica ou controla durante o teste. Podemos variar número de usuários, tamanho da requisição, hardware do servidor, versão do banco de dados ou largura de banda. Bons parâmetros têm relação direta com a métrica observada.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scene_on_a_white_batch_9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de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volume e o tipo de uso do sistema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 de trabalho é o conjunto de requisições que o sistema precisa atender. Ela deve representar o uso real. Testar um sistema de matrícula com 20 acessos leves não ajuda se, no período real, centenas de alunos acessam simultaneamente.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scene_on_a_white_batch_9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 de resposta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pedido até a resposta chegar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de resposta é o intervalo entre o usuário solicitar um serviço e receber o resultado. Em uma consulta ao banco, começa no envio da consulta e termina na chegada da resposta. Quanto menor o tempo de resposta, melhor é a experiência percebida.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de resposta = instante da resposta − instante da solicitação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vector_style_infographic_diagram_on_a_whit_batch_2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Latência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Atraso antes ou durante a comunicação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Latência é o atraso percebido na transmissão ou processamento. Em redes, inclui propagação, roteadores e filas. Em aplicações web, pode aparecer antes do servidor começar a responder. Uma página pode ter baixa vazão e ainda parecer lenta por latência alta.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Latência alta = maior espera antes de dados úteis chegarem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flat_vector_illustration_infographic_sty_batch_3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Latência média e percentis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 pode esconder usuários lentos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média resume o comportamento geral, mas pode esconder casos ruins. Se 95% das requisições respondem até 800 ms, dizemos que o p95 é 800 ms. Percentis ajudam a entender a experiência dos usuários mais afetados pela lentidão.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vector_style_infographic_diagram_on_a_whit_batch_2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Vazão ou throughput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 atendida por unidade de tempo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Vazão mede quantas requisições, pacotes, transações ou operações são atendidas em determinado intervalo. Em rede usamos bps ou Mbps; em banco de dados, consultas por segundo; em servidor web, requisições por segundo.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Vazão = quantidade de pedidos atendidos / tempo observado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flat_vector_illustration_infographic_sty_batch_4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de cálculo de vazão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Comparando duas máquinas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 dois servidores processando a mesma API. O servidor A conclui 300 requisições em 60 segundos; o servidor B conclui 420 no mesmo período. A vazão de A é 5 req/s e a de B é 7 req/s, logo B processa mais.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300/60 = 5 req/s | B = 420/60 = 7 req/s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flat_vector_illustration_infographic_sce_batch_10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Utilização de recursos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Fração do tempo ocupado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Utilização mostra quanto um recurso permanece ocupado. CPU a 80% significa que ela ficou ocupada em grande parte do período observado. Utilização muito baixa pode indicar desperdício; muito alta pode indicar risco de fila e degradação.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Utilização = tempo ocupado / tempo total × 100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flat_vector_illustration_infographic_sty_batch_5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de utilização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 observado por 24 horas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servidor ficou ligado durante 24 horas, mas atendeu requisições de forma efetiva por 18 horas. A utilização observada foi 18 dividido por 24, isto é, 0,75 ou 75%. O número ajuda a avaliar capacidade e ociosidade.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= 18 / 24 = 0,75 = 75%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flat_vector_illustration_infographic_sty_batch_5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Disponibilidade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funcionando quando necessário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Disponibilidade indica a proporção de tempo em que o serviço está acessível e funcionando. Um sistema pode ser rápido, mas pouco útil se fica fora do ar. Em aplicações críticas, pequenas interrupções geram impacto grande nos usuários.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Disponibilidade = tempo disponível / tempo total × 100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flat_vector_illustration_infographic_sty_batch_6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Eficiência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obtido com menos recurso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Eficiência relaciona desempenho e consumo de recursos. Um sistema eficiente atende bem usando menos CPU, memória, energia ou custo de nuvem. Não basta ser rápido: é importante entregar resultado sem desperdiçar infraestrutura.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on_white_backgrou_batch_7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Escalabilidade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Crescer sem perder qualidade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Escalabilidade é a capacidade de manter desempenho aceitável quando a carga aumenta. Um sistema escalável consegue atender mais usuários com ajuste de arquitetura, como balanceamento, cache, replicação de banco ou aumento de servidores.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wide_clean_vector_infographic_tech_diagram_on_a_batch_8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 vertical e horizontal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Duas formas de aumentar capacidade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escala vertical, aumentamos recursos da mesma máquina: mais CPU, memória ou disco. Na escala horizontal, adicionamos novas máquinas e distribuímos requisições. A escolha depende de custo, arquitetura, banco de dados e tipo de carga.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wide_clean_vector_infographic_tech_diagram_on_a_batch_8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Relação entre métricas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métrica afeta a outra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métricas não devem ser analisadas isoladamente. Quando a vazão aumenta, a utilização também pode subir. Se o recurso se aproxima do limite, filas aparecem e o tempo de resposta cresce. Por isso, desempenho exige leitura conjunta.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Gargalo de desempenho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recurso que limita o sistema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Gargalo é o componente que limita o fluxo geral. Pode ser CPU, memória, disco, rede, banco de dados ou uma chamada externa. Identificar gargalos evita trocar peças erradas e permite atacar a causa principal da lentidão.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ty_batch_5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Filas e espera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chegada supera o atendimento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Filas surgem quando requisições chegam mais rápido do que o sistema consegue atender. Mesmo com servidor funcionando, a experiência piora porque pedidos aguardam processamento. Em sistemas web, filas podem ocorrer no banco, no servidor ou na rede.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ty_batch_4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Lei de Little em linguagem simples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no sistema, chegada e resposta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Lei de Little relaciona número médio de itens no sistema, taxa de chegada e tempo médio de resposta. Se chegam muitas requisições e cada uma demora mais, haverá mais requisições dentro do sistema ao mesmo tempo.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λ × W  |  itens no sistema = taxa de chegada × tempo médio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vector_style_infographic_diagram_on_a_whit_batch_2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SLO, SLA e indicadores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Metas de desempenho e compromisso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é uma meta interna de nível de serviço, como “95% das requisições abaixo de 1 segundo”. SLA é um compromisso formal com cliente. Indicadores como disponibilidade, latência e erro ajudam a verificar se essas metas foram cumpridas.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ty_batch_6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Monitoramento contínuo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Coletar dados durante a operação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Monitoramento registra métricas ao longo do tempo. Ferramentas como Prometheus e Grafana ajudam a observar uso de CPU, memória, latência, erros, vazão e disponibilidade. O objetivo é detectar tendência, anomalia e risco antes da falha.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 de carga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Simular usuários para observar limite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de carga simula usuários ou requisições para observar como o sistema se comporta. Ele ajuda a descobrir se a aplicação suporta a demanda esperada, qual recurso satura primeiro e em que ponto o tempo de resposta deixa de ser aceitável.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scene_on_a_white_batch_9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a passo com k6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prático gratuito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teste simples pode ser feito com k6. Primeiro instale a ferramenta. Depois crie um arquivo JavaScript com a URL testada. Em seguida defina usuários virtuais e duração. Por fim execute o teste e observe tempo de resposta, erros e requisições por segundo.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scene_on_a_white_batch_9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a passo com JMeter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visual para laboratório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JMeter, crie um Test Plan, adicione Thread Group, configure número de usuários, período de subida e duração. Depois adicione HTTP Request e Summary Report. Execute o teste e analise média, mínimo, máximo, erros e throughput.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0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 do navegador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Medição rápida no 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navegador também permite observar desempenho. No Chrome ou Edge, abra F12, acesse Network, recarregue a página e veja tempo de carregamento, tamanho dos arquivos e status das requisições. É uma forma simples de iniciar a investigação.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vector_style_infographic_diagram_on_a_whit_batch_2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Planejamento do experimento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medir, defina o método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bom experimento define objetivo, métrica, parâmetros, carga, ambiente, repetição e critério de comparação. Sem planejamento, os números podem confundir. Medir apenas uma vez, em ambiente instável, pode levar a conclusões incorretas.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Coleta e organização dos 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para comparar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resultados devem ser organizados em tabela. Registre cenário, horário, número de usuários, média, p95, throughput, erros e utilização. Essa organização permite comparar versões, identificar tendência e justificar tecnicamente uma recomendação.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0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integrado: portal acadêmico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Aplicando várias métricas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 um portal acadêmico em semana de matrícula. A equipe mede 1.000 acessos simultâneos, tempo médio de 1,8 s, p95 de 5 s, CPU a 92% e erros ocasionais. A conclusão provável é que há risco de saturação e necessidade de ajuste.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wide_clean_vector_infographic_tech_diagram_on_a_batch_8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justa entre sistemas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Mesma carga, mesmo método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sistemas exige condições equivalentes. Se o servidor A foi testado com 100 usuários e o B com 400, a comparação não é justa. Use a mesma carga, mesma duração, mesma ferramenta e ambiente semelhante para reduzir viés.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0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Erros comuns de interpretação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Números sem contexto enganam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throughput alto pode vir acompanhado de muitos erros. Uma baixa utilização pode ocorrer porque o sistema nem recebeu carga suficiente. Uma média boa pode esconder picos ruins. Por isso, sempre leia métricas em conjunto e com contexto.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objetiva 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Questões para fixação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Qual métrica mede pedidos atendidos por segundo? 2) Qual indicador representa a fração do tempo em que o recurso fica ocupado? 3) Em uma API, por que p95 pode ser mais informativo que média simples?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ty_batch_4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objetiva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 rápido em sala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servidor respondeu 900 requisições em 3 minutos. Durante o teste, a CPU ficou ocupada 135 segundos em um total de 180 segundos. Calcule a vazão em requisições por segundo e a utilização percentual da CPU.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5742432"/>
            <a:ext cx="6263640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861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Vazão = 900/180 = 5 req/s | U = 135/180 = 75%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10" name="Image 0" descr="/mnt/data/a_clean_flat_vector_illustration_infographic_sty_batch_5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Estudo de caso orientado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Recomendar melhoria com base em métricas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sistema de biblioteca fica lento quando muitos alunos buscam livros. A equipe registrou p95 de 7 s, CPU a 45%, banco com consultas lentas e vazão instável. A recomendação inicial deve focar no banco, não na troca do servidor web.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scene_on_a_white_batch_9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 da aula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avaliar desempenho com critério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desempenho significa definir objetivo, escolher métricas, controlar parâmetros, aplicar carga representativa e interpretar resultados com cuidado. Tempo de resposta, latência, vazão, utilização, disponibilidade, eficiência e escalabilidade formam um conjunto de indicadores para decisões técnicas melhores.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on_white_backgrou_batch_7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6DFFF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484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e materiais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usadas e sugestões de consulta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6263640" cy="4498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JOHNSON, Thienne; COUTINHO, Mauro. Avaliação de Desempenho de Sistemas Computacionais. LTC, 2011. Apache JMeter User Manual. Grafana k6 Documentation. Prometheus Documentation. Google Cloud Observability: SLO monitoring. Sugestão: pesquisar vídeos introdutórios sobre JMeter, k6, Prometheus e Grafana.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9E7F6"/>
            </a:solidFill>
            <a:prstDash val="solid"/>
          </a:ln>
        </p:spPr>
      </p:sp>
      <p:pic>
        <p:nvPicPr>
          <p:cNvPr id="8" name="Image 0" descr="/mnt/data/a_clean_flat_vector_illustration_infographic_sce_batch_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072" y="1856232"/>
            <a:ext cx="4105656" cy="405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Avaliação e desempenho de sistemas computacionais - 37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4302</Words>
  <Application>Microsoft Office PowerPoint</Application>
  <PresentationFormat>Widescreen</PresentationFormat>
  <Paragraphs>268</Paragraphs>
  <Slides>37</Slides>
  <Notes>37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Multivix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Métricas e parâmetros de desempenho</dc:title>
  <dc:subject>Avaliação e desempenho de sistemas computacionais</dc:subject>
  <dc:creator>Professor Msc Elionai Magalhães</dc:creator>
  <cp:lastModifiedBy>Elionai</cp:lastModifiedBy>
  <cp:revision>1</cp:revision>
  <dcterms:created xsi:type="dcterms:W3CDTF">2026-08-18T11:15:43Z</dcterms:created>
  <dcterms:modified xsi:type="dcterms:W3CDTF">2026-08-25T10:45:24Z</dcterms:modified>
</cp:coreProperties>
</file>