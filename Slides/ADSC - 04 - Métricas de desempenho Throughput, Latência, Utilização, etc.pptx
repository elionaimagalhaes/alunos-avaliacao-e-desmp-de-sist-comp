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5" r:id="rId9"/>
    <p:sldId id="262" r:id="rId10"/>
    <p:sldId id="263" r:id="rId11"/>
    <p:sldId id="266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EF0AE-B3BA-77A7-FCB7-A0624D4C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57F14C-950C-A3CA-8917-A23EE7B03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548D91-3C10-E4FF-9A46-50AC318D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67495D-1740-2A64-0805-061EBC0F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6626B7-AA8D-0E29-1290-20633188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27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C814E-5EC3-0A42-8037-B7647E3F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8D613E-B7C8-F6CA-956F-6FA56FB3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CA73A6-4ACF-8B22-F75D-50B72697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87A6D8-46A8-26CA-3E1A-F2043176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F0CE02-2147-DFB2-6750-082D5A9D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59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BC672-2EE8-C80F-ABB2-67584D083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DA6B4D-4C39-D5C3-0ED6-948795762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3EAD4-C4A0-2558-3C4C-679FB0CA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D94C27-9105-C107-E0F5-65D549B6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66068-53AF-9F25-AAB6-C094D010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37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F1B07-A008-1BAA-1235-17043657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FDBE84-94AB-CC23-AFC6-C2A93B802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83E859-B077-A9D0-0B91-CB4241E2A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793C6B-0EFD-523E-643E-00CA8112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8CB8B2-37C3-5C97-7606-AF238ED0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8D88A8-E950-CB4D-0856-3E5FA5CD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81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4B9F8-081F-BBD3-CACE-5989BFC2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89A68E-2CD0-A7F1-F039-D3440E9B9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93B733-844E-8C12-8623-42075A469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195FF8-06BF-138F-EC6F-0B9771E93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34AF3A-4080-0EAB-8C28-D5CD1C3F1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0EFB99-5B6D-0695-F24C-C7921538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3F0BEF-F9A8-5A0A-A602-28280723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FF242B3-DF32-99EE-EDE6-9A35F8B0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95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871F-BA04-3268-D3A7-06B859F1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B049F6-D028-3B35-8CFD-08551BB9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77A5FC-121B-F369-BCE1-6E024A86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5D5DCA0-A675-4158-7CC8-19D35C74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84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66CB24-79EA-ADD6-F2A7-875DF47E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6EA1121-20D7-EB11-8C11-0B173C55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0A661F-A996-C36B-C15C-3252BB05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65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E9258-2C99-FB8F-2265-6E64BC03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CBB6C5-2CF5-4F7A-A38B-5CE83EBCE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88192B-8FFA-BEA2-1A38-347EED036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5B0317-3471-CB89-D8EB-1396D481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61157D-2597-1579-30B3-47960B1B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B35DB1-142F-C7CD-3967-85DD6FA3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64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F20B8-5917-2918-9722-CE49BAB4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DA9AE6-D296-CCAA-9898-C9CFF2ABD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1F1AC7-28F7-2E9B-95AC-95ED0AED4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BD251E-1D47-E8F8-A50B-D6B06293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0BD935-27C2-6D29-E4FB-320B7107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3AD673-708D-4FCE-FA83-5960B75A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964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F0915-6C5C-7F12-0316-0AFB2B7B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9DFCF7-5C29-62FC-7368-C91718CE4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F71D6-A8EE-C466-5B1D-C89E434E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98BB69-D906-3B66-B9FF-DA9629AF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75280B-58EA-6022-D1E2-CA882D25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80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36B98D-4F03-46DE-BD76-C34010C14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5A5838-9899-284F-FC98-DB52CAB90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6F94F5-0C36-5412-B1A3-7AE1E056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55C9D8-522B-28C1-8973-6D803C83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39BF21-1BC9-1C58-31EC-6C07C45E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73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B03E41C-A661-033B-DC6E-3199F54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EDAAD0-8578-BCCC-0634-6DADC1A56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AF8175-21C5-7F4F-413D-136E722FA6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4F7BD-704B-4E05-B8D2-84CF8ECC6549}" type="datetimeFigureOut">
              <a:rPr lang="pt-BR" smtClean="0"/>
              <a:t>18/08/2025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E4371D-4742-A510-1627-0BA1E4CFD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18FA88-A325-215D-85FF-B131D8839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02763-E31C-4661-AC9D-3FD3C9624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9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2EA50-AAA8-7AE5-4DC2-4C44C96F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de desempenho: </a:t>
            </a:r>
            <a:r>
              <a:rPr lang="pt-BR" dirty="0" err="1"/>
              <a:t>Throughput</a:t>
            </a:r>
            <a:r>
              <a:rPr lang="pt-BR" dirty="0"/>
              <a:t>, Latência, Utilização, </a:t>
            </a:r>
            <a:r>
              <a:rPr lang="pt-BR" dirty="0" err="1"/>
              <a:t>etc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0ABBCD-BDAB-5E22-043E-923AE1F4B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pt-BR" sz="2400" b="1" dirty="0"/>
              <a:t>Utilização</a:t>
            </a:r>
            <a:r>
              <a:rPr lang="pt-BR" sz="2400" dirty="0"/>
              <a:t> </a:t>
            </a:r>
          </a:p>
          <a:p>
            <a:pPr algn="just">
              <a:lnSpc>
                <a:spcPct val="200000"/>
              </a:lnSpc>
            </a:pPr>
            <a:r>
              <a:rPr lang="pt-BR" sz="2400" dirty="0"/>
              <a:t>A utilização é a fração do tempo em que o recurso permanece ocupado atendendo às requisições feitas pelos usuários. Essa métrica é representada em porcentagem (%)</a:t>
            </a:r>
          </a:p>
        </p:txBody>
      </p:sp>
    </p:spTree>
    <p:extLst>
      <p:ext uri="{BB962C8B-B14F-4D97-AF65-F5344CB8AC3E}">
        <p14:creationId xmlns:p14="http://schemas.microsoft.com/office/powerpoint/2010/main" val="154833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8D007-63E8-8CF5-04D8-B25A05AC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2580D-7392-CF2C-2E8F-A32EFAE4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de desempenho: </a:t>
            </a:r>
            <a:r>
              <a:rPr lang="pt-BR" dirty="0" err="1"/>
              <a:t>Throughput</a:t>
            </a:r>
            <a:r>
              <a:rPr lang="pt-BR" dirty="0"/>
              <a:t>, Latência, Utilização, </a:t>
            </a:r>
            <a:r>
              <a:rPr lang="pt-BR" dirty="0" err="1"/>
              <a:t>etc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67D7E33-E225-F8BB-054D-27E86F2C5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071" y="1690689"/>
            <a:ext cx="7462684" cy="453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5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6FDE-1E67-F1BD-3304-EA23AE3A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17261-583E-6CFA-015D-719F1F74D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sz="3600" dirty="0"/>
              <a:t>Vazão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6A4D61-7DDD-80B0-58DE-93B3215F3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	Vazão é a taxa na qual os pedidos recebidos são atendidos pelo sistema computacional.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Por taxa entende-se o número de pedidos atendidos por unidade de tempo.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	A vazão (ou </a:t>
            </a:r>
            <a:r>
              <a:rPr lang="pt-BR" sz="2400" dirty="0" err="1"/>
              <a:t>throughput</a:t>
            </a:r>
            <a:r>
              <a:rPr lang="pt-BR" sz="2400" dirty="0"/>
              <a:t>) é uma das métricas mais usadas em sistemas computacionais para avaliar quantitativamente os sistemas existentes no dia a dia. </a:t>
            </a:r>
          </a:p>
        </p:txBody>
      </p:sp>
    </p:spTree>
    <p:extLst>
      <p:ext uri="{BB962C8B-B14F-4D97-AF65-F5344CB8AC3E}">
        <p14:creationId xmlns:p14="http://schemas.microsoft.com/office/powerpoint/2010/main" val="334934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9739-22C5-A433-2946-1F8E63AB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8C64C-DAA1-8778-A164-C20FC01F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sz="3600" dirty="0"/>
              <a:t>Vazão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DD3F9A-1B6E-6342-5819-CAFDBA395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Exemplos comuns de uso da métrica vazão em sistemas computacionais são: 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CPUS: MIPS ou MFLOPS. 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Redes de computadores: bits por segundo (bps). 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Sistemas de bancos dados: consultas solicitadas por segundo</a:t>
            </a:r>
          </a:p>
        </p:txBody>
      </p:sp>
    </p:spTree>
    <p:extLst>
      <p:ext uri="{BB962C8B-B14F-4D97-AF65-F5344CB8AC3E}">
        <p14:creationId xmlns:p14="http://schemas.microsoft.com/office/powerpoint/2010/main" val="4149605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0F5D-6B44-AFA9-8D60-3CD4F234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9482B-B8B3-F189-DA36-895A25B00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sz="3600" dirty="0"/>
              <a:t>Vazão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08F765D-1681-24D2-DF92-637C51723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157" y="1347019"/>
            <a:ext cx="8431217" cy="52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9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71C9F-6A37-14A3-5ED6-14942264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EDE29-058A-BB5C-25DB-90BB85F9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sz="3600" dirty="0"/>
              <a:t>Vazão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35637-6C60-7B2C-502F-7AC1C1FE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86348"/>
            <a:ext cx="7886700" cy="479061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Exemplo 2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400" dirty="0"/>
              <a:t>Um Java </a:t>
            </a:r>
            <a:r>
              <a:rPr lang="pt-BR" sz="2400" dirty="0" err="1"/>
              <a:t>Servlet</a:t>
            </a:r>
            <a:r>
              <a:rPr lang="pt-BR" sz="2400" dirty="0"/>
              <a:t> foi instalado em duas máquinas diferentes. Pretende-se testar qual máquina é mais rápida para processar os pedidos recebidos dos usuários. A máquina A atendeu a cinco requisições por segundo, e a máquina B atendeu a duas requisições por segundo. Portanto, a máquina A tem maior vazão do que a máquina B em requisições atendidas por segundo</a:t>
            </a:r>
          </a:p>
        </p:txBody>
      </p:sp>
    </p:spTree>
    <p:extLst>
      <p:ext uri="{BB962C8B-B14F-4D97-AF65-F5344CB8AC3E}">
        <p14:creationId xmlns:p14="http://schemas.microsoft.com/office/powerpoint/2010/main" val="415734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2FD6C-C51E-40BE-967E-8B0E1319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86A52E-5BB2-CD15-8F02-77DAC376D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 anchor="ctr">
            <a:normAutofit/>
          </a:bodyPr>
          <a:lstStyle/>
          <a:p>
            <a:r>
              <a:rPr lang="pt-BR" sz="3100"/>
              <a:t>Tempo de Resposta</a:t>
            </a:r>
          </a:p>
        </p:txBody>
      </p:sp>
      <p:pic>
        <p:nvPicPr>
          <p:cNvPr id="1026" name="Picture 2" descr="O que é tempo de resposta? | phoenixNAP Glossário de TI">
            <a:extLst>
              <a:ext uri="{FF2B5EF4-FFF2-40B4-BE49-F238E27FC236}">
                <a16:creationId xmlns:a16="http://schemas.microsoft.com/office/drawing/2014/main" id="{6C9FF613-CB8E-2AAF-16A9-D2279E5E8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39525" y="3196451"/>
            <a:ext cx="3591379" cy="1732840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7CCAE8-C311-39AC-4152-50FF1D08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1514168"/>
            <a:ext cx="3719225" cy="460196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pt-BR" sz="2400" dirty="0"/>
              <a:t>	Tempo de resposta é o tempo decorrido entre o pedido da realização de serviço pelo cliente e a chegada da resposta do pedido realizado até o cliente requisitante. </a:t>
            </a:r>
          </a:p>
          <a:p>
            <a:pPr marL="0" indent="0" algn="just">
              <a:buNone/>
            </a:pPr>
            <a:r>
              <a:rPr lang="pt-BR" sz="2400" dirty="0"/>
              <a:t>	Esta métrica é usada geralmente como a medida de velocidade de um sistema. </a:t>
            </a:r>
          </a:p>
          <a:p>
            <a:pPr marL="0" indent="0" algn="just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8527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85A-AD0D-31AD-49FD-DC3A384F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2AA40-2D9F-40AB-FE40-23A91DA8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dirty="0"/>
              <a:t>Tempo de Resposta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9C94F27-9279-20E3-4417-34D70B7C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74839"/>
            <a:ext cx="7886700" cy="470212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Por exemplo,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ao comparar dois </a:t>
            </a:r>
            <a:r>
              <a:rPr lang="pt-BR" dirty="0">
                <a:highlight>
                  <a:srgbClr val="C0C0C0"/>
                </a:highlight>
              </a:rPr>
              <a:t>links de comunicação</a:t>
            </a:r>
            <a:r>
              <a:rPr lang="pt-BR" dirty="0"/>
              <a:t>, o mais rápido é o que teve menor tempo para transmitir um pacote.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Para comparar </a:t>
            </a:r>
            <a:r>
              <a:rPr lang="pt-BR" dirty="0">
                <a:highlight>
                  <a:srgbClr val="C0C0C0"/>
                </a:highlight>
              </a:rPr>
              <a:t>dois computadores</a:t>
            </a:r>
            <a:r>
              <a:rPr lang="pt-BR" dirty="0"/>
              <a:t>, o menor tempo de resposta para realizar um processamento nos informa qual a máquina mais rápida. A Figura 1.2 mostra o conceito de tempo de resposta graficamente</a:t>
            </a:r>
          </a:p>
        </p:txBody>
      </p:sp>
    </p:spTree>
    <p:extLst>
      <p:ext uri="{BB962C8B-B14F-4D97-AF65-F5344CB8AC3E}">
        <p14:creationId xmlns:p14="http://schemas.microsoft.com/office/powerpoint/2010/main" val="8197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A922-C36C-308E-1BFC-F19E9FA6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F3CFB-5458-5D85-2B0B-C1FC92FE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dirty="0"/>
              <a:t>Tempo de Resposta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685A35F-3A7C-DD20-75A3-0EF6F1785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129" y="1887795"/>
            <a:ext cx="8731045" cy="290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9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DAF1C-11C2-B830-F05D-BC6144D8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B1C8DE-ED5C-D2BD-CE51-E4608D7C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dirty="0"/>
              <a:t>Tempo de Resposta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6C5049-49CF-98F7-F4B6-1418B869A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3006"/>
            <a:ext cx="78867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Existem autores que consideram o tempo de resposta também o tempo entre a realização de um pedido e o início da geração da resposta,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mas neste conteúdo será adotada apenas a chegada da resposta do pedido no cliente. </a:t>
            </a:r>
          </a:p>
        </p:txBody>
      </p:sp>
    </p:spTree>
    <p:extLst>
      <p:ext uri="{BB962C8B-B14F-4D97-AF65-F5344CB8AC3E}">
        <p14:creationId xmlns:p14="http://schemas.microsoft.com/office/powerpoint/2010/main" val="450964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9BEC-8A3C-652A-6C49-31559235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10BA9-7AE7-B542-0571-08C44326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63906"/>
          </a:xfrm>
        </p:spPr>
        <p:txBody>
          <a:bodyPr/>
          <a:lstStyle/>
          <a:p>
            <a:r>
              <a:rPr lang="pt-BR" dirty="0"/>
              <a:t>Tempo de Resposta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6D5EF8-4DFF-1081-0264-6795B85BB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3006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Exemplo 1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highlight>
                  <a:srgbClr val="C0C0C0"/>
                </a:highlight>
              </a:rPr>
              <a:t>	Uma requisição de impressão foi solicitada às 20h1min00s e a impressão terminou às 20h02min30s.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highlight>
                  <a:srgbClr val="C0C0C0"/>
                </a:highlight>
              </a:rPr>
              <a:t>	O tempo de resposta é de 1min30s.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Exemplo 2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highlight>
                  <a:srgbClr val="C0C0C0"/>
                </a:highlight>
              </a:rPr>
              <a:t>	Uma consulta a um banco de dados é realizada pelo cliente às 23h59min00s.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highlight>
                  <a:srgbClr val="C0C0C0"/>
                </a:highlight>
              </a:rPr>
              <a:t>	A resposta foi recebida às 00h00min1Os do dia seguinte.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>
                <a:highlight>
                  <a:srgbClr val="C0C0C0"/>
                </a:highlight>
              </a:rPr>
              <a:t>	O tempo de resposta é de 70 segundos.</a:t>
            </a:r>
          </a:p>
        </p:txBody>
      </p:sp>
    </p:spTree>
    <p:extLst>
      <p:ext uri="{BB962C8B-B14F-4D97-AF65-F5344CB8AC3E}">
        <p14:creationId xmlns:p14="http://schemas.microsoft.com/office/powerpoint/2010/main" val="1041860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440</Words>
  <Application>Microsoft Office PowerPoint</Application>
  <PresentationFormat>Apresentação na tela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Métricas de desempenho: Throughput, Latência, Utilização, etc</vt:lpstr>
      <vt:lpstr>Métricas de desempenho: Throughput, Latência, Utilização, etc</vt:lpstr>
      <vt:lpstr>Vazão</vt:lpstr>
      <vt:lpstr>Vazão</vt:lpstr>
      <vt:lpstr>Vazão</vt:lpstr>
      <vt:lpstr>Vazão</vt:lpstr>
      <vt:lpstr>Tempo de Resposta</vt:lpstr>
      <vt:lpstr>Tempo de Resposta</vt:lpstr>
      <vt:lpstr>Tempo de Resposta</vt:lpstr>
      <vt:lpstr>Tempo de Resposta</vt:lpstr>
      <vt:lpstr>Tempo de Resposta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11</cp:revision>
  <dcterms:created xsi:type="dcterms:W3CDTF">2025-08-18T12:54:06Z</dcterms:created>
  <dcterms:modified xsi:type="dcterms:W3CDTF">2025-08-18T13:19:59Z</dcterms:modified>
</cp:coreProperties>
</file>