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Lst>
  <p:sldSz cy="6858000" cx="12192000"/>
  <p:notesSz cx="6858000" cy="12192000"/>
  <p:embeddedFontLst>
    <p:embeddedFont>
      <p:font typeface="Play"/>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8" roundtripDataSignature="AMtx7mi/eizzm8NExcQcyxazw5o085RD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46" Type="http://schemas.openxmlformats.org/officeDocument/2006/relationships/font" Target="fonts/Play-regular.fntdata"/><Relationship Id="rId23" Type="http://schemas.openxmlformats.org/officeDocument/2006/relationships/slide" Target="slides/slide19.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48" Type="http://customschemas.google.com/relationships/presentationmetadata" Target="metadata"/><Relationship Id="rId25" Type="http://schemas.openxmlformats.org/officeDocument/2006/relationships/slide" Target="slides/slide21.xml"/><Relationship Id="rId47" Type="http://schemas.openxmlformats.org/officeDocument/2006/relationships/font" Target="fonts/Play-bold.fnt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a analogia do sistema operacional como coordenador de uma fábrica. A CPU seria uma máquina principal, a memória um espaço de trabalho, o disco o almoxarifado e os processos as tarefas que disputam recursos. Explique que avaliar o SO significa observar como esse coordenador se comporta sob diferentes cargas.</a:t>
            </a:r>
            <a:endParaRPr/>
          </a:p>
        </p:txBody>
      </p:sp>
      <p:sp>
        <p:nvSpPr>
          <p:cNvPr id="14" name="Google Shape;1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Diferencie claramente medição e avaliação. Uma tabela com 90% de uso de CPU não explica sozinha se há problema. A avaliação pergunta: isso era esperado? A carga era representativa? Houve contenção? O usuário percebeu lentidão? O sistema estava eficiente ou apenas ocupado? Essa distinção evita conclusões apressadas.</a:t>
            </a:r>
            <a:endParaRPr/>
          </a:p>
        </p:txBody>
      </p:sp>
      <p:sp>
        <p:nvSpPr>
          <p:cNvPr id="35" name="Google Shape;3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Dê exemplos: comprar mais memória sem saber se o problema é disco; trocar processador quando o gargalo está na rede; culpar o sistema operacional quando a aplicação está mal projetada. A avaliação ajuda a gastar menos, corrigir melhor e documentar decisões para equipes técnicas e gestores.</a:t>
            </a:r>
            <a:endParaRPr/>
          </a:p>
        </p:txBody>
      </p:sp>
      <p:sp>
        <p:nvSpPr>
          <p:cNvPr id="64" name="Google Shape;6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Explique que desempenho não é sinônimo apenas de rapidez. Em um laboratório, um sistema pode parecer rápido; em produção, pode falhar com muitos usuários. O professor pode pedir aos alunos exemplos de critérios importantes para computador pessoal, servidor web, sistema bancário e ambiente de nuvem.</a:t>
            </a:r>
            <a:endParaRPr/>
          </a:p>
        </p:txBody>
      </p:sp>
      <p:sp>
        <p:nvSpPr>
          <p:cNvPr id="89" name="Google Shape;8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Mostre que uma métrica isolada pode enganar. Um sistema com alta utilização pode estar eficiente ou saturado. Um sistema com baixa utilização pode estar ocioso ou bloqueado por E/S. A interpretação exige comparar métricas simultaneamente e entender o cenário de carga.</a:t>
            </a:r>
            <a:endParaRPr/>
          </a:p>
        </p:txBody>
      </p:sp>
      <p:sp>
        <p:nvSpPr>
          <p:cNvPr id="114" name="Google Shape;11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exemplos: abrir um aplicativo, pesquisar um arquivo, autenticar no sistema ou executar uma consulta. Explique que o tempo de resposta inclui várias etapas: chegada da solicitação, espera, processamento, acesso a recursos e retorno. Em muitos casos, o tempo de espera é maior que o tempo real de processamento.</a:t>
            </a:r>
            <a:endParaRPr/>
          </a:p>
        </p:txBody>
      </p:sp>
      <p:sp>
        <p:nvSpPr>
          <p:cNvPr id="139" name="Google Shape;13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Compare tempo de resposta e vazão. Um caixa de supermercado pode atender muitos clientes por hora, mas se a fila ficar grande cada cliente espera mais. Em computação, aumentar a vazão pode piorar a latência. Essa tensão aparece em escalonamento de processos e servidores.</a:t>
            </a:r>
            <a:endParaRPr/>
          </a:p>
        </p:txBody>
      </p:sp>
      <p:sp>
        <p:nvSpPr>
          <p:cNvPr id="165" name="Google Shape;16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Explique que os estudantes devem interpretar o contexto. Linux, por exemplo, costuma usar memória livre como cache, o que não significa necessariamente falta de memória. Já alta espera de disco, muitas trocas de página ou filas persistentes podem indicar problemas mais graves.</a:t>
            </a:r>
            <a:endParaRPr/>
          </a:p>
        </p:txBody>
      </p:sp>
      <p:sp>
        <p:nvSpPr>
          <p:cNvPr id="191" name="Google Shape;19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Diferencie latência de tempo total. Uma transferência de arquivo pode ter alta vazão, mas latência inicial elevada. Em uma chamada de sistema, a latência pode depender de escalonamento, interrupções e filas internas. O professor pode relacionar o tema com jogos, áudio em tempo real e sistemas embarcados.</a:t>
            </a:r>
            <a:endParaRPr/>
          </a:p>
        </p:txBody>
      </p:sp>
      <p:sp>
        <p:nvSpPr>
          <p:cNvPr id="216" name="Google Shape;21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Relembre que processo é um programa em execução. Explique que sistemas operacionais modernos alternam rapidamente entre processos, dando a impressão de simultaneidade. A avaliação do escalonamento observa se processos esperam demais, se há starvation e se a CPU é bem aproveitada.</a:t>
            </a:r>
            <a:endParaRPr/>
          </a:p>
        </p:txBody>
      </p:sp>
      <p:sp>
        <p:nvSpPr>
          <p:cNvPr id="245" name="Google Shape;24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a analogia de estudar várias disciplinas ao mesmo tempo: alternar constantemente exige lembrar onde parou. No sistema operacional, o estado do processo precisa ser salvo e restaurado. Muitas threads, interrupções ou bloqueios frequentes podem aumentar esse custo.</a:t>
            </a:r>
            <a:endParaRPr/>
          </a:p>
        </p:txBody>
      </p:sp>
      <p:sp>
        <p:nvSpPr>
          <p:cNvPr id="269" name="Google Shape;26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Explique paginação, page fault e swap em linguagem simples. Um page fault não é necessariamente erro; ele indica que uma página precisa ser carregada. O problema ocorre quando há page faults em excesso, causando thrashing, situação em que o sistema passa mais tempo movimentando páginas do que executando processos.</a:t>
            </a:r>
            <a:endParaRPr/>
          </a:p>
        </p:txBody>
      </p:sp>
      <p:sp>
        <p:nvSpPr>
          <p:cNvPr id="293" name="Google Shape;29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Mostre que repetir o mesmo teste pode parecer mais rápido porque os dados já estão em cache. Em avaliações, é importante registrar se o cache estava aquecido ou frio. O professor pode demonstrar a diferença entre primeira execução e execuções subsequentes de uma leitura de arquivo.</a:t>
            </a:r>
            <a:endParaRPr/>
          </a:p>
        </p:txBody>
      </p:sp>
      <p:sp>
        <p:nvSpPr>
          <p:cNvPr id="319" name="Google Shape;31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Explique que nem toda lentidão é culpa da CPU. Um processo pode ficar bloqueado esperando leitura de disco ou resposta da rede. No Linux, ferramentas como iostat e vmstat ajudam a observar espera por E/S; no Windows, o Monitor de Recursos e WPA ajudam a investigar operações de disco.</a:t>
            </a:r>
            <a:endParaRPr/>
          </a:p>
        </p:txBody>
      </p:sp>
      <p:sp>
        <p:nvSpPr>
          <p:cNvPr id="345" name="Google Shape;34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Dê exemplos: muitos programas abrindo ao iniciar o computador, várias aplicações gravando no disco, múltiplos usuários em servidor de arquivos ou threads aguardando um bloqueio. Explique que contenção nem sempre é visível em uma única métrica; normalmente aparece no conjunto das evidências.</a:t>
            </a:r>
            <a:endParaRPr/>
          </a:p>
        </p:txBody>
      </p:sp>
      <p:sp>
        <p:nvSpPr>
          <p:cNvPr id="369" name="Google Shape;36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Relacione com atualizações, drivers, falhas de hardware e processos com uso excessivo de recursos. Um sistema pode ser rápido, mas ruim se reinicia ou trava. Avaliar desempenho inclui observar erros, logs, estabilidade durante testes e capacidade de recuperação.</a:t>
            </a:r>
            <a:endParaRPr/>
          </a:p>
        </p:txBody>
      </p:sp>
      <p:sp>
        <p:nvSpPr>
          <p:cNvPr id="398" name="Google Shape;39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Explique que escalabilidade não significa crescer infinitamente. Toda arquitetura tem limites. A questão é entender onde o limite aparece e como o sistema se comporta antes dele. Discuta escalabilidade vertical, com mais recursos na mesma máquina, e horizontal, com distribuição de carga.</a:t>
            </a:r>
            <a:endParaRPr/>
          </a:p>
        </p:txBody>
      </p:sp>
      <p:sp>
        <p:nvSpPr>
          <p:cNvPr id="423" name="Google Shape;42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Mostre que não basta executar qualquer programa e medir. A carga precisa ter relação com o problema. Para computador pessoal, pode ser abrir navegador, editor e IDE. Para servidor, pode ser número de requisições por segundo. Para laboratório, uma carga simples e controlada é suficiente para aprendizagem.</a:t>
            </a:r>
            <a:endParaRPr/>
          </a:p>
        </p:txBody>
      </p:sp>
      <p:sp>
        <p:nvSpPr>
          <p:cNvPr id="449" name="Google Shape;44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Proponha a estrutura: objetivo, hipótese, ambiente, carga, métricas, procedimento, resultados e conclusão. Exemplo de hipótese: aumentar a carga de CPU eleva o tempo de resposta de uma aplicação interativa. Essa hipótese orienta o que medir e como interpretar o resultado.</a:t>
            </a:r>
            <a:endParaRPr/>
          </a:p>
        </p:txBody>
      </p:sp>
      <p:sp>
        <p:nvSpPr>
          <p:cNvPr id="477" name="Google Shape;47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Explique que experimentos simples podem ser comprometidos por navegador aberto, atualização automática, antivírus, backup, diferença de energia ou máquina virtual. O professor pode orientar os alunos a registrar o ambiente antes dos testes, incluindo sistema operacional, CPU, memória, disco e versões das ferramentas.</a:t>
            </a:r>
            <a:endParaRPr/>
          </a:p>
        </p:txBody>
      </p:sp>
      <p:sp>
        <p:nvSpPr>
          <p:cNvPr id="505" name="Google Shape;505;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Mostre um modelo de tabela: teste, data, ferramenta, métrica, valor, observação. Explique que resultados extremos não devem ser apagados sem justificativa; devem ser investigados. Reforce a postura ética: documentar o que foi feito, sem ajustar dados para confirmar uma hipótese.</a:t>
            </a:r>
            <a:endParaRPr/>
          </a:p>
        </p:txBody>
      </p:sp>
      <p:sp>
        <p:nvSpPr>
          <p:cNvPr id="533" name="Google Shape;53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 name="Google Shape;55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Explique que top e htop são bons para visão rápida, mas relatórios técnicos exigem dados registrados. vmstat e iostat ajudam a observar CPU, memória e disco ao longo do tempo. perf permite análise mais profunda de eventos. stress-ng gera carga controlada para testes.</a:t>
            </a:r>
            <a:endParaRPr/>
          </a:p>
        </p:txBody>
      </p:sp>
      <p:sp>
        <p:nvSpPr>
          <p:cNvPr id="558" name="Google Shape;55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Destaque que o Windows Performance Toolkit é voltado a perfis detalhados. O WPR grava rastros de execução e o WPA abre gráficos e tabelas de eventos. Para estudantes, o Gerenciador de Tarefas e o Monitor de Recursos já permitem observar processos e gargalos básicos.</a:t>
            </a:r>
            <a:endParaRPr/>
          </a:p>
        </p:txBody>
      </p:sp>
      <p:sp>
        <p:nvSpPr>
          <p:cNvPr id="582" name="Google Shape;58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Explique que benchmark não é apenas apertar um botão. É preciso saber o que ele mede, qual carga aplica, quantas repetições executa e quais limitações possui. Cite Phoronix Test Suite e sysbench como ferramentas úteis em ambientes acadêmicos.</a:t>
            </a:r>
            <a:endParaRPr/>
          </a:p>
        </p:txBody>
      </p:sp>
      <p:sp>
        <p:nvSpPr>
          <p:cNvPr id="604" name="Google Shape;604;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0" name="Google Shape;630;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Mostre a diferença: monitoramento observa o estado geral; profiling aponta hotspots; tracing mostra sequência temporal de eventos. Em Linux, perf é exemplo importante. Em Windows, WPR/WPA usam eventos ETW. O professor pode reforçar que essas ferramentas exigem cuidado e interpretação.</a:t>
            </a:r>
            <a:endParaRPr/>
          </a:p>
        </p:txBody>
      </p:sp>
      <p:sp>
        <p:nvSpPr>
          <p:cNvPr id="631" name="Google Shape;631;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Explique com um exemplo: tempos de resposta 1, 1, 1, 1, 10 têm média maior por causa de um pico. Em aplicações reais, percentis como p95 e p99 mostram o comportamento percebido pelos usuários que enfrentam as piores esperas. Essa ideia é muito usada em serviços web e sistemas distribuídos.</a:t>
            </a:r>
            <a:endParaRPr/>
          </a:p>
        </p:txBody>
      </p:sp>
      <p:sp>
        <p:nvSpPr>
          <p:cNvPr id="653" name="Google Shape;65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Faça os alunos pensarem como investigadores. Sintoma: aplicação lenta. Hipóteses: CPU saturada, memória insuficiente, disco lento, rede instável, bloqueio entre threads. As métricas ajudam a eliminar hipóteses. O relatório deve explicar por que uma causa é mais provável que outra.</a:t>
            </a:r>
            <a:endParaRPr/>
          </a:p>
        </p:txBody>
      </p:sp>
      <p:sp>
        <p:nvSpPr>
          <p:cNvPr id="679" name="Google Shape;679;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7" name="Google Shape;70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exemplos práticos. Em um jogo, baixa latência pode ser prioridade. Em processamento noturno, vazão total pode importar mais. Em servidor compartilhado, justiça entre usuários pode ser essencial. Avaliação de desempenho sempre deve declarar o critério usado para dizer que uma solução é melhor.</a:t>
            </a:r>
            <a:endParaRPr/>
          </a:p>
        </p:txBody>
      </p:sp>
      <p:sp>
        <p:nvSpPr>
          <p:cNvPr id="708" name="Google Shape;708;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8" name="Google Shape;728;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Exemplo didático: compressão de arquivos, cálculo matemático, renderização, compilação ou benchmark de CPU. Peça aos alunos que prevejam o que acontecerá ao executar várias instâncias ao mesmo tempo. Depois discuta como escalonamento, quantidade de núcleos e prioridades afetam o resultado.</a:t>
            </a:r>
            <a:endParaRPr/>
          </a:p>
        </p:txBody>
      </p:sp>
      <p:sp>
        <p:nvSpPr>
          <p:cNvPr id="729" name="Google Shape;729;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2" name="Google Shape;752;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Exemplo didático: abrir muitos programas, manipular arquivos grandes ou executar várias máquinas virtuais. Explique que a CPU pode parecer pouco usada porque os processos ficam esperando páginas. Esse é um bom caso para mostrar que baixa CPU não significa sistema saudável.</a:t>
            </a:r>
            <a:endParaRPr/>
          </a:p>
        </p:txBody>
      </p:sp>
      <p:sp>
        <p:nvSpPr>
          <p:cNvPr id="753" name="Google Shape;753;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8" name="Google Shape;778;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Mostre que um computador pode ficar lento durante atualização, antivírus ou backup mesmo com CPU moderada. Em servidores, logs e bancos de dados podem competir por disco. A avaliação deve separar capacidade de transferência de latência, pois ambas influenciam a experiência.</a:t>
            </a:r>
            <a:endParaRPr/>
          </a:p>
        </p:txBody>
      </p:sp>
      <p:sp>
        <p:nvSpPr>
          <p:cNvPr id="779" name="Google Shape;779;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2" name="Google Shape;802;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Sugestão prática: no Linux, instalar htop se necessário: sudo apt install htop. Executar htop, observar processos ordenados por CPU, iniciar uma carga leve e anotar mudanças. Em laboratório, cada grupo pode registrar capturas de tela e explicar qual recurso mudou mais.</a:t>
            </a:r>
            <a:endParaRPr/>
          </a:p>
        </p:txBody>
      </p:sp>
      <p:sp>
        <p:nvSpPr>
          <p:cNvPr id="803" name="Google Shape;803;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6" name="Google Shape;826;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Exemplo Linux: sudo apt install stress-ng sysbench. Rode stress-ng --cpu 2 --timeout 30s --metrics-brief. Depois teste sysbench cpu --threads=2 run. Oriente os estudantes a não usar cargas longas em notebooks sem monitorar temperatura. O objetivo é aprendizagem, não estressar hardware desnecessariamente.</a:t>
            </a:r>
            <a:endParaRPr/>
          </a:p>
        </p:txBody>
      </p:sp>
      <p:sp>
        <p:nvSpPr>
          <p:cNvPr id="827" name="Google Shape;827;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5" name="Google Shape;855;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Exemplo: /usr/bin/time -v gzip arquivo.txt. Depois: perf stat gzip arquivo.txt. Explique que perf pode exigir permissões dependendo da configuração do sistema. A prática deve focar em interpretar tempo real, tempo de CPU, uso máximo de memória e repetibilidade.</a:t>
            </a:r>
            <a:endParaRPr/>
          </a:p>
        </p:txBody>
      </p:sp>
      <p:sp>
        <p:nvSpPr>
          <p:cNvPr id="856" name="Google Shape;856;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9" name="Google Shape;879;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Orientação em laboratório: iniciar com ferramentas simples antes de usar WPA. O WPR pode gerar arquivos grandes; defina captura curta. Mostre que o WPA permite navegar por gráficos, ampliar intervalos de tempo e relacionar eventos com processos. Essa prática é boa para ambientes Windows.</a:t>
            </a:r>
            <a:endParaRPr/>
          </a:p>
        </p:txBody>
      </p:sp>
      <p:sp>
        <p:nvSpPr>
          <p:cNvPr id="880" name="Google Shape;880;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1" name="Google Shape;901;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Sugira uma estrutura de 6 partes: problema, hipótese, ambiente, procedimento, resultados e conclusão. Insista que prints soltos não são relatório. Os alunos devem explicar comandos, parâmetros e critérios. Recomendações devem ser proporcionais aos dados: não afirmar certeza quando o experimento foi limitado.</a:t>
            </a:r>
            <a:endParaRPr/>
          </a:p>
        </p:txBody>
      </p:sp>
      <p:sp>
        <p:nvSpPr>
          <p:cNvPr id="902" name="Google Shape;902;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6" name="Google Shape;926;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este slide como checklist negativo. Peça aos alunos para revisarem seus trabalhos procurando esses problemas. Mostre que avaliações profissionais também têm limitações, mas elas devem ser declaradas. Um relatório honesto com limitações claras é melhor que um relatório aparentemente perfeito, mas frágil.</a:t>
            </a:r>
            <a:endParaRPr/>
          </a:p>
        </p:txBody>
      </p:sp>
      <p:sp>
        <p:nvSpPr>
          <p:cNvPr id="927" name="Google Shape;927;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1" name="Google Shape;951;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Esta atividade pode ser feita em sala ou como estudo dirigido. Critérios: clareza do objetivo, descrição do ambiente, escolha adequada da métrica, organização dos dados e interpretação coerente. Não é necessário resultado perfeito; o foco é demonstrar método de avaliação.</a:t>
            </a:r>
            <a:endParaRPr/>
          </a:p>
        </p:txBody>
      </p:sp>
      <p:sp>
        <p:nvSpPr>
          <p:cNvPr id="952" name="Google Shape;952;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9" name="Google Shape;979;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Retome os principais conceitos: tempo de resposta, vazão, utilização, latência, carga de trabalho, gargalo e reprodutibilidade. Enfatize que avaliação de desempenho é uma competência profissional porque apoia decisões de compra, configuração, otimização e comparação de tecnologias.</a:t>
            </a:r>
            <a:endParaRPr/>
          </a:p>
        </p:txBody>
      </p:sp>
      <p:sp>
        <p:nvSpPr>
          <p:cNvPr id="980" name="Google Shape;980;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8" name="Google Shape;1008;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as perguntas como discussão final ou atividade em grupo. Peça respostas curtas, com justificativa. O objetivo é verificar se os alunos conseguem aplicar conceitos, não apenas repetir definições. Caso haja tempo, escolha uma pergunta e peça que relacionem com uma ferramenta prática.</a:t>
            </a:r>
            <a:endParaRPr/>
          </a:p>
        </p:txBody>
      </p:sp>
      <p:sp>
        <p:nvSpPr>
          <p:cNvPr id="1009" name="Google Shape;1009;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3" name="Google Shape;1033;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Apresente as referências como ponto de partida para estudo autônomo. Explique que documentação oficial das ferramentas deve ser consultada antes da execução. Reforce que benchmarks de mercado, como SPEC CPU, são úteis para compreender comparação padronizada, mas nem sempre são adequados para prática acadêmica livre por causa de acesso e licenciamento.</a:t>
            </a:r>
            <a:endParaRPr/>
          </a:p>
        </p:txBody>
      </p:sp>
      <p:sp>
        <p:nvSpPr>
          <p:cNvPr id="1034" name="Google Shape;1034;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man7.org/linux/man-pages/man1/perf.1.html" TargetMode="External"/><Relationship Id="rId4" Type="http://schemas.openxmlformats.org/officeDocument/2006/relationships/hyperlink" Target="https://man7.org/linux/man-pages/man1/perf.1.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learn.microsoft.com/en-us/windows-hardware/test/wpt/" TargetMode="External"/><Relationship Id="rId4" Type="http://schemas.openxmlformats.org/officeDocument/2006/relationships/hyperlink" Target="https://learn.microsoft.com/en-us/windows-hardware/test/wpt/"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www.phoronix-test-suite.com/" TargetMode="External"/><Relationship Id="rId4" Type="http://schemas.openxmlformats.org/officeDocument/2006/relationships/hyperlink" Target="https://www.phoronix-test-suite.c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perfwiki.github.io/main/tutorial/" TargetMode="External"/><Relationship Id="rId4" Type="http://schemas.openxmlformats.org/officeDocument/2006/relationships/hyperlink" Target="https://perfwiki.github.io/main/tutoria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hyperlink" Target="https://www.youtube.com/results?search_query=linux+top+htop+vmstat+performance+monitoring" TargetMode="External"/><Relationship Id="rId4" Type="http://schemas.openxmlformats.org/officeDocument/2006/relationships/hyperlink" Target="https://www.youtube.com/results?search_query=linux+top+htop+vmstat+performance+monitoring"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hyperlink" Target="https://github.com/ColinIanKing/stress-ng" TargetMode="External"/><Relationship Id="rId4" Type="http://schemas.openxmlformats.org/officeDocument/2006/relationships/hyperlink" Target="https://github.com/ColinIanKing/stress-ng"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hyperlink" Target="https://man7.org/linux/man-pages/man1/time.1.html" TargetMode="External"/><Relationship Id="rId4" Type="http://schemas.openxmlformats.org/officeDocument/2006/relationships/hyperlink" Target="https://man7.org/linux/man-pages/man1/time.1.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hyperlink" Target="https://learn.microsoft.com/en-us/windows-hardware/test/wpt/windows-performance-analyzer" TargetMode="External"/><Relationship Id="rId4" Type="http://schemas.openxmlformats.org/officeDocument/2006/relationships/hyperlink" Target="https://learn.microsoft.com/en-us/windows-hardware/test/wpt/windows-performance-analyzer"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hyperlink" Target="https://www.spec.org/cpu2017/" TargetMode="External"/><Relationship Id="rId4" Type="http://schemas.openxmlformats.org/officeDocument/2006/relationships/hyperlink" Target="https://www.spec.org/cpu2017/"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5" name="Shape 15"/>
        <p:cNvGrpSpPr/>
        <p:nvPr/>
      </p:nvGrpSpPr>
      <p:grpSpPr>
        <a:xfrm>
          <a:off x="0" y="0"/>
          <a:ext cx="0" cy="0"/>
          <a:chOff x="0" y="0"/>
          <a:chExt cx="0" cy="0"/>
        </a:xfrm>
      </p:grpSpPr>
      <p:sp>
        <p:nvSpPr>
          <p:cNvPr id="16" name="Google Shape;16;p4"/>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4"/>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O que é um sistema operacional?</a:t>
            </a:r>
            <a:endParaRPr b="0" i="0" sz="3200" u="none" cap="none" strike="noStrike">
              <a:solidFill>
                <a:schemeClr val="dk1"/>
              </a:solidFill>
              <a:latin typeface="Arial"/>
              <a:ea typeface="Arial"/>
              <a:cs typeface="Arial"/>
              <a:sym typeface="Arial"/>
            </a:endParaRPr>
          </a:p>
        </p:txBody>
      </p:sp>
      <p:sp>
        <p:nvSpPr>
          <p:cNvPr id="18" name="Google Shape;18;p4"/>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Camada de gerenciamento do computador</a:t>
            </a:r>
            <a:endParaRPr b="0" i="0" sz="1450" u="none" cap="none" strike="noStrike">
              <a:solidFill>
                <a:schemeClr val="dk1"/>
              </a:solidFill>
              <a:latin typeface="Arial"/>
              <a:ea typeface="Arial"/>
              <a:cs typeface="Arial"/>
              <a:sym typeface="Arial"/>
            </a:endParaRPr>
          </a:p>
        </p:txBody>
      </p:sp>
      <p:sp>
        <p:nvSpPr>
          <p:cNvPr id="19" name="Google Shape;19;p4"/>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O sistema operacional é o software que administra os recursos físicos e oferece serviços para os programas. Ele decide quais processos usam a CPU, organiza a memória, controla arquivos, gerencia dispositivos e fornece uma interface estável entre aplicações, usuários e hardware.</a:t>
            </a:r>
            <a:endParaRPr b="0" i="0" sz="2400" u="none" cap="none" strike="noStrike">
              <a:solidFill>
                <a:schemeClr val="dk1"/>
              </a:solidFill>
              <a:latin typeface="Arial"/>
              <a:ea typeface="Arial"/>
              <a:cs typeface="Arial"/>
              <a:sym typeface="Arial"/>
            </a:endParaRPr>
          </a:p>
        </p:txBody>
      </p:sp>
      <p:sp>
        <p:nvSpPr>
          <p:cNvPr id="20" name="Google Shape;20;p4"/>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Aplicações dependem dos serviços do SO.</a:t>
            </a:r>
            <a:endParaRPr b="0" i="0" sz="1050" u="none" cap="none" strike="noStrike">
              <a:solidFill>
                <a:schemeClr val="dk1"/>
              </a:solidFill>
              <a:latin typeface="Arial"/>
              <a:ea typeface="Arial"/>
              <a:cs typeface="Arial"/>
              <a:sym typeface="Arial"/>
            </a:endParaRPr>
          </a:p>
        </p:txBody>
      </p:sp>
      <p:sp>
        <p:nvSpPr>
          <p:cNvPr id="22" name="Google Shape;22;p4"/>
          <p:cNvSpPr/>
          <p:nvPr/>
        </p:nvSpPr>
        <p:spPr>
          <a:xfrm>
            <a:off x="8046720" y="1581912"/>
            <a:ext cx="3154680"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p:nvPr/>
        </p:nvSpPr>
        <p:spPr>
          <a:xfrm>
            <a:off x="8119872" y="1746504"/>
            <a:ext cx="30083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200"/>
              <a:buFont typeface="Arial"/>
              <a:buNone/>
            </a:pPr>
            <a:r>
              <a:rPr b="1" i="0" lang="en-US" sz="1200" u="none" cap="none" strike="noStrike">
                <a:solidFill>
                  <a:srgbClr val="1E88E5"/>
                </a:solidFill>
                <a:latin typeface="Arial"/>
                <a:ea typeface="Arial"/>
                <a:cs typeface="Arial"/>
                <a:sym typeface="Arial"/>
              </a:rPr>
              <a:t>Aplicações</a:t>
            </a:r>
            <a:endParaRPr b="0" i="0" sz="1200" u="none" cap="none" strike="noStrike">
              <a:solidFill>
                <a:schemeClr val="dk1"/>
              </a:solidFill>
              <a:latin typeface="Arial"/>
              <a:ea typeface="Arial"/>
              <a:cs typeface="Arial"/>
              <a:sym typeface="Arial"/>
            </a:endParaRPr>
          </a:p>
        </p:txBody>
      </p:sp>
      <p:sp>
        <p:nvSpPr>
          <p:cNvPr id="24" name="Google Shape;24;p4"/>
          <p:cNvSpPr/>
          <p:nvPr/>
        </p:nvSpPr>
        <p:spPr>
          <a:xfrm>
            <a:off x="8046720" y="2313432"/>
            <a:ext cx="3154680" cy="530352"/>
          </a:xfrm>
          <a:prstGeom prst="roundRect">
            <a:avLst>
              <a:gd fmla="val 20690" name="adj"/>
            </a:avLst>
          </a:prstGeom>
          <a:solidFill>
            <a:srgbClr val="FFF3F3"/>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a:off x="8119872" y="2478024"/>
            <a:ext cx="30083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62828"/>
              </a:buClr>
              <a:buSzPts val="1200"/>
              <a:buFont typeface="Arial"/>
              <a:buNone/>
            </a:pPr>
            <a:r>
              <a:rPr b="1" i="0" lang="en-US" sz="1200" u="none" cap="none" strike="noStrike">
                <a:solidFill>
                  <a:srgbClr val="C62828"/>
                </a:solidFill>
                <a:latin typeface="Arial"/>
                <a:ea typeface="Arial"/>
                <a:cs typeface="Arial"/>
                <a:sym typeface="Arial"/>
              </a:rPr>
              <a:t>Sistema Operacional</a:t>
            </a:r>
            <a:endParaRPr b="0" i="0" sz="1200" u="none" cap="none" strike="noStrike">
              <a:solidFill>
                <a:schemeClr val="dk1"/>
              </a:solidFill>
              <a:latin typeface="Arial"/>
              <a:ea typeface="Arial"/>
              <a:cs typeface="Arial"/>
              <a:sym typeface="Arial"/>
            </a:endParaRPr>
          </a:p>
        </p:txBody>
      </p:sp>
      <p:sp>
        <p:nvSpPr>
          <p:cNvPr id="26" name="Google Shape;26;p4"/>
          <p:cNvSpPr/>
          <p:nvPr/>
        </p:nvSpPr>
        <p:spPr>
          <a:xfrm>
            <a:off x="8046720" y="3044952"/>
            <a:ext cx="3154680"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8119872" y="3209544"/>
            <a:ext cx="30083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1200"/>
              <a:buFont typeface="Arial"/>
              <a:buNone/>
            </a:pPr>
            <a:r>
              <a:rPr b="1" i="0" lang="en-US" sz="1200" u="none" cap="none" strike="noStrike">
                <a:solidFill>
                  <a:srgbClr val="2E7D32"/>
                </a:solidFill>
                <a:latin typeface="Arial"/>
                <a:ea typeface="Arial"/>
                <a:cs typeface="Arial"/>
                <a:sym typeface="Arial"/>
              </a:rPr>
              <a:t>Hardware</a:t>
            </a:r>
            <a:endParaRPr b="0" i="0" sz="1200" u="none" cap="none" strike="noStrike">
              <a:solidFill>
                <a:schemeClr val="dk1"/>
              </a:solidFill>
              <a:latin typeface="Arial"/>
              <a:ea typeface="Arial"/>
              <a:cs typeface="Arial"/>
              <a:sym typeface="Arial"/>
            </a:endParaRPr>
          </a:p>
        </p:txBody>
      </p:sp>
      <p:cxnSp>
        <p:nvCxnSpPr>
          <p:cNvPr id="28" name="Google Shape;28;p4"/>
          <p:cNvCxnSpPr/>
          <p:nvPr/>
        </p:nvCxnSpPr>
        <p:spPr>
          <a:xfrm>
            <a:off x="9619488" y="2103120"/>
            <a:ext cx="0" cy="201168"/>
          </a:xfrm>
          <a:prstGeom prst="straightConnector1">
            <a:avLst/>
          </a:prstGeom>
          <a:noFill/>
          <a:ln cap="flat" cmpd="sng" w="12700">
            <a:solidFill>
              <a:srgbClr val="1E88E5"/>
            </a:solidFill>
            <a:prstDash val="solid"/>
            <a:round/>
            <a:headEnd len="sm" w="sm" type="none"/>
            <a:tailEnd len="med" w="med" type="triangle"/>
          </a:ln>
        </p:spPr>
      </p:cxnSp>
      <p:cxnSp>
        <p:nvCxnSpPr>
          <p:cNvPr id="29" name="Google Shape;29;p4"/>
          <p:cNvCxnSpPr/>
          <p:nvPr/>
        </p:nvCxnSpPr>
        <p:spPr>
          <a:xfrm>
            <a:off x="9619488" y="2834640"/>
            <a:ext cx="0" cy="201168"/>
          </a:xfrm>
          <a:prstGeom prst="straightConnector1">
            <a:avLst/>
          </a:prstGeom>
          <a:noFill/>
          <a:ln cap="flat" cmpd="sng" w="12700">
            <a:solidFill>
              <a:srgbClr val="1E88E5"/>
            </a:solidFill>
            <a:prstDash val="solid"/>
            <a:round/>
            <a:headEnd len="sm" w="sm" type="none"/>
            <a:tailEnd len="med" w="med" type="triangle"/>
          </a:ln>
        </p:spPr>
      </p:cxnSp>
      <p:cxnSp>
        <p:nvCxnSpPr>
          <p:cNvPr id="30" name="Google Shape;30;p4"/>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31" name="Google Shape;31;p4"/>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4</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36" name="Shape 36"/>
        <p:cNvGrpSpPr/>
        <p:nvPr/>
      </p:nvGrpSpPr>
      <p:grpSpPr>
        <a:xfrm>
          <a:off x="0" y="0"/>
          <a:ext cx="0" cy="0"/>
          <a:chOff x="0" y="0"/>
          <a:chExt cx="0" cy="0"/>
        </a:xfrm>
      </p:grpSpPr>
      <p:sp>
        <p:nvSpPr>
          <p:cNvPr id="37" name="Google Shape;37;p5"/>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O que significa avaliar?</a:t>
            </a:r>
            <a:endParaRPr b="0" i="0" sz="3200" u="none" cap="none" strike="noStrike">
              <a:solidFill>
                <a:schemeClr val="dk1"/>
              </a:solidFill>
              <a:latin typeface="Arial"/>
              <a:ea typeface="Arial"/>
              <a:cs typeface="Arial"/>
              <a:sym typeface="Arial"/>
            </a:endParaRPr>
          </a:p>
        </p:txBody>
      </p:sp>
      <p:sp>
        <p:nvSpPr>
          <p:cNvPr id="39" name="Google Shape;39;p5"/>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De dados brutos a conclusões técnicas</a:t>
            </a:r>
            <a:endParaRPr b="0" i="0" sz="1450" u="none" cap="none" strike="noStrike">
              <a:solidFill>
                <a:schemeClr val="dk1"/>
              </a:solidFill>
              <a:latin typeface="Arial"/>
              <a:ea typeface="Arial"/>
              <a:cs typeface="Arial"/>
              <a:sym typeface="Arial"/>
            </a:endParaRPr>
          </a:p>
        </p:txBody>
      </p:sp>
      <p:sp>
        <p:nvSpPr>
          <p:cNvPr id="40" name="Google Shape;40;p5"/>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Avaliar um sistema operacional é analisar seu comportamento com critérios definidos. A medição coleta dados, como uso de CPU ou tempo de resposta. A avaliação interpreta esses dados, identifica causas prováveis e propõe ações, como ajuste de configuração, troca de hardware ou mudança de escalonamento.</a:t>
            </a:r>
            <a:endParaRPr b="0" i="0" sz="2400" u="none" cap="none" strike="noStrike">
              <a:solidFill>
                <a:schemeClr val="dk1"/>
              </a:solidFill>
              <a:latin typeface="Arial"/>
              <a:ea typeface="Arial"/>
              <a:cs typeface="Arial"/>
              <a:sym typeface="Arial"/>
            </a:endParaRPr>
          </a:p>
        </p:txBody>
      </p:sp>
      <p:sp>
        <p:nvSpPr>
          <p:cNvPr id="41" name="Google Shape;41;p5"/>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Medição coleta; avaliação interpreta.</a:t>
            </a:r>
            <a:endParaRPr b="0" i="0" sz="1050" u="none" cap="none" strike="noStrike">
              <a:solidFill>
                <a:schemeClr val="dk1"/>
              </a:solidFill>
              <a:latin typeface="Arial"/>
              <a:ea typeface="Arial"/>
              <a:cs typeface="Arial"/>
              <a:sym typeface="Arial"/>
            </a:endParaRPr>
          </a:p>
        </p:txBody>
      </p:sp>
      <p:sp>
        <p:nvSpPr>
          <p:cNvPr id="43" name="Google Shape;43;p5"/>
          <p:cNvSpPr/>
          <p:nvPr/>
        </p:nvSpPr>
        <p:spPr>
          <a:xfrm>
            <a:off x="8046720" y="1581912"/>
            <a:ext cx="822960" cy="822960"/>
          </a:xfrm>
          <a:prstGeom prst="ellipse">
            <a:avLst/>
          </a:prstGeom>
          <a:solidFill>
            <a:srgbClr val="1E88E5"/>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
          <p:cNvSpPr/>
          <p:nvPr/>
        </p:nvSpPr>
        <p:spPr>
          <a:xfrm>
            <a:off x="8046720" y="1865376"/>
            <a:ext cx="822960"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45" name="Google Shape;45;p5"/>
          <p:cNvSpPr/>
          <p:nvPr/>
        </p:nvSpPr>
        <p:spPr>
          <a:xfrm>
            <a:off x="10241280" y="1581912"/>
            <a:ext cx="822960" cy="822960"/>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10241280" y="1865376"/>
            <a:ext cx="822960"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2</a:t>
            </a:r>
            <a:endParaRPr b="0" i="0" sz="1400" u="none" cap="none" strike="noStrike">
              <a:solidFill>
                <a:schemeClr val="dk1"/>
              </a:solidFill>
              <a:latin typeface="Arial"/>
              <a:ea typeface="Arial"/>
              <a:cs typeface="Arial"/>
              <a:sym typeface="Arial"/>
            </a:endParaRPr>
          </a:p>
        </p:txBody>
      </p:sp>
      <p:sp>
        <p:nvSpPr>
          <p:cNvPr id="47" name="Google Shape;47;p5"/>
          <p:cNvSpPr/>
          <p:nvPr/>
        </p:nvSpPr>
        <p:spPr>
          <a:xfrm>
            <a:off x="10241280" y="3547872"/>
            <a:ext cx="822960" cy="822960"/>
          </a:xfrm>
          <a:prstGeom prst="ellipse">
            <a:avLst/>
          </a:prstGeom>
          <a:solidFill>
            <a:srgbClr val="F9A825"/>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a:off x="10241280" y="3831336"/>
            <a:ext cx="822960"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3</a:t>
            </a:r>
            <a:endParaRPr b="0" i="0" sz="1400" u="none" cap="none" strike="noStrike">
              <a:solidFill>
                <a:schemeClr val="dk1"/>
              </a:solidFill>
              <a:latin typeface="Arial"/>
              <a:ea typeface="Arial"/>
              <a:cs typeface="Arial"/>
              <a:sym typeface="Arial"/>
            </a:endParaRPr>
          </a:p>
        </p:txBody>
      </p:sp>
      <p:sp>
        <p:nvSpPr>
          <p:cNvPr id="49" name="Google Shape;49;p5"/>
          <p:cNvSpPr/>
          <p:nvPr/>
        </p:nvSpPr>
        <p:spPr>
          <a:xfrm>
            <a:off x="8046720" y="3547872"/>
            <a:ext cx="822960" cy="822960"/>
          </a:xfrm>
          <a:prstGeom prst="ellipse">
            <a:avLst/>
          </a:prstGeom>
          <a:solidFill>
            <a:srgbClr val="6A1B9A"/>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a:off x="8046720" y="3831336"/>
            <a:ext cx="822960"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4</a:t>
            </a:r>
            <a:endParaRPr b="0" i="0" sz="1400" u="none" cap="none" strike="noStrike">
              <a:solidFill>
                <a:schemeClr val="dk1"/>
              </a:solidFill>
              <a:latin typeface="Arial"/>
              <a:ea typeface="Arial"/>
              <a:cs typeface="Arial"/>
              <a:sym typeface="Arial"/>
            </a:endParaRPr>
          </a:p>
        </p:txBody>
      </p:sp>
      <p:sp>
        <p:nvSpPr>
          <p:cNvPr id="51" name="Google Shape;51;p5"/>
          <p:cNvSpPr/>
          <p:nvPr/>
        </p:nvSpPr>
        <p:spPr>
          <a:xfrm>
            <a:off x="8187250" y="1426457"/>
            <a:ext cx="177990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Objetivo</a:t>
            </a:r>
            <a:endParaRPr b="0" i="0" sz="1100" u="none" cap="none" strike="noStrike">
              <a:solidFill>
                <a:schemeClr val="dk1"/>
              </a:solidFill>
              <a:latin typeface="Arial"/>
              <a:ea typeface="Arial"/>
              <a:cs typeface="Arial"/>
              <a:sym typeface="Arial"/>
            </a:endParaRPr>
          </a:p>
        </p:txBody>
      </p:sp>
      <p:sp>
        <p:nvSpPr>
          <p:cNvPr id="52" name="Google Shape;52;p5"/>
          <p:cNvSpPr/>
          <p:nvPr/>
        </p:nvSpPr>
        <p:spPr>
          <a:xfrm>
            <a:off x="10213853" y="1851662"/>
            <a:ext cx="233160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Coleta</a:t>
            </a:r>
            <a:endParaRPr b="0" i="0" sz="1100" u="none" cap="none" strike="noStrike">
              <a:solidFill>
                <a:schemeClr val="dk1"/>
              </a:solidFill>
              <a:latin typeface="Arial"/>
              <a:ea typeface="Arial"/>
              <a:cs typeface="Arial"/>
              <a:sym typeface="Arial"/>
            </a:endParaRPr>
          </a:p>
        </p:txBody>
      </p:sp>
      <p:sp>
        <p:nvSpPr>
          <p:cNvPr id="53" name="Google Shape;53;p5"/>
          <p:cNvSpPr/>
          <p:nvPr/>
        </p:nvSpPr>
        <p:spPr>
          <a:xfrm>
            <a:off x="9372737" y="4334275"/>
            <a:ext cx="233160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Análise</a:t>
            </a:r>
            <a:endParaRPr b="0" i="0" sz="1100" u="none" cap="none" strike="noStrike">
              <a:solidFill>
                <a:schemeClr val="dk1"/>
              </a:solidFill>
              <a:latin typeface="Arial"/>
              <a:ea typeface="Arial"/>
              <a:cs typeface="Arial"/>
              <a:sym typeface="Arial"/>
            </a:endParaRPr>
          </a:p>
        </p:txBody>
      </p:sp>
      <p:sp>
        <p:nvSpPr>
          <p:cNvPr id="54" name="Google Shape;54;p5"/>
          <p:cNvSpPr/>
          <p:nvPr/>
        </p:nvSpPr>
        <p:spPr>
          <a:xfrm>
            <a:off x="7635543" y="3255287"/>
            <a:ext cx="233160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Ação</a:t>
            </a:r>
            <a:endParaRPr b="0" i="0" sz="1100" u="none" cap="none" strike="noStrike">
              <a:solidFill>
                <a:schemeClr val="dk1"/>
              </a:solidFill>
              <a:latin typeface="Arial"/>
              <a:ea typeface="Arial"/>
              <a:cs typeface="Arial"/>
              <a:sym typeface="Arial"/>
            </a:endParaRPr>
          </a:p>
        </p:txBody>
      </p:sp>
      <p:cxnSp>
        <p:nvCxnSpPr>
          <p:cNvPr id="55" name="Google Shape;55;p5"/>
          <p:cNvCxnSpPr/>
          <p:nvPr/>
        </p:nvCxnSpPr>
        <p:spPr>
          <a:xfrm>
            <a:off x="8778240" y="1993392"/>
            <a:ext cx="1435608" cy="0"/>
          </a:xfrm>
          <a:prstGeom prst="straightConnector1">
            <a:avLst/>
          </a:prstGeom>
          <a:noFill/>
          <a:ln cap="flat" cmpd="sng" w="12700">
            <a:solidFill>
              <a:srgbClr val="1E88E5"/>
            </a:solidFill>
            <a:prstDash val="solid"/>
            <a:round/>
            <a:headEnd len="sm" w="sm" type="none"/>
            <a:tailEnd len="med" w="med" type="triangle"/>
          </a:ln>
        </p:spPr>
      </p:cxnSp>
      <p:cxnSp>
        <p:nvCxnSpPr>
          <p:cNvPr id="56" name="Google Shape;56;p5"/>
          <p:cNvCxnSpPr/>
          <p:nvPr/>
        </p:nvCxnSpPr>
        <p:spPr>
          <a:xfrm>
            <a:off x="10652760" y="2404872"/>
            <a:ext cx="0" cy="1106424"/>
          </a:xfrm>
          <a:prstGeom prst="straightConnector1">
            <a:avLst/>
          </a:prstGeom>
          <a:noFill/>
          <a:ln cap="flat" cmpd="sng" w="12700">
            <a:solidFill>
              <a:srgbClr val="1E88E5"/>
            </a:solidFill>
            <a:prstDash val="solid"/>
            <a:round/>
            <a:headEnd len="sm" w="sm" type="none"/>
            <a:tailEnd len="med" w="med" type="triangle"/>
          </a:ln>
        </p:spPr>
      </p:cxnSp>
      <p:cxnSp>
        <p:nvCxnSpPr>
          <p:cNvPr id="57" name="Google Shape;57;p5"/>
          <p:cNvCxnSpPr/>
          <p:nvPr/>
        </p:nvCxnSpPr>
        <p:spPr>
          <a:xfrm rot="10800000">
            <a:off x="8897112" y="3959352"/>
            <a:ext cx="1344168" cy="0"/>
          </a:xfrm>
          <a:prstGeom prst="straightConnector1">
            <a:avLst/>
          </a:prstGeom>
          <a:noFill/>
          <a:ln cap="flat" cmpd="sng" w="12700">
            <a:solidFill>
              <a:srgbClr val="1E88E5"/>
            </a:solidFill>
            <a:prstDash val="solid"/>
            <a:round/>
            <a:headEnd len="sm" w="sm" type="none"/>
            <a:tailEnd len="med" w="med" type="triangle"/>
          </a:ln>
        </p:spPr>
      </p:cxnSp>
      <p:cxnSp>
        <p:nvCxnSpPr>
          <p:cNvPr id="58" name="Google Shape;58;p5"/>
          <p:cNvCxnSpPr/>
          <p:nvPr/>
        </p:nvCxnSpPr>
        <p:spPr>
          <a:xfrm rot="10800000">
            <a:off x="8458200" y="2423160"/>
            <a:ext cx="0" cy="1124712"/>
          </a:xfrm>
          <a:prstGeom prst="straightConnector1">
            <a:avLst/>
          </a:prstGeom>
          <a:noFill/>
          <a:ln cap="flat" cmpd="sng" w="12700">
            <a:solidFill>
              <a:srgbClr val="1E88E5"/>
            </a:solidFill>
            <a:prstDash val="solid"/>
            <a:round/>
            <a:headEnd len="sm" w="sm" type="none"/>
            <a:tailEnd len="med" w="med" type="triangle"/>
          </a:ln>
        </p:spPr>
      </p:cxnSp>
      <p:cxnSp>
        <p:nvCxnSpPr>
          <p:cNvPr id="59" name="Google Shape;59;p5"/>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60" name="Google Shape;60;p5"/>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5</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65" name="Shape 65"/>
        <p:cNvGrpSpPr/>
        <p:nvPr/>
      </p:nvGrpSpPr>
      <p:grpSpPr>
        <a:xfrm>
          <a:off x="0" y="0"/>
          <a:ext cx="0" cy="0"/>
          <a:chOff x="0" y="0"/>
          <a:chExt cx="0" cy="0"/>
        </a:xfrm>
      </p:grpSpPr>
      <p:sp>
        <p:nvSpPr>
          <p:cNvPr id="66" name="Google Shape;66;p6"/>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Por que avaliar sistemas operacionais?</a:t>
            </a:r>
            <a:endParaRPr b="0" i="0" sz="3200" u="none" cap="none" strike="noStrike">
              <a:solidFill>
                <a:schemeClr val="dk1"/>
              </a:solidFill>
              <a:latin typeface="Arial"/>
              <a:ea typeface="Arial"/>
              <a:cs typeface="Arial"/>
              <a:sym typeface="Arial"/>
            </a:endParaRPr>
          </a:p>
        </p:txBody>
      </p:sp>
      <p:sp>
        <p:nvSpPr>
          <p:cNvPr id="68" name="Google Shape;68;p6"/>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Decisões baseadas em evidências</a:t>
            </a:r>
            <a:endParaRPr b="0" i="0" sz="1450" u="none" cap="none" strike="noStrike">
              <a:solidFill>
                <a:schemeClr val="dk1"/>
              </a:solidFill>
              <a:latin typeface="Arial"/>
              <a:ea typeface="Arial"/>
              <a:cs typeface="Arial"/>
              <a:sym typeface="Arial"/>
            </a:endParaRPr>
          </a:p>
        </p:txBody>
      </p:sp>
      <p:sp>
        <p:nvSpPr>
          <p:cNvPr id="69" name="Google Shape;69;p6"/>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Sem avaliação, melhorias podem ser escolhidas por tentativa e erro. Com avaliação, é possível localizar gargalos, comparar versões de sistemas, validar configurações e verificar se o hardware está sendo bem utilizado. O resultado é uma decisão técnica mais segura e justificável.</a:t>
            </a:r>
            <a:endParaRPr b="0" i="0" sz="2400" u="none" cap="none" strike="noStrike">
              <a:solidFill>
                <a:schemeClr val="dk1"/>
              </a:solidFill>
              <a:latin typeface="Arial"/>
              <a:ea typeface="Arial"/>
              <a:cs typeface="Arial"/>
              <a:sym typeface="Arial"/>
            </a:endParaRPr>
          </a:p>
        </p:txBody>
      </p:sp>
      <p:sp>
        <p:nvSpPr>
          <p:cNvPr id="70" name="Google Shape;70;p6"/>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Evidência reduz tentativa e erro.</a:t>
            </a:r>
            <a:endParaRPr b="0" i="0" sz="1050" u="none" cap="none" strike="noStrike">
              <a:solidFill>
                <a:schemeClr val="dk1"/>
              </a:solidFill>
              <a:latin typeface="Arial"/>
              <a:ea typeface="Arial"/>
              <a:cs typeface="Arial"/>
              <a:sym typeface="Arial"/>
            </a:endParaRPr>
          </a:p>
        </p:txBody>
      </p:sp>
      <p:sp>
        <p:nvSpPr>
          <p:cNvPr id="72" name="Google Shape;72;p6"/>
          <p:cNvSpPr/>
          <p:nvPr/>
        </p:nvSpPr>
        <p:spPr>
          <a:xfrm>
            <a:off x="8138160" y="176479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p:nvPr/>
        </p:nvSpPr>
        <p:spPr>
          <a:xfrm>
            <a:off x="8138160" y="179222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74" name="Google Shape;74;p6"/>
          <p:cNvSpPr/>
          <p:nvPr/>
        </p:nvSpPr>
        <p:spPr>
          <a:xfrm>
            <a:off x="8549640" y="179222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Métrica certa</a:t>
            </a:r>
            <a:endParaRPr b="0" i="0" sz="1250" u="none" cap="none" strike="noStrike">
              <a:solidFill>
                <a:schemeClr val="dk1"/>
              </a:solidFill>
              <a:latin typeface="Arial"/>
              <a:ea typeface="Arial"/>
              <a:cs typeface="Arial"/>
              <a:sym typeface="Arial"/>
            </a:endParaRPr>
          </a:p>
        </p:txBody>
      </p:sp>
      <p:sp>
        <p:nvSpPr>
          <p:cNvPr id="75" name="Google Shape;75;p6"/>
          <p:cNvSpPr/>
          <p:nvPr/>
        </p:nvSpPr>
        <p:spPr>
          <a:xfrm>
            <a:off x="8138160" y="249631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a:off x="8138160" y="252374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77" name="Google Shape;77;p6"/>
          <p:cNvSpPr/>
          <p:nvPr/>
        </p:nvSpPr>
        <p:spPr>
          <a:xfrm>
            <a:off x="8549640" y="252374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Ambiente controlado</a:t>
            </a:r>
            <a:endParaRPr b="0" i="0" sz="1250" u="none" cap="none" strike="noStrike">
              <a:solidFill>
                <a:schemeClr val="dk1"/>
              </a:solidFill>
              <a:latin typeface="Arial"/>
              <a:ea typeface="Arial"/>
              <a:cs typeface="Arial"/>
              <a:sym typeface="Arial"/>
            </a:endParaRPr>
          </a:p>
        </p:txBody>
      </p:sp>
      <p:sp>
        <p:nvSpPr>
          <p:cNvPr id="78" name="Google Shape;78;p6"/>
          <p:cNvSpPr/>
          <p:nvPr/>
        </p:nvSpPr>
        <p:spPr>
          <a:xfrm>
            <a:off x="8138160" y="322783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8138160" y="325526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80" name="Google Shape;80;p6"/>
          <p:cNvSpPr/>
          <p:nvPr/>
        </p:nvSpPr>
        <p:spPr>
          <a:xfrm>
            <a:off x="8549640" y="325526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Amostras suficientes</a:t>
            </a:r>
            <a:endParaRPr b="0" i="0" sz="1250" u="none" cap="none" strike="noStrike">
              <a:solidFill>
                <a:schemeClr val="dk1"/>
              </a:solidFill>
              <a:latin typeface="Arial"/>
              <a:ea typeface="Arial"/>
              <a:cs typeface="Arial"/>
              <a:sym typeface="Arial"/>
            </a:endParaRPr>
          </a:p>
        </p:txBody>
      </p:sp>
      <p:sp>
        <p:nvSpPr>
          <p:cNvPr id="81" name="Google Shape;81;p6"/>
          <p:cNvSpPr/>
          <p:nvPr/>
        </p:nvSpPr>
        <p:spPr>
          <a:xfrm>
            <a:off x="8138160" y="395935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8138160" y="398678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83" name="Google Shape;83;p6"/>
          <p:cNvSpPr/>
          <p:nvPr/>
        </p:nvSpPr>
        <p:spPr>
          <a:xfrm>
            <a:off x="8549640" y="398678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Conclusão sustentada</a:t>
            </a:r>
            <a:endParaRPr b="0" i="0" sz="1250" u="none" cap="none" strike="noStrike">
              <a:solidFill>
                <a:schemeClr val="dk1"/>
              </a:solidFill>
              <a:latin typeface="Arial"/>
              <a:ea typeface="Arial"/>
              <a:cs typeface="Arial"/>
              <a:sym typeface="Arial"/>
            </a:endParaRPr>
          </a:p>
        </p:txBody>
      </p:sp>
      <p:cxnSp>
        <p:nvCxnSpPr>
          <p:cNvPr id="84" name="Google Shape;84;p6"/>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85" name="Google Shape;85;p6"/>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6</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90" name="Shape 90"/>
        <p:cNvGrpSpPr/>
        <p:nvPr/>
      </p:nvGrpSpPr>
      <p:grpSpPr>
        <a:xfrm>
          <a:off x="0" y="0"/>
          <a:ext cx="0" cy="0"/>
          <a:chOff x="0" y="0"/>
          <a:chExt cx="0" cy="0"/>
        </a:xfrm>
      </p:grpSpPr>
      <p:sp>
        <p:nvSpPr>
          <p:cNvPr id="91" name="Google Shape;91;p7"/>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Critérios de qualidade</a:t>
            </a:r>
            <a:endParaRPr b="0" i="0" sz="3200" u="none" cap="none" strike="noStrike">
              <a:solidFill>
                <a:schemeClr val="dk1"/>
              </a:solidFill>
              <a:latin typeface="Arial"/>
              <a:ea typeface="Arial"/>
              <a:cs typeface="Arial"/>
              <a:sym typeface="Arial"/>
            </a:endParaRPr>
          </a:p>
        </p:txBody>
      </p:sp>
      <p:sp>
        <p:nvSpPr>
          <p:cNvPr id="93" name="Google Shape;93;p7"/>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O que observar além da velocidade</a:t>
            </a:r>
            <a:endParaRPr b="0" i="0" sz="1450" u="none" cap="none" strike="noStrike">
              <a:solidFill>
                <a:schemeClr val="dk1"/>
              </a:solidFill>
              <a:latin typeface="Arial"/>
              <a:ea typeface="Arial"/>
              <a:cs typeface="Arial"/>
              <a:sym typeface="Arial"/>
            </a:endParaRPr>
          </a:p>
        </p:txBody>
      </p:sp>
      <p:sp>
        <p:nvSpPr>
          <p:cNvPr id="94" name="Google Shape;94;p7"/>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Um sistema operacional pode ser avaliado por eficiência, justiça, robustez, disponibilidade, segurança e escalabilidade. Velocidade é importante, mas não basta. Um sistema muito rápido para poucos processos pode ser inadequado se falhar, desperdiçar recursos ou prejudicar processos concorrentes.</a:t>
            </a:r>
            <a:endParaRPr b="0" i="0" sz="2400" u="none" cap="none" strike="noStrike">
              <a:solidFill>
                <a:schemeClr val="dk1"/>
              </a:solidFill>
              <a:latin typeface="Arial"/>
              <a:ea typeface="Arial"/>
              <a:cs typeface="Arial"/>
              <a:sym typeface="Arial"/>
            </a:endParaRPr>
          </a:p>
        </p:txBody>
      </p:sp>
      <p:sp>
        <p:nvSpPr>
          <p:cNvPr id="95" name="Google Shape;95;p7"/>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Critérios diferentes revelam problemas diferentes.</a:t>
            </a:r>
            <a:endParaRPr b="0" i="0" sz="1050" u="none" cap="none" strike="noStrike">
              <a:solidFill>
                <a:schemeClr val="dk1"/>
              </a:solidFill>
              <a:latin typeface="Arial"/>
              <a:ea typeface="Arial"/>
              <a:cs typeface="Arial"/>
              <a:sym typeface="Arial"/>
            </a:endParaRPr>
          </a:p>
        </p:txBody>
      </p:sp>
      <p:sp>
        <p:nvSpPr>
          <p:cNvPr id="97" name="Google Shape;97;p7"/>
          <p:cNvSpPr/>
          <p:nvPr/>
        </p:nvSpPr>
        <p:spPr>
          <a:xfrm>
            <a:off x="8046720" y="1883664"/>
            <a:ext cx="3154680" cy="256032"/>
          </a:xfrm>
          <a:prstGeom prst="roundRect">
            <a:avLst>
              <a:gd fmla="val 25000" name="adj"/>
            </a:avLst>
          </a:prstGeom>
          <a:solidFill>
            <a:srgbClr val="E7EEF8"/>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p:nvPr/>
        </p:nvSpPr>
        <p:spPr>
          <a:xfrm>
            <a:off x="8046720" y="1883664"/>
            <a:ext cx="2271370" cy="256032"/>
          </a:xfrm>
          <a:prstGeom prst="roundRect">
            <a:avLst>
              <a:gd fmla="val 25000" name="adj"/>
            </a:avLst>
          </a:prstGeom>
          <a:solidFill>
            <a:srgbClr val="1E88E5"/>
          </a:solidFill>
          <a:ln cap="flat" cmpd="sng" w="12700">
            <a:solidFill>
              <a:srgbClr val="1E88E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8046720" y="1636776"/>
            <a:ext cx="315468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324F"/>
              </a:buClr>
              <a:buSzPts val="1200"/>
              <a:buFont typeface="Arial"/>
              <a:buNone/>
            </a:pPr>
            <a:r>
              <a:rPr b="1" i="0" lang="en-US" sz="1200" u="none" cap="none" strike="noStrike">
                <a:solidFill>
                  <a:srgbClr val="16324F"/>
                </a:solidFill>
                <a:latin typeface="Arial"/>
                <a:ea typeface="Arial"/>
                <a:cs typeface="Arial"/>
                <a:sym typeface="Arial"/>
              </a:rPr>
              <a:t>CPU</a:t>
            </a:r>
            <a:endParaRPr b="0" i="0" sz="1200" u="none" cap="none" strike="noStrike">
              <a:solidFill>
                <a:schemeClr val="dk1"/>
              </a:solidFill>
              <a:latin typeface="Arial"/>
              <a:ea typeface="Arial"/>
              <a:cs typeface="Arial"/>
              <a:sym typeface="Arial"/>
            </a:endParaRPr>
          </a:p>
        </p:txBody>
      </p:sp>
      <p:sp>
        <p:nvSpPr>
          <p:cNvPr id="100" name="Google Shape;100;p7"/>
          <p:cNvSpPr/>
          <p:nvPr/>
        </p:nvSpPr>
        <p:spPr>
          <a:xfrm>
            <a:off x="8046720" y="2606040"/>
            <a:ext cx="3154680" cy="256032"/>
          </a:xfrm>
          <a:prstGeom prst="roundRect">
            <a:avLst>
              <a:gd fmla="val 25000" name="adj"/>
            </a:avLst>
          </a:prstGeom>
          <a:solidFill>
            <a:srgbClr val="E7EEF8"/>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
          <p:cNvSpPr/>
          <p:nvPr/>
        </p:nvSpPr>
        <p:spPr>
          <a:xfrm>
            <a:off x="8046720" y="2606040"/>
            <a:ext cx="1735074" cy="256032"/>
          </a:xfrm>
          <a:prstGeom prst="roundRect">
            <a:avLst>
              <a:gd fmla="val 25000" name="adj"/>
            </a:avLst>
          </a:prstGeom>
          <a:solidFill>
            <a:srgbClr val="2E7D32"/>
          </a:solidFill>
          <a:ln cap="flat" cmpd="sng" w="12700">
            <a:solidFill>
              <a:srgbClr val="2E7D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7"/>
          <p:cNvSpPr/>
          <p:nvPr/>
        </p:nvSpPr>
        <p:spPr>
          <a:xfrm>
            <a:off x="8046720" y="2359152"/>
            <a:ext cx="315468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324F"/>
              </a:buClr>
              <a:buSzPts val="1200"/>
              <a:buFont typeface="Arial"/>
              <a:buNone/>
            </a:pPr>
            <a:r>
              <a:rPr b="1" i="0" lang="en-US" sz="1200" u="none" cap="none" strike="noStrike">
                <a:solidFill>
                  <a:srgbClr val="16324F"/>
                </a:solidFill>
                <a:latin typeface="Arial"/>
                <a:ea typeface="Arial"/>
                <a:cs typeface="Arial"/>
                <a:sym typeface="Arial"/>
              </a:rPr>
              <a:t>Memória</a:t>
            </a:r>
            <a:endParaRPr b="0" i="0" sz="1200" u="none" cap="none" strike="noStrike">
              <a:solidFill>
                <a:schemeClr val="dk1"/>
              </a:solidFill>
              <a:latin typeface="Arial"/>
              <a:ea typeface="Arial"/>
              <a:cs typeface="Arial"/>
              <a:sym typeface="Arial"/>
            </a:endParaRPr>
          </a:p>
        </p:txBody>
      </p:sp>
      <p:sp>
        <p:nvSpPr>
          <p:cNvPr id="103" name="Google Shape;103;p7"/>
          <p:cNvSpPr/>
          <p:nvPr/>
        </p:nvSpPr>
        <p:spPr>
          <a:xfrm>
            <a:off x="8046720" y="3328416"/>
            <a:ext cx="3154680" cy="256032"/>
          </a:xfrm>
          <a:prstGeom prst="roundRect">
            <a:avLst>
              <a:gd fmla="val 25000" name="adj"/>
            </a:avLst>
          </a:prstGeom>
          <a:solidFill>
            <a:srgbClr val="E7EEF8"/>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7"/>
          <p:cNvSpPr/>
          <p:nvPr/>
        </p:nvSpPr>
        <p:spPr>
          <a:xfrm>
            <a:off x="8046720" y="3328416"/>
            <a:ext cx="2744572" cy="256032"/>
          </a:xfrm>
          <a:prstGeom prst="roundRect">
            <a:avLst>
              <a:gd fmla="val 25000" name="adj"/>
            </a:avLst>
          </a:prstGeom>
          <a:solidFill>
            <a:srgbClr val="F9A825"/>
          </a:solidFill>
          <a:ln cap="flat" cmpd="sng" w="12700">
            <a:solidFill>
              <a:srgbClr val="F9A82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7"/>
          <p:cNvSpPr/>
          <p:nvPr/>
        </p:nvSpPr>
        <p:spPr>
          <a:xfrm>
            <a:off x="8046720" y="3081528"/>
            <a:ext cx="315468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324F"/>
              </a:buClr>
              <a:buSzPts val="1200"/>
              <a:buFont typeface="Arial"/>
              <a:buNone/>
            </a:pPr>
            <a:r>
              <a:rPr b="1" i="0" lang="en-US" sz="1200" u="none" cap="none" strike="noStrike">
                <a:solidFill>
                  <a:srgbClr val="16324F"/>
                </a:solidFill>
                <a:latin typeface="Arial"/>
                <a:ea typeface="Arial"/>
                <a:cs typeface="Arial"/>
                <a:sym typeface="Arial"/>
              </a:rPr>
              <a:t>Disco/E/S</a:t>
            </a:r>
            <a:endParaRPr b="0" i="0" sz="1200" u="none" cap="none" strike="noStrike">
              <a:solidFill>
                <a:schemeClr val="dk1"/>
              </a:solidFill>
              <a:latin typeface="Arial"/>
              <a:ea typeface="Arial"/>
              <a:cs typeface="Arial"/>
              <a:sym typeface="Arial"/>
            </a:endParaRPr>
          </a:p>
        </p:txBody>
      </p:sp>
      <p:sp>
        <p:nvSpPr>
          <p:cNvPr id="106" name="Google Shape;106;p7"/>
          <p:cNvSpPr/>
          <p:nvPr/>
        </p:nvSpPr>
        <p:spPr>
          <a:xfrm>
            <a:off x="8046720" y="4050792"/>
            <a:ext cx="3154680" cy="256032"/>
          </a:xfrm>
          <a:prstGeom prst="roundRect">
            <a:avLst>
              <a:gd fmla="val 25000" name="adj"/>
            </a:avLst>
          </a:prstGeom>
          <a:solidFill>
            <a:srgbClr val="E7EEF8"/>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
          <p:cNvSpPr/>
          <p:nvPr/>
        </p:nvSpPr>
        <p:spPr>
          <a:xfrm>
            <a:off x="8046720" y="4050792"/>
            <a:ext cx="1198778" cy="256032"/>
          </a:xfrm>
          <a:prstGeom prst="roundRect">
            <a:avLst>
              <a:gd fmla="val 25000" name="adj"/>
            </a:avLst>
          </a:prstGeom>
          <a:solidFill>
            <a:srgbClr val="6A1B9A"/>
          </a:solidFill>
          <a:ln cap="flat" cmpd="sng" w="12700">
            <a:solidFill>
              <a:srgbClr val="6A1B9A">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a:off x="8046720" y="3803904"/>
            <a:ext cx="315468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324F"/>
              </a:buClr>
              <a:buSzPts val="1200"/>
              <a:buFont typeface="Arial"/>
              <a:buNone/>
            </a:pPr>
            <a:r>
              <a:rPr b="1" i="0" lang="en-US" sz="1200" u="none" cap="none" strike="noStrike">
                <a:solidFill>
                  <a:srgbClr val="16324F"/>
                </a:solidFill>
                <a:latin typeface="Arial"/>
                <a:ea typeface="Arial"/>
                <a:cs typeface="Arial"/>
                <a:sym typeface="Arial"/>
              </a:rPr>
              <a:t>Rede</a:t>
            </a:r>
            <a:endParaRPr b="0" i="0" sz="1200" u="none" cap="none" strike="noStrike">
              <a:solidFill>
                <a:schemeClr val="dk1"/>
              </a:solidFill>
              <a:latin typeface="Arial"/>
              <a:ea typeface="Arial"/>
              <a:cs typeface="Arial"/>
              <a:sym typeface="Arial"/>
            </a:endParaRPr>
          </a:p>
        </p:txBody>
      </p:sp>
      <p:cxnSp>
        <p:nvCxnSpPr>
          <p:cNvPr id="109" name="Google Shape;109;p7"/>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110" name="Google Shape;110;p7"/>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7</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15" name="Shape 115"/>
        <p:cNvGrpSpPr/>
        <p:nvPr/>
      </p:nvGrpSpPr>
      <p:grpSpPr>
        <a:xfrm>
          <a:off x="0" y="0"/>
          <a:ext cx="0" cy="0"/>
          <a:chOff x="0" y="0"/>
          <a:chExt cx="0" cy="0"/>
        </a:xfrm>
      </p:grpSpPr>
      <p:sp>
        <p:nvSpPr>
          <p:cNvPr id="116" name="Google Shape;116;p8"/>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Principais métricas</a:t>
            </a:r>
            <a:endParaRPr b="0" i="0" sz="3200" u="none" cap="none" strike="noStrike">
              <a:solidFill>
                <a:schemeClr val="dk1"/>
              </a:solidFill>
              <a:latin typeface="Arial"/>
              <a:ea typeface="Arial"/>
              <a:cs typeface="Arial"/>
              <a:sym typeface="Arial"/>
            </a:endParaRPr>
          </a:p>
        </p:txBody>
      </p:sp>
      <p:sp>
        <p:nvSpPr>
          <p:cNvPr id="118" name="Google Shape;118;p8"/>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Indicadores para observar o comportamento</a:t>
            </a:r>
            <a:endParaRPr b="0" i="0" sz="1450" u="none" cap="none" strike="noStrike">
              <a:solidFill>
                <a:schemeClr val="dk1"/>
              </a:solidFill>
              <a:latin typeface="Arial"/>
              <a:ea typeface="Arial"/>
              <a:cs typeface="Arial"/>
              <a:sym typeface="Arial"/>
            </a:endParaRPr>
          </a:p>
        </p:txBody>
      </p:sp>
      <p:sp>
        <p:nvSpPr>
          <p:cNvPr id="119" name="Google Shape;119;p8"/>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As métricas mais usadas são tempo de resposta, vazão, utilização de recursos, latência, throughput, taxa de erros, disponibilidade e escalabilidade. Cada métrica responde a uma pergunta diferente. Por isso, a escolha depende do objetivo da análise e do tipo de sistema avaliado.</a:t>
            </a:r>
            <a:endParaRPr b="0" i="0" sz="2400" u="none" cap="none" strike="noStrike">
              <a:solidFill>
                <a:schemeClr val="dk1"/>
              </a:solidFill>
              <a:latin typeface="Arial"/>
              <a:ea typeface="Arial"/>
              <a:cs typeface="Arial"/>
              <a:sym typeface="Arial"/>
            </a:endParaRPr>
          </a:p>
        </p:txBody>
      </p:sp>
      <p:sp>
        <p:nvSpPr>
          <p:cNvPr id="120" name="Google Shape;120;p8"/>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Métricas precisam estar ligadas ao objetivo.</a:t>
            </a:r>
            <a:endParaRPr b="0" i="0" sz="1050" u="none" cap="none" strike="noStrike">
              <a:solidFill>
                <a:schemeClr val="dk1"/>
              </a:solidFill>
              <a:latin typeface="Arial"/>
              <a:ea typeface="Arial"/>
              <a:cs typeface="Arial"/>
              <a:sym typeface="Arial"/>
            </a:endParaRPr>
          </a:p>
        </p:txBody>
      </p:sp>
      <p:sp>
        <p:nvSpPr>
          <p:cNvPr id="122" name="Google Shape;122;p8"/>
          <p:cNvSpPr/>
          <p:nvPr/>
        </p:nvSpPr>
        <p:spPr>
          <a:xfrm>
            <a:off x="8046720" y="1883664"/>
            <a:ext cx="3154680" cy="256032"/>
          </a:xfrm>
          <a:prstGeom prst="roundRect">
            <a:avLst>
              <a:gd fmla="val 25000" name="adj"/>
            </a:avLst>
          </a:prstGeom>
          <a:solidFill>
            <a:srgbClr val="E7EEF8"/>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
          <p:cNvSpPr/>
          <p:nvPr/>
        </p:nvSpPr>
        <p:spPr>
          <a:xfrm>
            <a:off x="8046720" y="1883664"/>
            <a:ext cx="2271370" cy="256032"/>
          </a:xfrm>
          <a:prstGeom prst="roundRect">
            <a:avLst>
              <a:gd fmla="val 25000" name="adj"/>
            </a:avLst>
          </a:prstGeom>
          <a:solidFill>
            <a:srgbClr val="1E88E5"/>
          </a:solidFill>
          <a:ln cap="flat" cmpd="sng" w="12700">
            <a:solidFill>
              <a:srgbClr val="1E88E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a:off x="8046720" y="1636776"/>
            <a:ext cx="315468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324F"/>
              </a:buClr>
              <a:buSzPts val="1200"/>
              <a:buFont typeface="Arial"/>
              <a:buNone/>
            </a:pPr>
            <a:r>
              <a:rPr b="1" i="0" lang="en-US" sz="1200" u="none" cap="none" strike="noStrike">
                <a:solidFill>
                  <a:srgbClr val="16324F"/>
                </a:solidFill>
                <a:latin typeface="Arial"/>
                <a:ea typeface="Arial"/>
                <a:cs typeface="Arial"/>
                <a:sym typeface="Arial"/>
              </a:rPr>
              <a:t>CPU</a:t>
            </a:r>
            <a:endParaRPr b="0" i="0" sz="1200" u="none" cap="none" strike="noStrike">
              <a:solidFill>
                <a:schemeClr val="dk1"/>
              </a:solidFill>
              <a:latin typeface="Arial"/>
              <a:ea typeface="Arial"/>
              <a:cs typeface="Arial"/>
              <a:sym typeface="Arial"/>
            </a:endParaRPr>
          </a:p>
        </p:txBody>
      </p:sp>
      <p:sp>
        <p:nvSpPr>
          <p:cNvPr id="125" name="Google Shape;125;p8"/>
          <p:cNvSpPr/>
          <p:nvPr/>
        </p:nvSpPr>
        <p:spPr>
          <a:xfrm>
            <a:off x="8046720" y="2606040"/>
            <a:ext cx="3154680" cy="256032"/>
          </a:xfrm>
          <a:prstGeom prst="roundRect">
            <a:avLst>
              <a:gd fmla="val 25000" name="adj"/>
            </a:avLst>
          </a:prstGeom>
          <a:solidFill>
            <a:srgbClr val="E7EEF8"/>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p:nvPr/>
        </p:nvSpPr>
        <p:spPr>
          <a:xfrm>
            <a:off x="8046720" y="2606040"/>
            <a:ext cx="1735074" cy="256032"/>
          </a:xfrm>
          <a:prstGeom prst="roundRect">
            <a:avLst>
              <a:gd fmla="val 25000" name="adj"/>
            </a:avLst>
          </a:prstGeom>
          <a:solidFill>
            <a:srgbClr val="2E7D32"/>
          </a:solidFill>
          <a:ln cap="flat" cmpd="sng" w="12700">
            <a:solidFill>
              <a:srgbClr val="2E7D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
          <p:cNvSpPr/>
          <p:nvPr/>
        </p:nvSpPr>
        <p:spPr>
          <a:xfrm>
            <a:off x="8046720" y="2359152"/>
            <a:ext cx="315468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324F"/>
              </a:buClr>
              <a:buSzPts val="1200"/>
              <a:buFont typeface="Arial"/>
              <a:buNone/>
            </a:pPr>
            <a:r>
              <a:rPr b="1" i="0" lang="en-US" sz="1200" u="none" cap="none" strike="noStrike">
                <a:solidFill>
                  <a:srgbClr val="16324F"/>
                </a:solidFill>
                <a:latin typeface="Arial"/>
                <a:ea typeface="Arial"/>
                <a:cs typeface="Arial"/>
                <a:sym typeface="Arial"/>
              </a:rPr>
              <a:t>Memória</a:t>
            </a:r>
            <a:endParaRPr b="0" i="0" sz="1200" u="none" cap="none" strike="noStrike">
              <a:solidFill>
                <a:schemeClr val="dk1"/>
              </a:solidFill>
              <a:latin typeface="Arial"/>
              <a:ea typeface="Arial"/>
              <a:cs typeface="Arial"/>
              <a:sym typeface="Arial"/>
            </a:endParaRPr>
          </a:p>
        </p:txBody>
      </p:sp>
      <p:sp>
        <p:nvSpPr>
          <p:cNvPr id="128" name="Google Shape;128;p8"/>
          <p:cNvSpPr/>
          <p:nvPr/>
        </p:nvSpPr>
        <p:spPr>
          <a:xfrm>
            <a:off x="8046720" y="3328416"/>
            <a:ext cx="3154680" cy="256032"/>
          </a:xfrm>
          <a:prstGeom prst="roundRect">
            <a:avLst>
              <a:gd fmla="val 25000" name="adj"/>
            </a:avLst>
          </a:prstGeom>
          <a:solidFill>
            <a:srgbClr val="E7EEF8"/>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p:nvPr/>
        </p:nvSpPr>
        <p:spPr>
          <a:xfrm>
            <a:off x="8046720" y="3328416"/>
            <a:ext cx="2744572" cy="256032"/>
          </a:xfrm>
          <a:prstGeom prst="roundRect">
            <a:avLst>
              <a:gd fmla="val 25000" name="adj"/>
            </a:avLst>
          </a:prstGeom>
          <a:solidFill>
            <a:srgbClr val="F9A825"/>
          </a:solidFill>
          <a:ln cap="flat" cmpd="sng" w="12700">
            <a:solidFill>
              <a:srgbClr val="F9A82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p:nvPr/>
        </p:nvSpPr>
        <p:spPr>
          <a:xfrm>
            <a:off x="8046720" y="3081528"/>
            <a:ext cx="315468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324F"/>
              </a:buClr>
              <a:buSzPts val="1200"/>
              <a:buFont typeface="Arial"/>
              <a:buNone/>
            </a:pPr>
            <a:r>
              <a:rPr b="1" i="0" lang="en-US" sz="1200" u="none" cap="none" strike="noStrike">
                <a:solidFill>
                  <a:srgbClr val="16324F"/>
                </a:solidFill>
                <a:latin typeface="Arial"/>
                <a:ea typeface="Arial"/>
                <a:cs typeface="Arial"/>
                <a:sym typeface="Arial"/>
              </a:rPr>
              <a:t>Disco/E/S</a:t>
            </a:r>
            <a:endParaRPr b="0" i="0" sz="1200" u="none" cap="none" strike="noStrike">
              <a:solidFill>
                <a:schemeClr val="dk1"/>
              </a:solidFill>
              <a:latin typeface="Arial"/>
              <a:ea typeface="Arial"/>
              <a:cs typeface="Arial"/>
              <a:sym typeface="Arial"/>
            </a:endParaRPr>
          </a:p>
        </p:txBody>
      </p:sp>
      <p:sp>
        <p:nvSpPr>
          <p:cNvPr id="131" name="Google Shape;131;p8"/>
          <p:cNvSpPr/>
          <p:nvPr/>
        </p:nvSpPr>
        <p:spPr>
          <a:xfrm>
            <a:off x="8046720" y="4050792"/>
            <a:ext cx="3154680" cy="256032"/>
          </a:xfrm>
          <a:prstGeom prst="roundRect">
            <a:avLst>
              <a:gd fmla="val 25000" name="adj"/>
            </a:avLst>
          </a:prstGeom>
          <a:solidFill>
            <a:srgbClr val="E7EEF8"/>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p:nvPr/>
        </p:nvSpPr>
        <p:spPr>
          <a:xfrm>
            <a:off x="8046720" y="4050792"/>
            <a:ext cx="1198778" cy="256032"/>
          </a:xfrm>
          <a:prstGeom prst="roundRect">
            <a:avLst>
              <a:gd fmla="val 25000" name="adj"/>
            </a:avLst>
          </a:prstGeom>
          <a:solidFill>
            <a:srgbClr val="6A1B9A"/>
          </a:solidFill>
          <a:ln cap="flat" cmpd="sng" w="12700">
            <a:solidFill>
              <a:srgbClr val="6A1B9A">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
          <p:cNvSpPr/>
          <p:nvPr/>
        </p:nvSpPr>
        <p:spPr>
          <a:xfrm>
            <a:off x="8046720" y="3803904"/>
            <a:ext cx="315468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324F"/>
              </a:buClr>
              <a:buSzPts val="1200"/>
              <a:buFont typeface="Arial"/>
              <a:buNone/>
            </a:pPr>
            <a:r>
              <a:rPr b="1" i="0" lang="en-US" sz="1200" u="none" cap="none" strike="noStrike">
                <a:solidFill>
                  <a:srgbClr val="16324F"/>
                </a:solidFill>
                <a:latin typeface="Arial"/>
                <a:ea typeface="Arial"/>
                <a:cs typeface="Arial"/>
                <a:sym typeface="Arial"/>
              </a:rPr>
              <a:t>Rede</a:t>
            </a:r>
            <a:endParaRPr b="0" i="0" sz="1200" u="none" cap="none" strike="noStrike">
              <a:solidFill>
                <a:schemeClr val="dk1"/>
              </a:solidFill>
              <a:latin typeface="Arial"/>
              <a:ea typeface="Arial"/>
              <a:cs typeface="Arial"/>
              <a:sym typeface="Arial"/>
            </a:endParaRPr>
          </a:p>
        </p:txBody>
      </p:sp>
      <p:cxnSp>
        <p:nvCxnSpPr>
          <p:cNvPr id="134" name="Google Shape;134;p8"/>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135" name="Google Shape;135;p8"/>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8</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40" name="Shape 140"/>
        <p:cNvGrpSpPr/>
        <p:nvPr/>
      </p:nvGrpSpPr>
      <p:grpSpPr>
        <a:xfrm>
          <a:off x="0" y="0"/>
          <a:ext cx="0" cy="0"/>
          <a:chOff x="0" y="0"/>
          <a:chExt cx="0" cy="0"/>
        </a:xfrm>
      </p:grpSpPr>
      <p:sp>
        <p:nvSpPr>
          <p:cNvPr id="141" name="Google Shape;141;p9"/>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9"/>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Tempo de resposta</a:t>
            </a:r>
            <a:endParaRPr b="0" i="0" sz="3200" u="none" cap="none" strike="noStrike">
              <a:solidFill>
                <a:schemeClr val="dk1"/>
              </a:solidFill>
              <a:latin typeface="Arial"/>
              <a:ea typeface="Arial"/>
              <a:cs typeface="Arial"/>
              <a:sym typeface="Arial"/>
            </a:endParaRPr>
          </a:p>
        </p:txBody>
      </p:sp>
      <p:sp>
        <p:nvSpPr>
          <p:cNvPr id="143" name="Google Shape;143;p9"/>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Quanto tempo o usuário espera?</a:t>
            </a:r>
            <a:endParaRPr b="0" i="0" sz="1450" u="none" cap="none" strike="noStrike">
              <a:solidFill>
                <a:schemeClr val="dk1"/>
              </a:solidFill>
              <a:latin typeface="Arial"/>
              <a:ea typeface="Arial"/>
              <a:cs typeface="Arial"/>
              <a:sym typeface="Arial"/>
            </a:endParaRPr>
          </a:p>
        </p:txBody>
      </p:sp>
      <p:sp>
        <p:nvSpPr>
          <p:cNvPr id="144" name="Google Shape;144;p9"/>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Tempo de resposta é o intervalo entre uma solicitação e a entrega do resultado percebido pelo usuário ou processo. Em sistemas interativos, ele afeta diretamente a experiência. Um tempo alto pode indicar fila de CPU, lentidão de disco, falta de memória ou contenção entre processos.</a:t>
            </a:r>
            <a:endParaRPr b="0" i="0" sz="2400" u="none" cap="none" strike="noStrike">
              <a:solidFill>
                <a:schemeClr val="dk1"/>
              </a:solidFill>
              <a:latin typeface="Arial"/>
              <a:ea typeface="Arial"/>
              <a:cs typeface="Arial"/>
              <a:sym typeface="Arial"/>
            </a:endParaRPr>
          </a:p>
        </p:txBody>
      </p:sp>
      <p:sp>
        <p:nvSpPr>
          <p:cNvPr id="145" name="Google Shape;145;p9"/>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9"/>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Resposta tende a piorar quando a carga cresce.</a:t>
            </a:r>
            <a:endParaRPr b="0" i="0" sz="1050" u="none" cap="none" strike="noStrike">
              <a:solidFill>
                <a:schemeClr val="dk1"/>
              </a:solidFill>
              <a:latin typeface="Arial"/>
              <a:ea typeface="Arial"/>
              <a:cs typeface="Arial"/>
              <a:sym typeface="Arial"/>
            </a:endParaRPr>
          </a:p>
        </p:txBody>
      </p:sp>
      <p:sp>
        <p:nvSpPr>
          <p:cNvPr id="147" name="Google Shape;147;p9"/>
          <p:cNvSpPr/>
          <p:nvPr/>
        </p:nvSpPr>
        <p:spPr>
          <a:xfrm>
            <a:off x="8138160" y="3792474"/>
            <a:ext cx="320040" cy="349758"/>
          </a:xfrm>
          <a:prstGeom prst="rect">
            <a:avLst/>
          </a:prstGeom>
          <a:solidFill>
            <a:srgbClr val="2E7D32"/>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9"/>
          <p:cNvSpPr/>
          <p:nvPr/>
        </p:nvSpPr>
        <p:spPr>
          <a:xfrm>
            <a:off x="8074152"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1</a:t>
            </a:r>
            <a:endParaRPr b="0" i="0" sz="900" u="none" cap="none" strike="noStrike">
              <a:solidFill>
                <a:schemeClr val="dk1"/>
              </a:solidFill>
              <a:latin typeface="Arial"/>
              <a:ea typeface="Arial"/>
              <a:cs typeface="Arial"/>
              <a:sym typeface="Arial"/>
            </a:endParaRPr>
          </a:p>
        </p:txBody>
      </p:sp>
      <p:sp>
        <p:nvSpPr>
          <p:cNvPr id="149" name="Google Shape;149;p9"/>
          <p:cNvSpPr/>
          <p:nvPr/>
        </p:nvSpPr>
        <p:spPr>
          <a:xfrm>
            <a:off x="8759952" y="3588449"/>
            <a:ext cx="320040" cy="553784"/>
          </a:xfrm>
          <a:prstGeom prst="rect">
            <a:avLst/>
          </a:prstGeom>
          <a:solidFill>
            <a:srgbClr val="2E7D32"/>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9"/>
          <p:cNvSpPr/>
          <p:nvPr/>
        </p:nvSpPr>
        <p:spPr>
          <a:xfrm>
            <a:off x="8695944"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2</a:t>
            </a:r>
            <a:endParaRPr b="0" i="0" sz="900" u="none" cap="none" strike="noStrike">
              <a:solidFill>
                <a:schemeClr val="dk1"/>
              </a:solidFill>
              <a:latin typeface="Arial"/>
              <a:ea typeface="Arial"/>
              <a:cs typeface="Arial"/>
              <a:sym typeface="Arial"/>
            </a:endParaRPr>
          </a:p>
        </p:txBody>
      </p:sp>
      <p:sp>
        <p:nvSpPr>
          <p:cNvPr id="151" name="Google Shape;151;p9"/>
          <p:cNvSpPr/>
          <p:nvPr/>
        </p:nvSpPr>
        <p:spPr>
          <a:xfrm>
            <a:off x="9381744" y="3209544"/>
            <a:ext cx="320040" cy="932688"/>
          </a:xfrm>
          <a:prstGeom prst="rect">
            <a:avLst/>
          </a:prstGeom>
          <a:solidFill>
            <a:srgbClr val="F9A825"/>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
          <p:cNvSpPr/>
          <p:nvPr/>
        </p:nvSpPr>
        <p:spPr>
          <a:xfrm>
            <a:off x="9317736"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3</a:t>
            </a:r>
            <a:endParaRPr b="0" i="0" sz="900" u="none" cap="none" strike="noStrike">
              <a:solidFill>
                <a:schemeClr val="dk1"/>
              </a:solidFill>
              <a:latin typeface="Arial"/>
              <a:ea typeface="Arial"/>
              <a:cs typeface="Arial"/>
              <a:sym typeface="Arial"/>
            </a:endParaRPr>
          </a:p>
        </p:txBody>
      </p:sp>
      <p:sp>
        <p:nvSpPr>
          <p:cNvPr id="153" name="Google Shape;153;p9"/>
          <p:cNvSpPr/>
          <p:nvPr/>
        </p:nvSpPr>
        <p:spPr>
          <a:xfrm>
            <a:off x="10003536" y="2568321"/>
            <a:ext cx="320040" cy="1573911"/>
          </a:xfrm>
          <a:prstGeom prst="rect">
            <a:avLst/>
          </a:prstGeom>
          <a:solidFill>
            <a:srgbClr val="F9A825"/>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9"/>
          <p:cNvSpPr/>
          <p:nvPr/>
        </p:nvSpPr>
        <p:spPr>
          <a:xfrm>
            <a:off x="9939528"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4</a:t>
            </a:r>
            <a:endParaRPr b="0" i="0" sz="900" u="none" cap="none" strike="noStrike">
              <a:solidFill>
                <a:schemeClr val="dk1"/>
              </a:solidFill>
              <a:latin typeface="Arial"/>
              <a:ea typeface="Arial"/>
              <a:cs typeface="Arial"/>
              <a:sym typeface="Arial"/>
            </a:endParaRPr>
          </a:p>
        </p:txBody>
      </p:sp>
      <p:sp>
        <p:nvSpPr>
          <p:cNvPr id="155" name="Google Shape;155;p9"/>
          <p:cNvSpPr/>
          <p:nvPr/>
        </p:nvSpPr>
        <p:spPr>
          <a:xfrm>
            <a:off x="10625328" y="1810512"/>
            <a:ext cx="320040" cy="2331720"/>
          </a:xfrm>
          <a:prstGeom prst="rect">
            <a:avLst/>
          </a:prstGeom>
          <a:solidFill>
            <a:srgbClr val="C62828"/>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9"/>
          <p:cNvSpPr/>
          <p:nvPr/>
        </p:nvSpPr>
        <p:spPr>
          <a:xfrm>
            <a:off x="10561320"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5</a:t>
            </a:r>
            <a:endParaRPr b="0" i="0" sz="900" u="none" cap="none" strike="noStrike">
              <a:solidFill>
                <a:schemeClr val="dk1"/>
              </a:solidFill>
              <a:latin typeface="Arial"/>
              <a:ea typeface="Arial"/>
              <a:cs typeface="Arial"/>
              <a:sym typeface="Arial"/>
            </a:endParaRPr>
          </a:p>
        </p:txBody>
      </p:sp>
      <p:cxnSp>
        <p:nvCxnSpPr>
          <p:cNvPr id="157" name="Google Shape;157;p9"/>
          <p:cNvCxnSpPr/>
          <p:nvPr/>
        </p:nvCxnSpPr>
        <p:spPr>
          <a:xfrm>
            <a:off x="7982712" y="1810512"/>
            <a:ext cx="0" cy="2423160"/>
          </a:xfrm>
          <a:prstGeom prst="straightConnector1">
            <a:avLst/>
          </a:prstGeom>
          <a:noFill/>
          <a:ln cap="flat" cmpd="sng" w="12700">
            <a:solidFill>
              <a:srgbClr val="D6DEE8"/>
            </a:solidFill>
            <a:prstDash val="solid"/>
            <a:round/>
            <a:headEnd len="sm" w="sm" type="none"/>
            <a:tailEnd len="sm" w="sm" type="none"/>
          </a:ln>
        </p:spPr>
      </p:cxnSp>
      <p:cxnSp>
        <p:nvCxnSpPr>
          <p:cNvPr id="158" name="Google Shape;158;p9"/>
          <p:cNvCxnSpPr/>
          <p:nvPr/>
        </p:nvCxnSpPr>
        <p:spPr>
          <a:xfrm>
            <a:off x="7982712" y="4233672"/>
            <a:ext cx="3337560" cy="0"/>
          </a:xfrm>
          <a:prstGeom prst="straightConnector1">
            <a:avLst/>
          </a:prstGeom>
          <a:noFill/>
          <a:ln cap="flat" cmpd="sng" w="12700">
            <a:solidFill>
              <a:srgbClr val="D6DEE8"/>
            </a:solidFill>
            <a:prstDash val="solid"/>
            <a:round/>
            <a:headEnd len="sm" w="sm" type="none"/>
            <a:tailEnd len="sm" w="sm" type="none"/>
          </a:ln>
        </p:spPr>
      </p:cxnSp>
      <p:sp>
        <p:nvSpPr>
          <p:cNvPr id="159" name="Google Shape;159;p9"/>
          <p:cNvSpPr/>
          <p:nvPr/>
        </p:nvSpPr>
        <p:spPr>
          <a:xfrm>
            <a:off x="8412480" y="1490472"/>
            <a:ext cx="23317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Tempo médio cresce com a carga</a:t>
            </a:r>
            <a:endParaRPr b="0" i="0" sz="1100" u="none" cap="none" strike="noStrike">
              <a:solidFill>
                <a:schemeClr val="dk1"/>
              </a:solidFill>
              <a:latin typeface="Arial"/>
              <a:ea typeface="Arial"/>
              <a:cs typeface="Arial"/>
              <a:sym typeface="Arial"/>
            </a:endParaRPr>
          </a:p>
        </p:txBody>
      </p:sp>
      <p:cxnSp>
        <p:nvCxnSpPr>
          <p:cNvPr id="160" name="Google Shape;160;p9"/>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161" name="Google Shape;161;p9"/>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9</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66" name="Shape 166"/>
        <p:cNvGrpSpPr/>
        <p:nvPr/>
      </p:nvGrpSpPr>
      <p:grpSpPr>
        <a:xfrm>
          <a:off x="0" y="0"/>
          <a:ext cx="0" cy="0"/>
          <a:chOff x="0" y="0"/>
          <a:chExt cx="0" cy="0"/>
        </a:xfrm>
      </p:grpSpPr>
      <p:sp>
        <p:nvSpPr>
          <p:cNvPr id="167" name="Google Shape;167;p10"/>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0"/>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Vazão do sistema</a:t>
            </a:r>
            <a:endParaRPr b="0" i="0" sz="3200" u="none" cap="none" strike="noStrike">
              <a:solidFill>
                <a:schemeClr val="dk1"/>
              </a:solidFill>
              <a:latin typeface="Arial"/>
              <a:ea typeface="Arial"/>
              <a:cs typeface="Arial"/>
              <a:sym typeface="Arial"/>
            </a:endParaRPr>
          </a:p>
        </p:txBody>
      </p:sp>
      <p:sp>
        <p:nvSpPr>
          <p:cNvPr id="169" name="Google Shape;169;p10"/>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Quantidade de trabalho concluído</a:t>
            </a:r>
            <a:endParaRPr b="0" i="0" sz="1450" u="none" cap="none" strike="noStrike">
              <a:solidFill>
                <a:schemeClr val="dk1"/>
              </a:solidFill>
              <a:latin typeface="Arial"/>
              <a:ea typeface="Arial"/>
              <a:cs typeface="Arial"/>
              <a:sym typeface="Arial"/>
            </a:endParaRPr>
          </a:p>
        </p:txBody>
      </p:sp>
      <p:sp>
        <p:nvSpPr>
          <p:cNvPr id="170" name="Google Shape;170;p10"/>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Vazão, ou throughput, mede quantas tarefas o sistema conclui em determinado período. Ela é útil para servidores, filas de processamento e ambientes multitarefa. A vazão pode aumentar com a carga até certo limite, mas depois tende a estabilizar ou cair quando surge saturação.</a:t>
            </a:r>
            <a:endParaRPr b="0" i="0" sz="2400" u="none" cap="none" strike="noStrike">
              <a:solidFill>
                <a:schemeClr val="dk1"/>
              </a:solidFill>
              <a:latin typeface="Arial"/>
              <a:ea typeface="Arial"/>
              <a:cs typeface="Arial"/>
              <a:sym typeface="Arial"/>
            </a:endParaRPr>
          </a:p>
        </p:txBody>
      </p:sp>
      <p:sp>
        <p:nvSpPr>
          <p:cNvPr id="171" name="Google Shape;171;p10"/>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0"/>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A vazão cresce até o limite do sistema.</a:t>
            </a:r>
            <a:endParaRPr b="0" i="0" sz="1050" u="none" cap="none" strike="noStrike">
              <a:solidFill>
                <a:schemeClr val="dk1"/>
              </a:solidFill>
              <a:latin typeface="Arial"/>
              <a:ea typeface="Arial"/>
              <a:cs typeface="Arial"/>
              <a:sym typeface="Arial"/>
            </a:endParaRPr>
          </a:p>
        </p:txBody>
      </p:sp>
      <p:sp>
        <p:nvSpPr>
          <p:cNvPr id="173" name="Google Shape;173;p10"/>
          <p:cNvSpPr/>
          <p:nvPr/>
        </p:nvSpPr>
        <p:spPr>
          <a:xfrm>
            <a:off x="8138160" y="3792474"/>
            <a:ext cx="320040" cy="349758"/>
          </a:xfrm>
          <a:prstGeom prst="rect">
            <a:avLst/>
          </a:prstGeom>
          <a:solidFill>
            <a:srgbClr val="2E7D32"/>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0"/>
          <p:cNvSpPr/>
          <p:nvPr/>
        </p:nvSpPr>
        <p:spPr>
          <a:xfrm>
            <a:off x="8074152"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1</a:t>
            </a:r>
            <a:endParaRPr b="0" i="0" sz="900" u="none" cap="none" strike="noStrike">
              <a:solidFill>
                <a:schemeClr val="dk1"/>
              </a:solidFill>
              <a:latin typeface="Arial"/>
              <a:ea typeface="Arial"/>
              <a:cs typeface="Arial"/>
              <a:sym typeface="Arial"/>
            </a:endParaRPr>
          </a:p>
        </p:txBody>
      </p:sp>
      <p:sp>
        <p:nvSpPr>
          <p:cNvPr id="175" name="Google Shape;175;p10"/>
          <p:cNvSpPr/>
          <p:nvPr/>
        </p:nvSpPr>
        <p:spPr>
          <a:xfrm>
            <a:off x="8759952" y="3588449"/>
            <a:ext cx="320040" cy="553784"/>
          </a:xfrm>
          <a:prstGeom prst="rect">
            <a:avLst/>
          </a:prstGeom>
          <a:solidFill>
            <a:srgbClr val="2E7D32"/>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0"/>
          <p:cNvSpPr/>
          <p:nvPr/>
        </p:nvSpPr>
        <p:spPr>
          <a:xfrm>
            <a:off x="8695944"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2</a:t>
            </a:r>
            <a:endParaRPr b="0" i="0" sz="900" u="none" cap="none" strike="noStrike">
              <a:solidFill>
                <a:schemeClr val="dk1"/>
              </a:solidFill>
              <a:latin typeface="Arial"/>
              <a:ea typeface="Arial"/>
              <a:cs typeface="Arial"/>
              <a:sym typeface="Arial"/>
            </a:endParaRPr>
          </a:p>
        </p:txBody>
      </p:sp>
      <p:sp>
        <p:nvSpPr>
          <p:cNvPr id="177" name="Google Shape;177;p10"/>
          <p:cNvSpPr/>
          <p:nvPr/>
        </p:nvSpPr>
        <p:spPr>
          <a:xfrm>
            <a:off x="9381744" y="3209544"/>
            <a:ext cx="320040" cy="932688"/>
          </a:xfrm>
          <a:prstGeom prst="rect">
            <a:avLst/>
          </a:prstGeom>
          <a:solidFill>
            <a:srgbClr val="F9A825"/>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0"/>
          <p:cNvSpPr/>
          <p:nvPr/>
        </p:nvSpPr>
        <p:spPr>
          <a:xfrm>
            <a:off x="9317736"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3</a:t>
            </a:r>
            <a:endParaRPr b="0" i="0" sz="900" u="none" cap="none" strike="noStrike">
              <a:solidFill>
                <a:schemeClr val="dk1"/>
              </a:solidFill>
              <a:latin typeface="Arial"/>
              <a:ea typeface="Arial"/>
              <a:cs typeface="Arial"/>
              <a:sym typeface="Arial"/>
            </a:endParaRPr>
          </a:p>
        </p:txBody>
      </p:sp>
      <p:sp>
        <p:nvSpPr>
          <p:cNvPr id="179" name="Google Shape;179;p10"/>
          <p:cNvSpPr/>
          <p:nvPr/>
        </p:nvSpPr>
        <p:spPr>
          <a:xfrm>
            <a:off x="10003536" y="2568321"/>
            <a:ext cx="320040" cy="1573911"/>
          </a:xfrm>
          <a:prstGeom prst="rect">
            <a:avLst/>
          </a:prstGeom>
          <a:solidFill>
            <a:srgbClr val="F9A825"/>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
          <p:cNvSpPr/>
          <p:nvPr/>
        </p:nvSpPr>
        <p:spPr>
          <a:xfrm>
            <a:off x="9939528"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4</a:t>
            </a:r>
            <a:endParaRPr b="0" i="0" sz="900" u="none" cap="none" strike="noStrike">
              <a:solidFill>
                <a:schemeClr val="dk1"/>
              </a:solidFill>
              <a:latin typeface="Arial"/>
              <a:ea typeface="Arial"/>
              <a:cs typeface="Arial"/>
              <a:sym typeface="Arial"/>
            </a:endParaRPr>
          </a:p>
        </p:txBody>
      </p:sp>
      <p:sp>
        <p:nvSpPr>
          <p:cNvPr id="181" name="Google Shape;181;p10"/>
          <p:cNvSpPr/>
          <p:nvPr/>
        </p:nvSpPr>
        <p:spPr>
          <a:xfrm>
            <a:off x="10625328" y="1810512"/>
            <a:ext cx="320040" cy="2331720"/>
          </a:xfrm>
          <a:prstGeom prst="rect">
            <a:avLst/>
          </a:prstGeom>
          <a:solidFill>
            <a:srgbClr val="C62828"/>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0"/>
          <p:cNvSpPr/>
          <p:nvPr/>
        </p:nvSpPr>
        <p:spPr>
          <a:xfrm>
            <a:off x="10561320"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5</a:t>
            </a:r>
            <a:endParaRPr b="0" i="0" sz="900" u="none" cap="none" strike="noStrike">
              <a:solidFill>
                <a:schemeClr val="dk1"/>
              </a:solidFill>
              <a:latin typeface="Arial"/>
              <a:ea typeface="Arial"/>
              <a:cs typeface="Arial"/>
              <a:sym typeface="Arial"/>
            </a:endParaRPr>
          </a:p>
        </p:txBody>
      </p:sp>
      <p:cxnSp>
        <p:nvCxnSpPr>
          <p:cNvPr id="183" name="Google Shape;183;p10"/>
          <p:cNvCxnSpPr/>
          <p:nvPr/>
        </p:nvCxnSpPr>
        <p:spPr>
          <a:xfrm>
            <a:off x="7982712" y="1810512"/>
            <a:ext cx="0" cy="2423160"/>
          </a:xfrm>
          <a:prstGeom prst="straightConnector1">
            <a:avLst/>
          </a:prstGeom>
          <a:noFill/>
          <a:ln cap="flat" cmpd="sng" w="12700">
            <a:solidFill>
              <a:srgbClr val="D6DEE8"/>
            </a:solidFill>
            <a:prstDash val="solid"/>
            <a:round/>
            <a:headEnd len="sm" w="sm" type="none"/>
            <a:tailEnd len="sm" w="sm" type="none"/>
          </a:ln>
        </p:spPr>
      </p:cxnSp>
      <p:cxnSp>
        <p:nvCxnSpPr>
          <p:cNvPr id="184" name="Google Shape;184;p10"/>
          <p:cNvCxnSpPr/>
          <p:nvPr/>
        </p:nvCxnSpPr>
        <p:spPr>
          <a:xfrm>
            <a:off x="7982712" y="4233672"/>
            <a:ext cx="3337560" cy="0"/>
          </a:xfrm>
          <a:prstGeom prst="straightConnector1">
            <a:avLst/>
          </a:prstGeom>
          <a:noFill/>
          <a:ln cap="flat" cmpd="sng" w="12700">
            <a:solidFill>
              <a:srgbClr val="D6DEE8"/>
            </a:solidFill>
            <a:prstDash val="solid"/>
            <a:round/>
            <a:headEnd len="sm" w="sm" type="none"/>
            <a:tailEnd len="sm" w="sm" type="none"/>
          </a:ln>
        </p:spPr>
      </p:cxnSp>
      <p:sp>
        <p:nvSpPr>
          <p:cNvPr id="185" name="Google Shape;185;p10"/>
          <p:cNvSpPr/>
          <p:nvPr/>
        </p:nvSpPr>
        <p:spPr>
          <a:xfrm>
            <a:off x="8412480" y="1490472"/>
            <a:ext cx="23317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Tempo médio cresce com a carga</a:t>
            </a:r>
            <a:endParaRPr b="0" i="0" sz="1100" u="none" cap="none" strike="noStrike">
              <a:solidFill>
                <a:schemeClr val="dk1"/>
              </a:solidFill>
              <a:latin typeface="Arial"/>
              <a:ea typeface="Arial"/>
              <a:cs typeface="Arial"/>
              <a:sym typeface="Arial"/>
            </a:endParaRPr>
          </a:p>
        </p:txBody>
      </p:sp>
      <p:cxnSp>
        <p:nvCxnSpPr>
          <p:cNvPr id="186" name="Google Shape;186;p10"/>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187" name="Google Shape;187;p10"/>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10</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92" name="Shape 192"/>
        <p:cNvGrpSpPr/>
        <p:nvPr/>
      </p:nvGrpSpPr>
      <p:grpSpPr>
        <a:xfrm>
          <a:off x="0" y="0"/>
          <a:ext cx="0" cy="0"/>
          <a:chOff x="0" y="0"/>
          <a:chExt cx="0" cy="0"/>
        </a:xfrm>
      </p:grpSpPr>
      <p:sp>
        <p:nvSpPr>
          <p:cNvPr id="193" name="Google Shape;193;p11"/>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1"/>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Utilização de recursos</a:t>
            </a:r>
            <a:endParaRPr b="0" i="0" sz="3200" u="none" cap="none" strike="noStrike">
              <a:solidFill>
                <a:schemeClr val="dk1"/>
              </a:solidFill>
              <a:latin typeface="Arial"/>
              <a:ea typeface="Arial"/>
              <a:cs typeface="Arial"/>
              <a:sym typeface="Arial"/>
            </a:endParaRPr>
          </a:p>
        </p:txBody>
      </p:sp>
      <p:sp>
        <p:nvSpPr>
          <p:cNvPr id="195" name="Google Shape;195;p11"/>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CPU, memória, disco e rede</a:t>
            </a:r>
            <a:endParaRPr b="0" i="0" sz="1450" u="none" cap="none" strike="noStrike">
              <a:solidFill>
                <a:schemeClr val="dk1"/>
              </a:solidFill>
              <a:latin typeface="Arial"/>
              <a:ea typeface="Arial"/>
              <a:cs typeface="Arial"/>
              <a:sym typeface="Arial"/>
            </a:endParaRPr>
          </a:p>
        </p:txBody>
      </p:sp>
      <p:sp>
        <p:nvSpPr>
          <p:cNvPr id="196" name="Google Shape;196;p11"/>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Utilização indica quanto de um recurso está ocupado. CPU em 95% pode ser normal em processamento intenso, mas preocupante em sistema interativo. Memória cheia pode ser aceitável por causa de cache, enquanto disco com alta espera pode indicar gargalo real.</a:t>
            </a:r>
            <a:endParaRPr b="0" i="0" sz="2400" u="none" cap="none" strike="noStrike">
              <a:solidFill>
                <a:schemeClr val="dk1"/>
              </a:solidFill>
              <a:latin typeface="Arial"/>
              <a:ea typeface="Arial"/>
              <a:cs typeface="Arial"/>
              <a:sym typeface="Arial"/>
            </a:endParaRPr>
          </a:p>
        </p:txBody>
      </p:sp>
      <p:sp>
        <p:nvSpPr>
          <p:cNvPr id="197" name="Google Shape;197;p11"/>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1"/>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Uso alto nem sempre é problema.</a:t>
            </a:r>
            <a:endParaRPr b="0" i="0" sz="1050" u="none" cap="none" strike="noStrike">
              <a:solidFill>
                <a:schemeClr val="dk1"/>
              </a:solidFill>
              <a:latin typeface="Arial"/>
              <a:ea typeface="Arial"/>
              <a:cs typeface="Arial"/>
              <a:sym typeface="Arial"/>
            </a:endParaRPr>
          </a:p>
        </p:txBody>
      </p:sp>
      <p:sp>
        <p:nvSpPr>
          <p:cNvPr id="199" name="Google Shape;199;p11"/>
          <p:cNvSpPr/>
          <p:nvPr/>
        </p:nvSpPr>
        <p:spPr>
          <a:xfrm>
            <a:off x="8046720" y="1883664"/>
            <a:ext cx="3154680" cy="256032"/>
          </a:xfrm>
          <a:prstGeom prst="roundRect">
            <a:avLst>
              <a:gd fmla="val 25000" name="adj"/>
            </a:avLst>
          </a:prstGeom>
          <a:solidFill>
            <a:srgbClr val="E7EEF8"/>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a:off x="8046720" y="1883664"/>
            <a:ext cx="2271370" cy="256032"/>
          </a:xfrm>
          <a:prstGeom prst="roundRect">
            <a:avLst>
              <a:gd fmla="val 25000" name="adj"/>
            </a:avLst>
          </a:prstGeom>
          <a:solidFill>
            <a:srgbClr val="1E88E5"/>
          </a:solidFill>
          <a:ln cap="flat" cmpd="sng" w="12700">
            <a:solidFill>
              <a:srgbClr val="1E88E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a:off x="8046720" y="1636776"/>
            <a:ext cx="315468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324F"/>
              </a:buClr>
              <a:buSzPts val="1200"/>
              <a:buFont typeface="Arial"/>
              <a:buNone/>
            </a:pPr>
            <a:r>
              <a:rPr b="1" i="0" lang="en-US" sz="1200" u="none" cap="none" strike="noStrike">
                <a:solidFill>
                  <a:srgbClr val="16324F"/>
                </a:solidFill>
                <a:latin typeface="Arial"/>
                <a:ea typeface="Arial"/>
                <a:cs typeface="Arial"/>
                <a:sym typeface="Arial"/>
              </a:rPr>
              <a:t>CPU</a:t>
            </a:r>
            <a:endParaRPr b="0" i="0" sz="1200" u="none" cap="none" strike="noStrike">
              <a:solidFill>
                <a:schemeClr val="dk1"/>
              </a:solidFill>
              <a:latin typeface="Arial"/>
              <a:ea typeface="Arial"/>
              <a:cs typeface="Arial"/>
              <a:sym typeface="Arial"/>
            </a:endParaRPr>
          </a:p>
        </p:txBody>
      </p:sp>
      <p:sp>
        <p:nvSpPr>
          <p:cNvPr id="202" name="Google Shape;202;p11"/>
          <p:cNvSpPr/>
          <p:nvPr/>
        </p:nvSpPr>
        <p:spPr>
          <a:xfrm>
            <a:off x="8046720" y="2606040"/>
            <a:ext cx="3154680" cy="256032"/>
          </a:xfrm>
          <a:prstGeom prst="roundRect">
            <a:avLst>
              <a:gd fmla="val 25000" name="adj"/>
            </a:avLst>
          </a:prstGeom>
          <a:solidFill>
            <a:srgbClr val="E7EEF8"/>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1"/>
          <p:cNvSpPr/>
          <p:nvPr/>
        </p:nvSpPr>
        <p:spPr>
          <a:xfrm>
            <a:off x="8046720" y="2606040"/>
            <a:ext cx="1735074" cy="256032"/>
          </a:xfrm>
          <a:prstGeom prst="roundRect">
            <a:avLst>
              <a:gd fmla="val 25000" name="adj"/>
            </a:avLst>
          </a:prstGeom>
          <a:solidFill>
            <a:srgbClr val="2E7D32"/>
          </a:solidFill>
          <a:ln cap="flat" cmpd="sng" w="12700">
            <a:solidFill>
              <a:srgbClr val="2E7D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1"/>
          <p:cNvSpPr/>
          <p:nvPr/>
        </p:nvSpPr>
        <p:spPr>
          <a:xfrm>
            <a:off x="8046720" y="2359152"/>
            <a:ext cx="315468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324F"/>
              </a:buClr>
              <a:buSzPts val="1200"/>
              <a:buFont typeface="Arial"/>
              <a:buNone/>
            </a:pPr>
            <a:r>
              <a:rPr b="1" i="0" lang="en-US" sz="1200" u="none" cap="none" strike="noStrike">
                <a:solidFill>
                  <a:srgbClr val="16324F"/>
                </a:solidFill>
                <a:latin typeface="Arial"/>
                <a:ea typeface="Arial"/>
                <a:cs typeface="Arial"/>
                <a:sym typeface="Arial"/>
              </a:rPr>
              <a:t>Memória</a:t>
            </a:r>
            <a:endParaRPr b="0" i="0" sz="1200" u="none" cap="none" strike="noStrike">
              <a:solidFill>
                <a:schemeClr val="dk1"/>
              </a:solidFill>
              <a:latin typeface="Arial"/>
              <a:ea typeface="Arial"/>
              <a:cs typeface="Arial"/>
              <a:sym typeface="Arial"/>
            </a:endParaRPr>
          </a:p>
        </p:txBody>
      </p:sp>
      <p:sp>
        <p:nvSpPr>
          <p:cNvPr id="205" name="Google Shape;205;p11"/>
          <p:cNvSpPr/>
          <p:nvPr/>
        </p:nvSpPr>
        <p:spPr>
          <a:xfrm>
            <a:off x="8046720" y="3328416"/>
            <a:ext cx="3154680" cy="256032"/>
          </a:xfrm>
          <a:prstGeom prst="roundRect">
            <a:avLst>
              <a:gd fmla="val 25000" name="adj"/>
            </a:avLst>
          </a:prstGeom>
          <a:solidFill>
            <a:srgbClr val="E7EEF8"/>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a:off x="8046720" y="3328416"/>
            <a:ext cx="2744572" cy="256032"/>
          </a:xfrm>
          <a:prstGeom prst="roundRect">
            <a:avLst>
              <a:gd fmla="val 25000" name="adj"/>
            </a:avLst>
          </a:prstGeom>
          <a:solidFill>
            <a:srgbClr val="F9A825"/>
          </a:solidFill>
          <a:ln cap="flat" cmpd="sng" w="12700">
            <a:solidFill>
              <a:srgbClr val="F9A82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a:off x="8046720" y="3081528"/>
            <a:ext cx="315468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324F"/>
              </a:buClr>
              <a:buSzPts val="1200"/>
              <a:buFont typeface="Arial"/>
              <a:buNone/>
            </a:pPr>
            <a:r>
              <a:rPr b="1" i="0" lang="en-US" sz="1200" u="none" cap="none" strike="noStrike">
                <a:solidFill>
                  <a:srgbClr val="16324F"/>
                </a:solidFill>
                <a:latin typeface="Arial"/>
                <a:ea typeface="Arial"/>
                <a:cs typeface="Arial"/>
                <a:sym typeface="Arial"/>
              </a:rPr>
              <a:t>Disco/E/S</a:t>
            </a:r>
            <a:endParaRPr b="0" i="0" sz="1200" u="none" cap="none" strike="noStrike">
              <a:solidFill>
                <a:schemeClr val="dk1"/>
              </a:solidFill>
              <a:latin typeface="Arial"/>
              <a:ea typeface="Arial"/>
              <a:cs typeface="Arial"/>
              <a:sym typeface="Arial"/>
            </a:endParaRPr>
          </a:p>
        </p:txBody>
      </p:sp>
      <p:sp>
        <p:nvSpPr>
          <p:cNvPr id="208" name="Google Shape;208;p11"/>
          <p:cNvSpPr/>
          <p:nvPr/>
        </p:nvSpPr>
        <p:spPr>
          <a:xfrm>
            <a:off x="8046720" y="4050792"/>
            <a:ext cx="3154680" cy="256032"/>
          </a:xfrm>
          <a:prstGeom prst="roundRect">
            <a:avLst>
              <a:gd fmla="val 25000" name="adj"/>
            </a:avLst>
          </a:prstGeom>
          <a:solidFill>
            <a:srgbClr val="E7EEF8"/>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1"/>
          <p:cNvSpPr/>
          <p:nvPr/>
        </p:nvSpPr>
        <p:spPr>
          <a:xfrm>
            <a:off x="8046720" y="4050792"/>
            <a:ext cx="1198778" cy="256032"/>
          </a:xfrm>
          <a:prstGeom prst="roundRect">
            <a:avLst>
              <a:gd fmla="val 25000" name="adj"/>
            </a:avLst>
          </a:prstGeom>
          <a:solidFill>
            <a:srgbClr val="6A1B9A"/>
          </a:solidFill>
          <a:ln cap="flat" cmpd="sng" w="12700">
            <a:solidFill>
              <a:srgbClr val="6A1B9A">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a:off x="8046720" y="3803904"/>
            <a:ext cx="315468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324F"/>
              </a:buClr>
              <a:buSzPts val="1200"/>
              <a:buFont typeface="Arial"/>
              <a:buNone/>
            </a:pPr>
            <a:r>
              <a:rPr b="1" i="0" lang="en-US" sz="1200" u="none" cap="none" strike="noStrike">
                <a:solidFill>
                  <a:srgbClr val="16324F"/>
                </a:solidFill>
                <a:latin typeface="Arial"/>
                <a:ea typeface="Arial"/>
                <a:cs typeface="Arial"/>
                <a:sym typeface="Arial"/>
              </a:rPr>
              <a:t>Rede</a:t>
            </a:r>
            <a:endParaRPr b="0" i="0" sz="1200" u="none" cap="none" strike="noStrike">
              <a:solidFill>
                <a:schemeClr val="dk1"/>
              </a:solidFill>
              <a:latin typeface="Arial"/>
              <a:ea typeface="Arial"/>
              <a:cs typeface="Arial"/>
              <a:sym typeface="Arial"/>
            </a:endParaRPr>
          </a:p>
        </p:txBody>
      </p:sp>
      <p:cxnSp>
        <p:nvCxnSpPr>
          <p:cNvPr id="211" name="Google Shape;211;p11"/>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212" name="Google Shape;212;p11"/>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11</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17" name="Shape 217"/>
        <p:cNvGrpSpPr/>
        <p:nvPr/>
      </p:nvGrpSpPr>
      <p:grpSpPr>
        <a:xfrm>
          <a:off x="0" y="0"/>
          <a:ext cx="0" cy="0"/>
          <a:chOff x="0" y="0"/>
          <a:chExt cx="0" cy="0"/>
        </a:xfrm>
      </p:grpSpPr>
      <p:sp>
        <p:nvSpPr>
          <p:cNvPr id="218" name="Google Shape;218;p12"/>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2"/>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Latência</a:t>
            </a:r>
            <a:endParaRPr b="0" i="0" sz="3200" u="none" cap="none" strike="noStrike">
              <a:solidFill>
                <a:schemeClr val="dk1"/>
              </a:solidFill>
              <a:latin typeface="Arial"/>
              <a:ea typeface="Arial"/>
              <a:cs typeface="Arial"/>
              <a:sym typeface="Arial"/>
            </a:endParaRPr>
          </a:p>
        </p:txBody>
      </p:sp>
      <p:sp>
        <p:nvSpPr>
          <p:cNvPr id="220" name="Google Shape;220;p12"/>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Atraso mínimo percebido em uma operação</a:t>
            </a:r>
            <a:endParaRPr b="0" i="0" sz="1450" u="none" cap="none" strike="noStrike">
              <a:solidFill>
                <a:schemeClr val="dk1"/>
              </a:solidFill>
              <a:latin typeface="Arial"/>
              <a:ea typeface="Arial"/>
              <a:cs typeface="Arial"/>
              <a:sym typeface="Arial"/>
            </a:endParaRPr>
          </a:p>
        </p:txBody>
      </p:sp>
      <p:sp>
        <p:nvSpPr>
          <p:cNvPr id="221" name="Google Shape;221;p12"/>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Latência é o atraso entre o início de uma operação e o primeiro sinal de resposta. Em sistemas operacionais, aparece em leitura de disco, acesso à memória, troca de contexto, comunicação de rede e interrupções. Baixa latência é essencial em sistemas interativos e tempo real.</a:t>
            </a:r>
            <a:endParaRPr b="0" i="0" sz="2400" u="none" cap="none" strike="noStrike">
              <a:solidFill>
                <a:schemeClr val="dk1"/>
              </a:solidFill>
              <a:latin typeface="Arial"/>
              <a:ea typeface="Arial"/>
              <a:cs typeface="Arial"/>
              <a:sym typeface="Arial"/>
            </a:endParaRPr>
          </a:p>
        </p:txBody>
      </p:sp>
      <p:sp>
        <p:nvSpPr>
          <p:cNvPr id="222" name="Google Shape;222;p12"/>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2"/>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Latência aparece antes do processamento útil.</a:t>
            </a:r>
            <a:endParaRPr b="0" i="0" sz="1050" u="none" cap="none" strike="noStrike">
              <a:solidFill>
                <a:schemeClr val="dk1"/>
              </a:solidFill>
              <a:latin typeface="Arial"/>
              <a:ea typeface="Arial"/>
              <a:cs typeface="Arial"/>
              <a:sym typeface="Arial"/>
            </a:endParaRPr>
          </a:p>
        </p:txBody>
      </p:sp>
      <p:sp>
        <p:nvSpPr>
          <p:cNvPr id="224" name="Google Shape;224;p12"/>
          <p:cNvSpPr/>
          <p:nvPr/>
        </p:nvSpPr>
        <p:spPr>
          <a:xfrm>
            <a:off x="7818120" y="2084832"/>
            <a:ext cx="1097280"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2"/>
          <p:cNvSpPr/>
          <p:nvPr/>
        </p:nvSpPr>
        <p:spPr>
          <a:xfrm>
            <a:off x="7891272" y="2249424"/>
            <a:ext cx="9509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200"/>
              <a:buFont typeface="Arial"/>
              <a:buNone/>
            </a:pPr>
            <a:r>
              <a:rPr b="1" i="0" lang="en-US" sz="1200" u="none" cap="none" strike="noStrike">
                <a:solidFill>
                  <a:srgbClr val="1E88E5"/>
                </a:solidFill>
                <a:latin typeface="Arial"/>
                <a:ea typeface="Arial"/>
                <a:cs typeface="Arial"/>
                <a:sym typeface="Arial"/>
              </a:rPr>
              <a:t>Chegada</a:t>
            </a:r>
            <a:endParaRPr b="0" i="0" sz="1200" u="none" cap="none" strike="noStrike">
              <a:solidFill>
                <a:schemeClr val="dk1"/>
              </a:solidFill>
              <a:latin typeface="Arial"/>
              <a:ea typeface="Arial"/>
              <a:cs typeface="Arial"/>
              <a:sym typeface="Arial"/>
            </a:endParaRPr>
          </a:p>
        </p:txBody>
      </p:sp>
      <p:cxnSp>
        <p:nvCxnSpPr>
          <p:cNvPr id="226" name="Google Shape;226;p12"/>
          <p:cNvCxnSpPr/>
          <p:nvPr/>
        </p:nvCxnSpPr>
        <p:spPr>
          <a:xfrm>
            <a:off x="8961120" y="2350008"/>
            <a:ext cx="411480" cy="0"/>
          </a:xfrm>
          <a:prstGeom prst="straightConnector1">
            <a:avLst/>
          </a:prstGeom>
          <a:noFill/>
          <a:ln cap="flat" cmpd="sng" w="12700">
            <a:solidFill>
              <a:srgbClr val="1E88E5"/>
            </a:solidFill>
            <a:prstDash val="solid"/>
            <a:round/>
            <a:headEnd len="sm" w="sm" type="none"/>
            <a:tailEnd len="med" w="med" type="triangle"/>
          </a:ln>
        </p:spPr>
      </p:cxnSp>
      <p:sp>
        <p:nvSpPr>
          <p:cNvPr id="227" name="Google Shape;227;p12"/>
          <p:cNvSpPr/>
          <p:nvPr/>
        </p:nvSpPr>
        <p:spPr>
          <a:xfrm>
            <a:off x="9418320" y="2103120"/>
            <a:ext cx="256032" cy="256032"/>
          </a:xfrm>
          <a:prstGeom prst="ellipse">
            <a:avLst/>
          </a:prstGeom>
          <a:solidFill>
            <a:srgbClr val="C62828"/>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2"/>
          <p:cNvSpPr/>
          <p:nvPr/>
        </p:nvSpPr>
        <p:spPr>
          <a:xfrm>
            <a:off x="9418320" y="2103120"/>
            <a:ext cx="256032"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chemeClr val="dk1"/>
              </a:buClr>
              <a:buSzPts val="800"/>
              <a:buFont typeface="Arial"/>
              <a:buNone/>
            </a:pPr>
            <a:r>
              <a:t/>
            </a:r>
            <a:endParaRPr b="0" i="0" sz="800" u="none" cap="none" strike="noStrike">
              <a:solidFill>
                <a:schemeClr val="dk1"/>
              </a:solidFill>
              <a:latin typeface="Arial"/>
              <a:ea typeface="Arial"/>
              <a:cs typeface="Arial"/>
              <a:sym typeface="Arial"/>
            </a:endParaRPr>
          </a:p>
        </p:txBody>
      </p:sp>
      <p:sp>
        <p:nvSpPr>
          <p:cNvPr id="229" name="Google Shape;229;p12"/>
          <p:cNvSpPr/>
          <p:nvPr/>
        </p:nvSpPr>
        <p:spPr>
          <a:xfrm>
            <a:off x="9765792" y="2103120"/>
            <a:ext cx="256032" cy="256032"/>
          </a:xfrm>
          <a:prstGeom prst="ellipse">
            <a:avLst/>
          </a:prstGeom>
          <a:solidFill>
            <a:srgbClr val="F9A825"/>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2"/>
          <p:cNvSpPr/>
          <p:nvPr/>
        </p:nvSpPr>
        <p:spPr>
          <a:xfrm>
            <a:off x="9765792" y="2103120"/>
            <a:ext cx="256032"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chemeClr val="dk1"/>
              </a:buClr>
              <a:buSzPts val="800"/>
              <a:buFont typeface="Arial"/>
              <a:buNone/>
            </a:pPr>
            <a:r>
              <a:t/>
            </a:r>
            <a:endParaRPr b="0" i="0" sz="800" u="none" cap="none" strike="noStrike">
              <a:solidFill>
                <a:schemeClr val="dk1"/>
              </a:solidFill>
              <a:latin typeface="Arial"/>
              <a:ea typeface="Arial"/>
              <a:cs typeface="Arial"/>
              <a:sym typeface="Arial"/>
            </a:endParaRPr>
          </a:p>
        </p:txBody>
      </p:sp>
      <p:sp>
        <p:nvSpPr>
          <p:cNvPr id="231" name="Google Shape;231;p12"/>
          <p:cNvSpPr/>
          <p:nvPr/>
        </p:nvSpPr>
        <p:spPr>
          <a:xfrm>
            <a:off x="10113264" y="2103120"/>
            <a:ext cx="256032" cy="256032"/>
          </a:xfrm>
          <a:prstGeom prst="ellipse">
            <a:avLst/>
          </a:prstGeom>
          <a:solidFill>
            <a:srgbClr val="1E88E5"/>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2"/>
          <p:cNvSpPr/>
          <p:nvPr/>
        </p:nvSpPr>
        <p:spPr>
          <a:xfrm>
            <a:off x="10113264" y="2103120"/>
            <a:ext cx="256032"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chemeClr val="dk1"/>
              </a:buClr>
              <a:buSzPts val="800"/>
              <a:buFont typeface="Arial"/>
              <a:buNone/>
            </a:pPr>
            <a:r>
              <a:t/>
            </a:r>
            <a:endParaRPr b="0" i="0" sz="800" u="none" cap="none" strike="noStrike">
              <a:solidFill>
                <a:schemeClr val="dk1"/>
              </a:solidFill>
              <a:latin typeface="Arial"/>
              <a:ea typeface="Arial"/>
              <a:cs typeface="Arial"/>
              <a:sym typeface="Arial"/>
            </a:endParaRPr>
          </a:p>
        </p:txBody>
      </p:sp>
      <p:sp>
        <p:nvSpPr>
          <p:cNvPr id="233" name="Google Shape;233;p12"/>
          <p:cNvSpPr/>
          <p:nvPr/>
        </p:nvSpPr>
        <p:spPr>
          <a:xfrm>
            <a:off x="10460736" y="2103120"/>
            <a:ext cx="256032" cy="256032"/>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2"/>
          <p:cNvSpPr/>
          <p:nvPr/>
        </p:nvSpPr>
        <p:spPr>
          <a:xfrm>
            <a:off x="10460736" y="2103120"/>
            <a:ext cx="256032"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chemeClr val="dk1"/>
              </a:buClr>
              <a:buSzPts val="800"/>
              <a:buFont typeface="Arial"/>
              <a:buNone/>
            </a:pPr>
            <a:r>
              <a:t/>
            </a:r>
            <a:endParaRPr b="0" i="0" sz="800" u="none" cap="none" strike="noStrike">
              <a:solidFill>
                <a:schemeClr val="dk1"/>
              </a:solidFill>
              <a:latin typeface="Arial"/>
              <a:ea typeface="Arial"/>
              <a:cs typeface="Arial"/>
              <a:sym typeface="Arial"/>
            </a:endParaRPr>
          </a:p>
        </p:txBody>
      </p:sp>
      <p:cxnSp>
        <p:nvCxnSpPr>
          <p:cNvPr id="235" name="Google Shape;235;p12"/>
          <p:cNvCxnSpPr/>
          <p:nvPr/>
        </p:nvCxnSpPr>
        <p:spPr>
          <a:xfrm>
            <a:off x="10881360" y="2350008"/>
            <a:ext cx="365760" cy="0"/>
          </a:xfrm>
          <a:prstGeom prst="straightConnector1">
            <a:avLst/>
          </a:prstGeom>
          <a:noFill/>
          <a:ln cap="flat" cmpd="sng" w="12700">
            <a:solidFill>
              <a:srgbClr val="1E88E5"/>
            </a:solidFill>
            <a:prstDash val="solid"/>
            <a:round/>
            <a:headEnd len="sm" w="sm" type="none"/>
            <a:tailEnd len="med" w="med" type="triangle"/>
          </a:ln>
        </p:spPr>
      </p:cxnSp>
      <p:sp>
        <p:nvSpPr>
          <p:cNvPr id="236" name="Google Shape;236;p12"/>
          <p:cNvSpPr/>
          <p:nvPr/>
        </p:nvSpPr>
        <p:spPr>
          <a:xfrm>
            <a:off x="10607040" y="3182112"/>
            <a:ext cx="868680" cy="640080"/>
          </a:xfrm>
          <a:prstGeom prst="roundRect">
            <a:avLst>
              <a:gd fmla="val 17143" name="adj"/>
            </a:avLst>
          </a:prstGeom>
          <a:solidFill>
            <a:srgbClr val="FFF3F3"/>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2"/>
          <p:cNvSpPr/>
          <p:nvPr/>
        </p:nvSpPr>
        <p:spPr>
          <a:xfrm>
            <a:off x="10680192" y="3401568"/>
            <a:ext cx="7223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62828"/>
              </a:buClr>
              <a:buSzPts val="1200"/>
              <a:buFont typeface="Arial"/>
              <a:buNone/>
            </a:pPr>
            <a:r>
              <a:rPr b="1" i="0" lang="en-US" sz="1200" u="none" cap="none" strike="noStrike">
                <a:solidFill>
                  <a:srgbClr val="C62828"/>
                </a:solidFill>
                <a:latin typeface="Arial"/>
                <a:ea typeface="Arial"/>
                <a:cs typeface="Arial"/>
                <a:sym typeface="Arial"/>
              </a:rPr>
              <a:t>CPU</a:t>
            </a:r>
            <a:endParaRPr b="0" i="0" sz="1200" u="none" cap="none" strike="noStrike">
              <a:solidFill>
                <a:schemeClr val="dk1"/>
              </a:solidFill>
              <a:latin typeface="Arial"/>
              <a:ea typeface="Arial"/>
              <a:cs typeface="Arial"/>
              <a:sym typeface="Arial"/>
            </a:endParaRPr>
          </a:p>
        </p:txBody>
      </p:sp>
      <p:cxnSp>
        <p:nvCxnSpPr>
          <p:cNvPr id="238" name="Google Shape;238;p12"/>
          <p:cNvCxnSpPr/>
          <p:nvPr/>
        </p:nvCxnSpPr>
        <p:spPr>
          <a:xfrm>
            <a:off x="10972800" y="2633472"/>
            <a:ext cx="0" cy="530352"/>
          </a:xfrm>
          <a:prstGeom prst="straightConnector1">
            <a:avLst/>
          </a:prstGeom>
          <a:noFill/>
          <a:ln cap="flat" cmpd="sng" w="12700">
            <a:solidFill>
              <a:srgbClr val="1E88E5"/>
            </a:solidFill>
            <a:prstDash val="solid"/>
            <a:round/>
            <a:headEnd len="sm" w="sm" type="none"/>
            <a:tailEnd len="med" w="med" type="triangle"/>
          </a:ln>
        </p:spPr>
      </p:cxnSp>
      <p:sp>
        <p:nvSpPr>
          <p:cNvPr id="239" name="Google Shape;239;p12"/>
          <p:cNvSpPr/>
          <p:nvPr/>
        </p:nvSpPr>
        <p:spPr>
          <a:xfrm>
            <a:off x="8412480" y="4233672"/>
            <a:ext cx="23317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Fila = espera antes do atendimento</a:t>
            </a:r>
            <a:endParaRPr b="0" i="0" sz="1100" u="none" cap="none" strike="noStrike">
              <a:solidFill>
                <a:schemeClr val="dk1"/>
              </a:solidFill>
              <a:latin typeface="Arial"/>
              <a:ea typeface="Arial"/>
              <a:cs typeface="Arial"/>
              <a:sym typeface="Arial"/>
            </a:endParaRPr>
          </a:p>
        </p:txBody>
      </p:sp>
      <p:cxnSp>
        <p:nvCxnSpPr>
          <p:cNvPr id="240" name="Google Shape;240;p12"/>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241" name="Google Shape;241;p12"/>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12</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46" name="Shape 246"/>
        <p:cNvGrpSpPr/>
        <p:nvPr/>
      </p:nvGrpSpPr>
      <p:grpSpPr>
        <a:xfrm>
          <a:off x="0" y="0"/>
          <a:ext cx="0" cy="0"/>
          <a:chOff x="0" y="0"/>
          <a:chExt cx="0" cy="0"/>
        </a:xfrm>
      </p:grpSpPr>
      <p:sp>
        <p:nvSpPr>
          <p:cNvPr id="247" name="Google Shape;247;p13"/>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3"/>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Escalonamento de processos</a:t>
            </a:r>
            <a:endParaRPr b="0" i="0" sz="3200" u="none" cap="none" strike="noStrike">
              <a:solidFill>
                <a:schemeClr val="dk1"/>
              </a:solidFill>
              <a:latin typeface="Arial"/>
              <a:ea typeface="Arial"/>
              <a:cs typeface="Arial"/>
              <a:sym typeface="Arial"/>
            </a:endParaRPr>
          </a:p>
        </p:txBody>
      </p:sp>
      <p:sp>
        <p:nvSpPr>
          <p:cNvPr id="249" name="Google Shape;249;p13"/>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Como a CPU é compartilhada</a:t>
            </a:r>
            <a:endParaRPr b="0" i="0" sz="1450" u="none" cap="none" strike="noStrike">
              <a:solidFill>
                <a:schemeClr val="dk1"/>
              </a:solidFill>
              <a:latin typeface="Arial"/>
              <a:ea typeface="Arial"/>
              <a:cs typeface="Arial"/>
              <a:sym typeface="Arial"/>
            </a:endParaRPr>
          </a:p>
        </p:txBody>
      </p:sp>
      <p:sp>
        <p:nvSpPr>
          <p:cNvPr id="250" name="Google Shape;250;p13"/>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O escalonador decide qual processo executa e por quanto tempo. Essa escolha influencia tempo de resposta, justiça, vazão e utilização da CPU. Em cargas interativas, a prioridade pode favorecer respostas rápidas; em cargas em lote, pode priorizar produtividade e conclusão de tarefas.</a:t>
            </a:r>
            <a:endParaRPr b="0" i="0" sz="2400" u="none" cap="none" strike="noStrike">
              <a:solidFill>
                <a:schemeClr val="dk1"/>
              </a:solidFill>
              <a:latin typeface="Arial"/>
              <a:ea typeface="Arial"/>
              <a:cs typeface="Arial"/>
              <a:sym typeface="Arial"/>
            </a:endParaRPr>
          </a:p>
        </p:txBody>
      </p:sp>
      <p:sp>
        <p:nvSpPr>
          <p:cNvPr id="251" name="Google Shape;251;p13"/>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3"/>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Processos competem pela CPU.</a:t>
            </a:r>
            <a:endParaRPr b="0" i="0" sz="1050" u="none" cap="none" strike="noStrike">
              <a:solidFill>
                <a:schemeClr val="dk1"/>
              </a:solidFill>
              <a:latin typeface="Arial"/>
              <a:ea typeface="Arial"/>
              <a:cs typeface="Arial"/>
              <a:sym typeface="Arial"/>
            </a:endParaRPr>
          </a:p>
        </p:txBody>
      </p:sp>
      <p:sp>
        <p:nvSpPr>
          <p:cNvPr id="253" name="Google Shape;253;p13"/>
          <p:cNvSpPr/>
          <p:nvPr/>
        </p:nvSpPr>
        <p:spPr>
          <a:xfrm>
            <a:off x="9006840" y="1673352"/>
            <a:ext cx="1371600" cy="1371600"/>
          </a:xfrm>
          <a:prstGeom prst="ellipse">
            <a:avLst/>
          </a:prstGeom>
          <a:solidFill>
            <a:srgbClr val="1E88E5"/>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3"/>
          <p:cNvSpPr/>
          <p:nvPr/>
        </p:nvSpPr>
        <p:spPr>
          <a:xfrm>
            <a:off x="9006840" y="2231136"/>
            <a:ext cx="1371600"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CPU</a:t>
            </a:r>
            <a:endParaRPr b="0" i="0" sz="1800" u="none" cap="none" strike="noStrike">
              <a:solidFill>
                <a:schemeClr val="dk1"/>
              </a:solidFill>
              <a:latin typeface="Arial"/>
              <a:ea typeface="Arial"/>
              <a:cs typeface="Arial"/>
              <a:sym typeface="Arial"/>
            </a:endParaRPr>
          </a:p>
        </p:txBody>
      </p:sp>
      <p:sp>
        <p:nvSpPr>
          <p:cNvPr id="255" name="Google Shape;255;p13"/>
          <p:cNvSpPr/>
          <p:nvPr/>
        </p:nvSpPr>
        <p:spPr>
          <a:xfrm>
            <a:off x="8046720" y="3410712"/>
            <a:ext cx="1005840" cy="502920"/>
          </a:xfrm>
          <a:prstGeom prst="roundRect">
            <a:avLst>
              <a:gd fmla="val 2181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3"/>
          <p:cNvSpPr/>
          <p:nvPr/>
        </p:nvSpPr>
        <p:spPr>
          <a:xfrm>
            <a:off x="8119872" y="3561588"/>
            <a:ext cx="85953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324F"/>
              </a:buClr>
              <a:buSzPts val="1200"/>
              <a:buFont typeface="Arial"/>
              <a:buNone/>
            </a:pPr>
            <a:r>
              <a:rPr b="0" i="0" lang="en-US" sz="1200" u="none" cap="none" strike="noStrike">
                <a:solidFill>
                  <a:srgbClr val="16324F"/>
                </a:solidFill>
                <a:latin typeface="Arial"/>
                <a:ea typeface="Arial"/>
                <a:cs typeface="Arial"/>
                <a:sym typeface="Arial"/>
              </a:rPr>
              <a:t>P1</a:t>
            </a:r>
            <a:endParaRPr b="0" i="0" sz="1200" u="none" cap="none" strike="noStrike">
              <a:solidFill>
                <a:schemeClr val="dk1"/>
              </a:solidFill>
              <a:latin typeface="Arial"/>
              <a:ea typeface="Arial"/>
              <a:cs typeface="Arial"/>
              <a:sym typeface="Arial"/>
            </a:endParaRPr>
          </a:p>
        </p:txBody>
      </p:sp>
      <p:sp>
        <p:nvSpPr>
          <p:cNvPr id="257" name="Google Shape;257;p13"/>
          <p:cNvSpPr/>
          <p:nvPr/>
        </p:nvSpPr>
        <p:spPr>
          <a:xfrm>
            <a:off x="9235440" y="3410712"/>
            <a:ext cx="1005840" cy="502920"/>
          </a:xfrm>
          <a:prstGeom prst="roundRect">
            <a:avLst>
              <a:gd fmla="val 2181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3"/>
          <p:cNvSpPr/>
          <p:nvPr/>
        </p:nvSpPr>
        <p:spPr>
          <a:xfrm>
            <a:off x="9308592" y="3561588"/>
            <a:ext cx="85953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324F"/>
              </a:buClr>
              <a:buSzPts val="1200"/>
              <a:buFont typeface="Arial"/>
              <a:buNone/>
            </a:pPr>
            <a:r>
              <a:rPr b="0" i="0" lang="en-US" sz="1200" u="none" cap="none" strike="noStrike">
                <a:solidFill>
                  <a:srgbClr val="16324F"/>
                </a:solidFill>
                <a:latin typeface="Arial"/>
                <a:ea typeface="Arial"/>
                <a:cs typeface="Arial"/>
                <a:sym typeface="Arial"/>
              </a:rPr>
              <a:t>P2</a:t>
            </a:r>
            <a:endParaRPr b="0" i="0" sz="1200" u="none" cap="none" strike="noStrike">
              <a:solidFill>
                <a:schemeClr val="dk1"/>
              </a:solidFill>
              <a:latin typeface="Arial"/>
              <a:ea typeface="Arial"/>
              <a:cs typeface="Arial"/>
              <a:sym typeface="Arial"/>
            </a:endParaRPr>
          </a:p>
        </p:txBody>
      </p:sp>
      <p:sp>
        <p:nvSpPr>
          <p:cNvPr id="259" name="Google Shape;259;p13"/>
          <p:cNvSpPr/>
          <p:nvPr/>
        </p:nvSpPr>
        <p:spPr>
          <a:xfrm>
            <a:off x="10424160" y="3410712"/>
            <a:ext cx="1005840" cy="502920"/>
          </a:xfrm>
          <a:prstGeom prst="roundRect">
            <a:avLst>
              <a:gd fmla="val 2181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3"/>
          <p:cNvSpPr/>
          <p:nvPr/>
        </p:nvSpPr>
        <p:spPr>
          <a:xfrm>
            <a:off x="10497312" y="3561588"/>
            <a:ext cx="85953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324F"/>
              </a:buClr>
              <a:buSzPts val="1200"/>
              <a:buFont typeface="Arial"/>
              <a:buNone/>
            </a:pPr>
            <a:r>
              <a:rPr b="0" i="0" lang="en-US" sz="1200" u="none" cap="none" strike="noStrike">
                <a:solidFill>
                  <a:srgbClr val="16324F"/>
                </a:solidFill>
                <a:latin typeface="Arial"/>
                <a:ea typeface="Arial"/>
                <a:cs typeface="Arial"/>
                <a:sym typeface="Arial"/>
              </a:rPr>
              <a:t>P3</a:t>
            </a:r>
            <a:endParaRPr b="0" i="0" sz="1200" u="none" cap="none" strike="noStrike">
              <a:solidFill>
                <a:schemeClr val="dk1"/>
              </a:solidFill>
              <a:latin typeface="Arial"/>
              <a:ea typeface="Arial"/>
              <a:cs typeface="Arial"/>
              <a:sym typeface="Arial"/>
            </a:endParaRPr>
          </a:p>
        </p:txBody>
      </p:sp>
      <p:cxnSp>
        <p:nvCxnSpPr>
          <p:cNvPr id="261" name="Google Shape;261;p13"/>
          <p:cNvCxnSpPr/>
          <p:nvPr/>
        </p:nvCxnSpPr>
        <p:spPr>
          <a:xfrm flipH="1" rot="10800000">
            <a:off x="8549640" y="2889504"/>
            <a:ext cx="804672" cy="502920"/>
          </a:xfrm>
          <a:prstGeom prst="straightConnector1">
            <a:avLst/>
          </a:prstGeom>
          <a:noFill/>
          <a:ln cap="flat" cmpd="sng" w="12700">
            <a:solidFill>
              <a:srgbClr val="1E88E5"/>
            </a:solidFill>
            <a:prstDash val="solid"/>
            <a:round/>
            <a:headEnd len="sm" w="sm" type="none"/>
            <a:tailEnd len="med" w="med" type="triangle"/>
          </a:ln>
        </p:spPr>
      </p:cxnSp>
      <p:cxnSp>
        <p:nvCxnSpPr>
          <p:cNvPr id="262" name="Google Shape;262;p13"/>
          <p:cNvCxnSpPr/>
          <p:nvPr/>
        </p:nvCxnSpPr>
        <p:spPr>
          <a:xfrm rot="10800000">
            <a:off x="9692640" y="3017520"/>
            <a:ext cx="45720" cy="374904"/>
          </a:xfrm>
          <a:prstGeom prst="straightConnector1">
            <a:avLst/>
          </a:prstGeom>
          <a:noFill/>
          <a:ln cap="flat" cmpd="sng" w="12700">
            <a:solidFill>
              <a:srgbClr val="1E88E5"/>
            </a:solidFill>
            <a:prstDash val="solid"/>
            <a:round/>
            <a:headEnd len="sm" w="sm" type="none"/>
            <a:tailEnd len="med" w="med" type="triangle"/>
          </a:ln>
        </p:spPr>
      </p:cxnSp>
      <p:cxnSp>
        <p:nvCxnSpPr>
          <p:cNvPr id="263" name="Google Shape;263;p13"/>
          <p:cNvCxnSpPr/>
          <p:nvPr/>
        </p:nvCxnSpPr>
        <p:spPr>
          <a:xfrm rot="10800000">
            <a:off x="10195560" y="2889504"/>
            <a:ext cx="731520" cy="502920"/>
          </a:xfrm>
          <a:prstGeom prst="straightConnector1">
            <a:avLst/>
          </a:prstGeom>
          <a:noFill/>
          <a:ln cap="flat" cmpd="sng" w="12700">
            <a:solidFill>
              <a:srgbClr val="1E88E5"/>
            </a:solidFill>
            <a:prstDash val="solid"/>
            <a:round/>
            <a:headEnd len="sm" w="sm" type="none"/>
            <a:tailEnd len="med" w="med" type="triangle"/>
          </a:ln>
        </p:spPr>
      </p:cxnSp>
      <p:cxnSp>
        <p:nvCxnSpPr>
          <p:cNvPr id="264" name="Google Shape;264;p13"/>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265" name="Google Shape;265;p13"/>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13</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70" name="Shape 270"/>
        <p:cNvGrpSpPr/>
        <p:nvPr/>
      </p:nvGrpSpPr>
      <p:grpSpPr>
        <a:xfrm>
          <a:off x="0" y="0"/>
          <a:ext cx="0" cy="0"/>
          <a:chOff x="0" y="0"/>
          <a:chExt cx="0" cy="0"/>
        </a:xfrm>
      </p:grpSpPr>
      <p:sp>
        <p:nvSpPr>
          <p:cNvPr id="271" name="Google Shape;271;p14"/>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4"/>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Troca de contexto</a:t>
            </a:r>
            <a:endParaRPr b="0" i="0" sz="3200" u="none" cap="none" strike="noStrike">
              <a:solidFill>
                <a:schemeClr val="dk1"/>
              </a:solidFill>
              <a:latin typeface="Arial"/>
              <a:ea typeface="Arial"/>
              <a:cs typeface="Arial"/>
              <a:sym typeface="Arial"/>
            </a:endParaRPr>
          </a:p>
        </p:txBody>
      </p:sp>
      <p:sp>
        <p:nvSpPr>
          <p:cNvPr id="273" name="Google Shape;273;p14"/>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Custo invisível da multitarefa</a:t>
            </a:r>
            <a:endParaRPr b="0" i="0" sz="1450" u="none" cap="none" strike="noStrike">
              <a:solidFill>
                <a:schemeClr val="dk1"/>
              </a:solidFill>
              <a:latin typeface="Arial"/>
              <a:ea typeface="Arial"/>
              <a:cs typeface="Arial"/>
              <a:sym typeface="Arial"/>
            </a:endParaRPr>
          </a:p>
        </p:txBody>
      </p:sp>
      <p:sp>
        <p:nvSpPr>
          <p:cNvPr id="274" name="Google Shape;274;p14"/>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Troca de contexto ocorre quando a CPU deixa um processo e passa a executar outro. Ela é necessária para multitarefa, mas tem custo. Muitas trocas podem reduzir desempenho, pois o sistema gasta tempo administrando execução em vez de realizar trabalho útil.</a:t>
            </a:r>
            <a:endParaRPr b="0" i="0" sz="2400" u="none" cap="none" strike="noStrike">
              <a:solidFill>
                <a:schemeClr val="dk1"/>
              </a:solidFill>
              <a:latin typeface="Arial"/>
              <a:ea typeface="Arial"/>
              <a:cs typeface="Arial"/>
              <a:sym typeface="Arial"/>
            </a:endParaRPr>
          </a:p>
        </p:txBody>
      </p:sp>
      <p:sp>
        <p:nvSpPr>
          <p:cNvPr id="275" name="Google Shape;275;p14"/>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4"/>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Alternar tarefas também consome tempo.</a:t>
            </a:r>
            <a:endParaRPr b="0" i="0" sz="1050" u="none" cap="none" strike="noStrike">
              <a:solidFill>
                <a:schemeClr val="dk1"/>
              </a:solidFill>
              <a:latin typeface="Arial"/>
              <a:ea typeface="Arial"/>
              <a:cs typeface="Arial"/>
              <a:sym typeface="Arial"/>
            </a:endParaRPr>
          </a:p>
        </p:txBody>
      </p:sp>
      <p:sp>
        <p:nvSpPr>
          <p:cNvPr id="277" name="Google Shape;277;p14"/>
          <p:cNvSpPr/>
          <p:nvPr/>
        </p:nvSpPr>
        <p:spPr>
          <a:xfrm>
            <a:off x="9006840" y="1673352"/>
            <a:ext cx="1371600" cy="1371600"/>
          </a:xfrm>
          <a:prstGeom prst="ellipse">
            <a:avLst/>
          </a:prstGeom>
          <a:solidFill>
            <a:srgbClr val="1E88E5"/>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4"/>
          <p:cNvSpPr/>
          <p:nvPr/>
        </p:nvSpPr>
        <p:spPr>
          <a:xfrm>
            <a:off x="9006840" y="2231136"/>
            <a:ext cx="1371600"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CPU</a:t>
            </a:r>
            <a:endParaRPr b="0" i="0" sz="1800" u="none" cap="none" strike="noStrike">
              <a:solidFill>
                <a:schemeClr val="dk1"/>
              </a:solidFill>
              <a:latin typeface="Arial"/>
              <a:ea typeface="Arial"/>
              <a:cs typeface="Arial"/>
              <a:sym typeface="Arial"/>
            </a:endParaRPr>
          </a:p>
        </p:txBody>
      </p:sp>
      <p:sp>
        <p:nvSpPr>
          <p:cNvPr id="279" name="Google Shape;279;p14"/>
          <p:cNvSpPr/>
          <p:nvPr/>
        </p:nvSpPr>
        <p:spPr>
          <a:xfrm>
            <a:off x="8046720" y="3410712"/>
            <a:ext cx="1005840" cy="502920"/>
          </a:xfrm>
          <a:prstGeom prst="roundRect">
            <a:avLst>
              <a:gd fmla="val 2181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4"/>
          <p:cNvSpPr/>
          <p:nvPr/>
        </p:nvSpPr>
        <p:spPr>
          <a:xfrm>
            <a:off x="8119872" y="3561588"/>
            <a:ext cx="85953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324F"/>
              </a:buClr>
              <a:buSzPts val="1200"/>
              <a:buFont typeface="Arial"/>
              <a:buNone/>
            </a:pPr>
            <a:r>
              <a:rPr b="0" i="0" lang="en-US" sz="1200" u="none" cap="none" strike="noStrike">
                <a:solidFill>
                  <a:srgbClr val="16324F"/>
                </a:solidFill>
                <a:latin typeface="Arial"/>
                <a:ea typeface="Arial"/>
                <a:cs typeface="Arial"/>
                <a:sym typeface="Arial"/>
              </a:rPr>
              <a:t>P1</a:t>
            </a:r>
            <a:endParaRPr b="0" i="0" sz="1200" u="none" cap="none" strike="noStrike">
              <a:solidFill>
                <a:schemeClr val="dk1"/>
              </a:solidFill>
              <a:latin typeface="Arial"/>
              <a:ea typeface="Arial"/>
              <a:cs typeface="Arial"/>
              <a:sym typeface="Arial"/>
            </a:endParaRPr>
          </a:p>
        </p:txBody>
      </p:sp>
      <p:sp>
        <p:nvSpPr>
          <p:cNvPr id="281" name="Google Shape;281;p14"/>
          <p:cNvSpPr/>
          <p:nvPr/>
        </p:nvSpPr>
        <p:spPr>
          <a:xfrm>
            <a:off x="9235440" y="3410712"/>
            <a:ext cx="1005840" cy="502920"/>
          </a:xfrm>
          <a:prstGeom prst="roundRect">
            <a:avLst>
              <a:gd fmla="val 2181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4"/>
          <p:cNvSpPr/>
          <p:nvPr/>
        </p:nvSpPr>
        <p:spPr>
          <a:xfrm>
            <a:off x="9308592" y="3561588"/>
            <a:ext cx="85953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324F"/>
              </a:buClr>
              <a:buSzPts val="1200"/>
              <a:buFont typeface="Arial"/>
              <a:buNone/>
            </a:pPr>
            <a:r>
              <a:rPr b="0" i="0" lang="en-US" sz="1200" u="none" cap="none" strike="noStrike">
                <a:solidFill>
                  <a:srgbClr val="16324F"/>
                </a:solidFill>
                <a:latin typeface="Arial"/>
                <a:ea typeface="Arial"/>
                <a:cs typeface="Arial"/>
                <a:sym typeface="Arial"/>
              </a:rPr>
              <a:t>P2</a:t>
            </a:r>
            <a:endParaRPr b="0" i="0" sz="1200" u="none" cap="none" strike="noStrike">
              <a:solidFill>
                <a:schemeClr val="dk1"/>
              </a:solidFill>
              <a:latin typeface="Arial"/>
              <a:ea typeface="Arial"/>
              <a:cs typeface="Arial"/>
              <a:sym typeface="Arial"/>
            </a:endParaRPr>
          </a:p>
        </p:txBody>
      </p:sp>
      <p:sp>
        <p:nvSpPr>
          <p:cNvPr id="283" name="Google Shape;283;p14"/>
          <p:cNvSpPr/>
          <p:nvPr/>
        </p:nvSpPr>
        <p:spPr>
          <a:xfrm>
            <a:off x="10424160" y="3410712"/>
            <a:ext cx="1005840" cy="502920"/>
          </a:xfrm>
          <a:prstGeom prst="roundRect">
            <a:avLst>
              <a:gd fmla="val 2181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4"/>
          <p:cNvSpPr/>
          <p:nvPr/>
        </p:nvSpPr>
        <p:spPr>
          <a:xfrm>
            <a:off x="10497312" y="3561588"/>
            <a:ext cx="85953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324F"/>
              </a:buClr>
              <a:buSzPts val="1200"/>
              <a:buFont typeface="Arial"/>
              <a:buNone/>
            </a:pPr>
            <a:r>
              <a:rPr b="0" i="0" lang="en-US" sz="1200" u="none" cap="none" strike="noStrike">
                <a:solidFill>
                  <a:srgbClr val="16324F"/>
                </a:solidFill>
                <a:latin typeface="Arial"/>
                <a:ea typeface="Arial"/>
                <a:cs typeface="Arial"/>
                <a:sym typeface="Arial"/>
              </a:rPr>
              <a:t>P3</a:t>
            </a:r>
            <a:endParaRPr b="0" i="0" sz="1200" u="none" cap="none" strike="noStrike">
              <a:solidFill>
                <a:schemeClr val="dk1"/>
              </a:solidFill>
              <a:latin typeface="Arial"/>
              <a:ea typeface="Arial"/>
              <a:cs typeface="Arial"/>
              <a:sym typeface="Arial"/>
            </a:endParaRPr>
          </a:p>
        </p:txBody>
      </p:sp>
      <p:cxnSp>
        <p:nvCxnSpPr>
          <p:cNvPr id="285" name="Google Shape;285;p14"/>
          <p:cNvCxnSpPr/>
          <p:nvPr/>
        </p:nvCxnSpPr>
        <p:spPr>
          <a:xfrm flipH="1" rot="10800000">
            <a:off x="8549640" y="2889504"/>
            <a:ext cx="804672" cy="502920"/>
          </a:xfrm>
          <a:prstGeom prst="straightConnector1">
            <a:avLst/>
          </a:prstGeom>
          <a:noFill/>
          <a:ln cap="flat" cmpd="sng" w="12700">
            <a:solidFill>
              <a:srgbClr val="1E88E5"/>
            </a:solidFill>
            <a:prstDash val="solid"/>
            <a:round/>
            <a:headEnd len="sm" w="sm" type="none"/>
            <a:tailEnd len="med" w="med" type="triangle"/>
          </a:ln>
        </p:spPr>
      </p:cxnSp>
      <p:cxnSp>
        <p:nvCxnSpPr>
          <p:cNvPr id="286" name="Google Shape;286;p14"/>
          <p:cNvCxnSpPr/>
          <p:nvPr/>
        </p:nvCxnSpPr>
        <p:spPr>
          <a:xfrm rot="10800000">
            <a:off x="9692640" y="3017520"/>
            <a:ext cx="45720" cy="374904"/>
          </a:xfrm>
          <a:prstGeom prst="straightConnector1">
            <a:avLst/>
          </a:prstGeom>
          <a:noFill/>
          <a:ln cap="flat" cmpd="sng" w="12700">
            <a:solidFill>
              <a:srgbClr val="1E88E5"/>
            </a:solidFill>
            <a:prstDash val="solid"/>
            <a:round/>
            <a:headEnd len="sm" w="sm" type="none"/>
            <a:tailEnd len="med" w="med" type="triangle"/>
          </a:ln>
        </p:spPr>
      </p:cxnSp>
      <p:cxnSp>
        <p:nvCxnSpPr>
          <p:cNvPr id="287" name="Google Shape;287;p14"/>
          <p:cNvCxnSpPr/>
          <p:nvPr/>
        </p:nvCxnSpPr>
        <p:spPr>
          <a:xfrm rot="10800000">
            <a:off x="10195560" y="2889504"/>
            <a:ext cx="731520" cy="502920"/>
          </a:xfrm>
          <a:prstGeom prst="straightConnector1">
            <a:avLst/>
          </a:prstGeom>
          <a:noFill/>
          <a:ln cap="flat" cmpd="sng" w="12700">
            <a:solidFill>
              <a:srgbClr val="1E88E5"/>
            </a:solidFill>
            <a:prstDash val="solid"/>
            <a:round/>
            <a:headEnd len="sm" w="sm" type="none"/>
            <a:tailEnd len="med" w="med" type="triangle"/>
          </a:ln>
        </p:spPr>
      </p:cxnSp>
      <p:cxnSp>
        <p:nvCxnSpPr>
          <p:cNvPr id="288" name="Google Shape;288;p14"/>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289" name="Google Shape;289;p14"/>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14</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94" name="Shape 294"/>
        <p:cNvGrpSpPr/>
        <p:nvPr/>
      </p:nvGrpSpPr>
      <p:grpSpPr>
        <a:xfrm>
          <a:off x="0" y="0"/>
          <a:ext cx="0" cy="0"/>
          <a:chOff x="0" y="0"/>
          <a:chExt cx="0" cy="0"/>
        </a:xfrm>
      </p:grpSpPr>
      <p:sp>
        <p:nvSpPr>
          <p:cNvPr id="295" name="Google Shape;295;p15"/>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5"/>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Memória virtual</a:t>
            </a:r>
            <a:endParaRPr b="0" i="0" sz="3200" u="none" cap="none" strike="noStrike">
              <a:solidFill>
                <a:schemeClr val="dk1"/>
              </a:solidFill>
              <a:latin typeface="Arial"/>
              <a:ea typeface="Arial"/>
              <a:cs typeface="Arial"/>
              <a:sym typeface="Arial"/>
            </a:endParaRPr>
          </a:p>
        </p:txBody>
      </p:sp>
      <p:sp>
        <p:nvSpPr>
          <p:cNvPr id="297" name="Google Shape;297;p15"/>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Quando a memória parece maior que a RAM</a:t>
            </a:r>
            <a:endParaRPr b="0" i="0" sz="1450" u="none" cap="none" strike="noStrike">
              <a:solidFill>
                <a:schemeClr val="dk1"/>
              </a:solidFill>
              <a:latin typeface="Arial"/>
              <a:ea typeface="Arial"/>
              <a:cs typeface="Arial"/>
              <a:sym typeface="Arial"/>
            </a:endParaRPr>
          </a:p>
        </p:txBody>
      </p:sp>
      <p:sp>
        <p:nvSpPr>
          <p:cNvPr id="298" name="Google Shape;298;p15"/>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A memória virtual permite que processos usem espaços de endereçamento organizados pelo sistema operacional. Quando a RAM é insuficiente, páginas podem ser movidas para armazenamento secundário. Esse mecanismo melhora flexibilidade, mas excesso de paginação pode degradar fortemente o desempenho.</a:t>
            </a:r>
            <a:endParaRPr b="0" i="0" sz="2400" u="none" cap="none" strike="noStrike">
              <a:solidFill>
                <a:schemeClr val="dk1"/>
              </a:solidFill>
              <a:latin typeface="Arial"/>
              <a:ea typeface="Arial"/>
              <a:cs typeface="Arial"/>
              <a:sym typeface="Arial"/>
            </a:endParaRPr>
          </a:p>
        </p:txBody>
      </p:sp>
      <p:sp>
        <p:nvSpPr>
          <p:cNvPr id="299" name="Google Shape;299;p15"/>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5"/>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Páginas entram e saem da memória.</a:t>
            </a:r>
            <a:endParaRPr b="0" i="0" sz="1050" u="none" cap="none" strike="noStrike">
              <a:solidFill>
                <a:schemeClr val="dk1"/>
              </a:solidFill>
              <a:latin typeface="Arial"/>
              <a:ea typeface="Arial"/>
              <a:cs typeface="Arial"/>
              <a:sym typeface="Arial"/>
            </a:endParaRPr>
          </a:p>
        </p:txBody>
      </p:sp>
      <p:sp>
        <p:nvSpPr>
          <p:cNvPr id="301" name="Google Shape;301;p15"/>
          <p:cNvSpPr/>
          <p:nvPr/>
        </p:nvSpPr>
        <p:spPr>
          <a:xfrm>
            <a:off x="8046720" y="1673352"/>
            <a:ext cx="2103120" cy="320040"/>
          </a:xfrm>
          <a:prstGeom prst="roundRect">
            <a:avLst>
              <a:gd fmla="val 34286"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5"/>
          <p:cNvSpPr/>
          <p:nvPr/>
        </p:nvSpPr>
        <p:spPr>
          <a:xfrm>
            <a:off x="8119872" y="1732788"/>
            <a:ext cx="195681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000"/>
              <a:buFont typeface="Arial"/>
              <a:buNone/>
            </a:pPr>
            <a:r>
              <a:rPr b="0" i="0" lang="en-US" sz="1000" u="none" cap="none" strike="noStrike">
                <a:solidFill>
                  <a:srgbClr val="1E88E5"/>
                </a:solidFill>
                <a:latin typeface="Arial"/>
                <a:ea typeface="Arial"/>
                <a:cs typeface="Arial"/>
                <a:sym typeface="Arial"/>
              </a:rPr>
              <a:t>Página 1</a:t>
            </a:r>
            <a:endParaRPr b="0" i="0" sz="1000" u="none" cap="none" strike="noStrike">
              <a:solidFill>
                <a:schemeClr val="dk1"/>
              </a:solidFill>
              <a:latin typeface="Arial"/>
              <a:ea typeface="Arial"/>
              <a:cs typeface="Arial"/>
              <a:sym typeface="Arial"/>
            </a:endParaRPr>
          </a:p>
        </p:txBody>
      </p:sp>
      <p:sp>
        <p:nvSpPr>
          <p:cNvPr id="303" name="Google Shape;303;p15"/>
          <p:cNvSpPr/>
          <p:nvPr/>
        </p:nvSpPr>
        <p:spPr>
          <a:xfrm>
            <a:off x="8046720" y="2176272"/>
            <a:ext cx="2103120" cy="320040"/>
          </a:xfrm>
          <a:prstGeom prst="roundRect">
            <a:avLst>
              <a:gd fmla="val 34286"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5"/>
          <p:cNvSpPr/>
          <p:nvPr/>
        </p:nvSpPr>
        <p:spPr>
          <a:xfrm>
            <a:off x="8119872" y="2235708"/>
            <a:ext cx="195681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000"/>
              <a:buFont typeface="Arial"/>
              <a:buNone/>
            </a:pPr>
            <a:r>
              <a:rPr b="0" i="0" lang="en-US" sz="1000" u="none" cap="none" strike="noStrike">
                <a:solidFill>
                  <a:srgbClr val="1E88E5"/>
                </a:solidFill>
                <a:latin typeface="Arial"/>
                <a:ea typeface="Arial"/>
                <a:cs typeface="Arial"/>
                <a:sym typeface="Arial"/>
              </a:rPr>
              <a:t>Página 2</a:t>
            </a:r>
            <a:endParaRPr b="0" i="0" sz="1000" u="none" cap="none" strike="noStrike">
              <a:solidFill>
                <a:schemeClr val="dk1"/>
              </a:solidFill>
              <a:latin typeface="Arial"/>
              <a:ea typeface="Arial"/>
              <a:cs typeface="Arial"/>
              <a:sym typeface="Arial"/>
            </a:endParaRPr>
          </a:p>
        </p:txBody>
      </p:sp>
      <p:sp>
        <p:nvSpPr>
          <p:cNvPr id="305" name="Google Shape;305;p15"/>
          <p:cNvSpPr/>
          <p:nvPr/>
        </p:nvSpPr>
        <p:spPr>
          <a:xfrm>
            <a:off x="8046720" y="2679192"/>
            <a:ext cx="2103120" cy="320040"/>
          </a:xfrm>
          <a:prstGeom prst="roundRect">
            <a:avLst>
              <a:gd fmla="val 34286" name="adj"/>
            </a:avLst>
          </a:prstGeom>
          <a:solidFill>
            <a:srgbClr val="FFF3F3"/>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5"/>
          <p:cNvSpPr/>
          <p:nvPr/>
        </p:nvSpPr>
        <p:spPr>
          <a:xfrm>
            <a:off x="8119872" y="2738628"/>
            <a:ext cx="195681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62828"/>
              </a:buClr>
              <a:buSzPts val="1000"/>
              <a:buFont typeface="Arial"/>
              <a:buNone/>
            </a:pPr>
            <a:r>
              <a:rPr b="0" i="0" lang="en-US" sz="1000" u="none" cap="none" strike="noStrike">
                <a:solidFill>
                  <a:srgbClr val="C62828"/>
                </a:solidFill>
                <a:latin typeface="Arial"/>
                <a:ea typeface="Arial"/>
                <a:cs typeface="Arial"/>
                <a:sym typeface="Arial"/>
              </a:rPr>
              <a:t>Página ativa</a:t>
            </a:r>
            <a:endParaRPr b="0" i="0" sz="1000" u="none" cap="none" strike="noStrike">
              <a:solidFill>
                <a:schemeClr val="dk1"/>
              </a:solidFill>
              <a:latin typeface="Arial"/>
              <a:ea typeface="Arial"/>
              <a:cs typeface="Arial"/>
              <a:sym typeface="Arial"/>
            </a:endParaRPr>
          </a:p>
        </p:txBody>
      </p:sp>
      <p:sp>
        <p:nvSpPr>
          <p:cNvPr id="307" name="Google Shape;307;p15"/>
          <p:cNvSpPr/>
          <p:nvPr/>
        </p:nvSpPr>
        <p:spPr>
          <a:xfrm>
            <a:off x="8046720" y="3182112"/>
            <a:ext cx="2103120" cy="320040"/>
          </a:xfrm>
          <a:prstGeom prst="roundRect">
            <a:avLst>
              <a:gd fmla="val 34286"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5"/>
          <p:cNvSpPr/>
          <p:nvPr/>
        </p:nvSpPr>
        <p:spPr>
          <a:xfrm>
            <a:off x="8119872" y="3241548"/>
            <a:ext cx="195681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000"/>
              <a:buFont typeface="Arial"/>
              <a:buNone/>
            </a:pPr>
            <a:r>
              <a:rPr b="0" i="0" lang="en-US" sz="1000" u="none" cap="none" strike="noStrike">
                <a:solidFill>
                  <a:srgbClr val="1E88E5"/>
                </a:solidFill>
                <a:latin typeface="Arial"/>
                <a:ea typeface="Arial"/>
                <a:cs typeface="Arial"/>
                <a:sym typeface="Arial"/>
              </a:rPr>
              <a:t>Página 4</a:t>
            </a:r>
            <a:endParaRPr b="0" i="0" sz="1000" u="none" cap="none" strike="noStrike">
              <a:solidFill>
                <a:schemeClr val="dk1"/>
              </a:solidFill>
              <a:latin typeface="Arial"/>
              <a:ea typeface="Arial"/>
              <a:cs typeface="Arial"/>
              <a:sym typeface="Arial"/>
            </a:endParaRPr>
          </a:p>
        </p:txBody>
      </p:sp>
      <p:sp>
        <p:nvSpPr>
          <p:cNvPr id="309" name="Google Shape;309;p15"/>
          <p:cNvSpPr/>
          <p:nvPr/>
        </p:nvSpPr>
        <p:spPr>
          <a:xfrm>
            <a:off x="8046720" y="3685032"/>
            <a:ext cx="2103120" cy="320040"/>
          </a:xfrm>
          <a:prstGeom prst="roundRect">
            <a:avLst>
              <a:gd fmla="val 34286"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5"/>
          <p:cNvSpPr/>
          <p:nvPr/>
        </p:nvSpPr>
        <p:spPr>
          <a:xfrm>
            <a:off x="8119872" y="3744468"/>
            <a:ext cx="195681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000"/>
              <a:buFont typeface="Arial"/>
              <a:buNone/>
            </a:pPr>
            <a:r>
              <a:rPr b="0" i="0" lang="en-US" sz="1000" u="none" cap="none" strike="noStrike">
                <a:solidFill>
                  <a:srgbClr val="1E88E5"/>
                </a:solidFill>
                <a:latin typeface="Arial"/>
                <a:ea typeface="Arial"/>
                <a:cs typeface="Arial"/>
                <a:sym typeface="Arial"/>
              </a:rPr>
              <a:t>Página 5</a:t>
            </a:r>
            <a:endParaRPr b="0" i="0" sz="1000" u="none" cap="none" strike="noStrike">
              <a:solidFill>
                <a:schemeClr val="dk1"/>
              </a:solidFill>
              <a:latin typeface="Arial"/>
              <a:ea typeface="Arial"/>
              <a:cs typeface="Arial"/>
              <a:sym typeface="Arial"/>
            </a:endParaRPr>
          </a:p>
        </p:txBody>
      </p:sp>
      <p:sp>
        <p:nvSpPr>
          <p:cNvPr id="311" name="Google Shape;311;p15"/>
          <p:cNvSpPr/>
          <p:nvPr/>
        </p:nvSpPr>
        <p:spPr>
          <a:xfrm>
            <a:off x="10424160" y="2176272"/>
            <a:ext cx="685800" cy="1600200"/>
          </a:xfrm>
          <a:prstGeom prst="roundRect">
            <a:avLst>
              <a:gd fmla="val 1600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5"/>
          <p:cNvSpPr/>
          <p:nvPr/>
        </p:nvSpPr>
        <p:spPr>
          <a:xfrm>
            <a:off x="10497312" y="2875788"/>
            <a:ext cx="53949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1200"/>
              <a:buFont typeface="Arial"/>
              <a:buNone/>
            </a:pPr>
            <a:r>
              <a:rPr b="1" i="0" lang="en-US" sz="1200" u="none" cap="none" strike="noStrike">
                <a:solidFill>
                  <a:srgbClr val="2E7D32"/>
                </a:solidFill>
                <a:latin typeface="Arial"/>
                <a:ea typeface="Arial"/>
                <a:cs typeface="Arial"/>
                <a:sym typeface="Arial"/>
              </a:rPr>
              <a:t>RAM</a:t>
            </a:r>
            <a:endParaRPr b="0" i="0" sz="1200" u="none" cap="none" strike="noStrike">
              <a:solidFill>
                <a:schemeClr val="dk1"/>
              </a:solidFill>
              <a:latin typeface="Arial"/>
              <a:ea typeface="Arial"/>
              <a:cs typeface="Arial"/>
              <a:sym typeface="Arial"/>
            </a:endParaRPr>
          </a:p>
        </p:txBody>
      </p:sp>
      <p:cxnSp>
        <p:nvCxnSpPr>
          <p:cNvPr id="313" name="Google Shape;313;p15"/>
          <p:cNvCxnSpPr/>
          <p:nvPr/>
        </p:nvCxnSpPr>
        <p:spPr>
          <a:xfrm>
            <a:off x="10158984" y="2706624"/>
            <a:ext cx="265176" cy="0"/>
          </a:xfrm>
          <a:prstGeom prst="straightConnector1">
            <a:avLst/>
          </a:prstGeom>
          <a:noFill/>
          <a:ln cap="flat" cmpd="sng" w="12700">
            <a:solidFill>
              <a:srgbClr val="1E88E5"/>
            </a:solidFill>
            <a:prstDash val="solid"/>
            <a:round/>
            <a:headEnd len="sm" w="sm" type="none"/>
            <a:tailEnd len="med" w="med" type="triangle"/>
          </a:ln>
        </p:spPr>
      </p:cxnSp>
      <p:cxnSp>
        <p:nvCxnSpPr>
          <p:cNvPr id="314" name="Google Shape;314;p15"/>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315" name="Google Shape;315;p15"/>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15</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320" name="Shape 320"/>
        <p:cNvGrpSpPr/>
        <p:nvPr/>
      </p:nvGrpSpPr>
      <p:grpSpPr>
        <a:xfrm>
          <a:off x="0" y="0"/>
          <a:ext cx="0" cy="0"/>
          <a:chOff x="0" y="0"/>
          <a:chExt cx="0" cy="0"/>
        </a:xfrm>
      </p:grpSpPr>
      <p:sp>
        <p:nvSpPr>
          <p:cNvPr id="321" name="Google Shape;321;p16"/>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6"/>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Cache e buffers</a:t>
            </a:r>
            <a:endParaRPr b="0" i="0" sz="3200" u="none" cap="none" strike="noStrike">
              <a:solidFill>
                <a:schemeClr val="dk1"/>
              </a:solidFill>
              <a:latin typeface="Arial"/>
              <a:ea typeface="Arial"/>
              <a:cs typeface="Arial"/>
              <a:sym typeface="Arial"/>
            </a:endParaRPr>
          </a:p>
        </p:txBody>
      </p:sp>
      <p:sp>
        <p:nvSpPr>
          <p:cNvPr id="323" name="Google Shape;323;p16"/>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Reuso de dados para reduzir espera</a:t>
            </a:r>
            <a:endParaRPr b="0" i="0" sz="1450" u="none" cap="none" strike="noStrike">
              <a:solidFill>
                <a:schemeClr val="dk1"/>
              </a:solidFill>
              <a:latin typeface="Arial"/>
              <a:ea typeface="Arial"/>
              <a:cs typeface="Arial"/>
              <a:sym typeface="Arial"/>
            </a:endParaRPr>
          </a:p>
        </p:txBody>
      </p:sp>
      <p:sp>
        <p:nvSpPr>
          <p:cNvPr id="324" name="Google Shape;324;p16"/>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Caches e buffers armazenam dados temporários para acelerar acessos futuros. O sistema operacional usa essas estratégias em memória, arquivos e E/S. Quando bem utilizados, reduzem latência e acessos ao disco. Porém, também podem mascarar resultados se o experimento não for controlado.</a:t>
            </a:r>
            <a:endParaRPr b="0" i="0" sz="2400" u="none" cap="none" strike="noStrike">
              <a:solidFill>
                <a:schemeClr val="dk1"/>
              </a:solidFill>
              <a:latin typeface="Arial"/>
              <a:ea typeface="Arial"/>
              <a:cs typeface="Arial"/>
              <a:sym typeface="Arial"/>
            </a:endParaRPr>
          </a:p>
        </p:txBody>
      </p:sp>
      <p:sp>
        <p:nvSpPr>
          <p:cNvPr id="325" name="Google Shape;325;p16"/>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6"/>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Cache acelera, mas exige cuidado na medição.</a:t>
            </a:r>
            <a:endParaRPr b="0" i="0" sz="1050" u="none" cap="none" strike="noStrike">
              <a:solidFill>
                <a:schemeClr val="dk1"/>
              </a:solidFill>
              <a:latin typeface="Arial"/>
              <a:ea typeface="Arial"/>
              <a:cs typeface="Arial"/>
              <a:sym typeface="Arial"/>
            </a:endParaRPr>
          </a:p>
        </p:txBody>
      </p:sp>
      <p:sp>
        <p:nvSpPr>
          <p:cNvPr id="327" name="Google Shape;327;p16"/>
          <p:cNvSpPr/>
          <p:nvPr/>
        </p:nvSpPr>
        <p:spPr>
          <a:xfrm>
            <a:off x="8046720" y="1673352"/>
            <a:ext cx="2103120" cy="320040"/>
          </a:xfrm>
          <a:prstGeom prst="roundRect">
            <a:avLst>
              <a:gd fmla="val 34286"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6"/>
          <p:cNvSpPr/>
          <p:nvPr/>
        </p:nvSpPr>
        <p:spPr>
          <a:xfrm>
            <a:off x="8119872" y="1732788"/>
            <a:ext cx="195681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000"/>
              <a:buFont typeface="Arial"/>
              <a:buNone/>
            </a:pPr>
            <a:r>
              <a:rPr b="0" i="0" lang="en-US" sz="1000" u="none" cap="none" strike="noStrike">
                <a:solidFill>
                  <a:srgbClr val="1E88E5"/>
                </a:solidFill>
                <a:latin typeface="Arial"/>
                <a:ea typeface="Arial"/>
                <a:cs typeface="Arial"/>
                <a:sym typeface="Arial"/>
              </a:rPr>
              <a:t>Página 1</a:t>
            </a:r>
            <a:endParaRPr b="0" i="0" sz="1000" u="none" cap="none" strike="noStrike">
              <a:solidFill>
                <a:schemeClr val="dk1"/>
              </a:solidFill>
              <a:latin typeface="Arial"/>
              <a:ea typeface="Arial"/>
              <a:cs typeface="Arial"/>
              <a:sym typeface="Arial"/>
            </a:endParaRPr>
          </a:p>
        </p:txBody>
      </p:sp>
      <p:sp>
        <p:nvSpPr>
          <p:cNvPr id="329" name="Google Shape;329;p16"/>
          <p:cNvSpPr/>
          <p:nvPr/>
        </p:nvSpPr>
        <p:spPr>
          <a:xfrm>
            <a:off x="8046720" y="2176272"/>
            <a:ext cx="2103120" cy="320040"/>
          </a:xfrm>
          <a:prstGeom prst="roundRect">
            <a:avLst>
              <a:gd fmla="val 34286"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6"/>
          <p:cNvSpPr/>
          <p:nvPr/>
        </p:nvSpPr>
        <p:spPr>
          <a:xfrm>
            <a:off x="8119872" y="2235708"/>
            <a:ext cx="195681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000"/>
              <a:buFont typeface="Arial"/>
              <a:buNone/>
            </a:pPr>
            <a:r>
              <a:rPr b="0" i="0" lang="en-US" sz="1000" u="none" cap="none" strike="noStrike">
                <a:solidFill>
                  <a:srgbClr val="1E88E5"/>
                </a:solidFill>
                <a:latin typeface="Arial"/>
                <a:ea typeface="Arial"/>
                <a:cs typeface="Arial"/>
                <a:sym typeface="Arial"/>
              </a:rPr>
              <a:t>Página 2</a:t>
            </a:r>
            <a:endParaRPr b="0" i="0" sz="1000" u="none" cap="none" strike="noStrike">
              <a:solidFill>
                <a:schemeClr val="dk1"/>
              </a:solidFill>
              <a:latin typeface="Arial"/>
              <a:ea typeface="Arial"/>
              <a:cs typeface="Arial"/>
              <a:sym typeface="Arial"/>
            </a:endParaRPr>
          </a:p>
        </p:txBody>
      </p:sp>
      <p:sp>
        <p:nvSpPr>
          <p:cNvPr id="331" name="Google Shape;331;p16"/>
          <p:cNvSpPr/>
          <p:nvPr/>
        </p:nvSpPr>
        <p:spPr>
          <a:xfrm>
            <a:off x="8046720" y="2679192"/>
            <a:ext cx="2103120" cy="320040"/>
          </a:xfrm>
          <a:prstGeom prst="roundRect">
            <a:avLst>
              <a:gd fmla="val 34286" name="adj"/>
            </a:avLst>
          </a:prstGeom>
          <a:solidFill>
            <a:srgbClr val="FFF3F3"/>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6"/>
          <p:cNvSpPr/>
          <p:nvPr/>
        </p:nvSpPr>
        <p:spPr>
          <a:xfrm>
            <a:off x="8119872" y="2738628"/>
            <a:ext cx="195681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62828"/>
              </a:buClr>
              <a:buSzPts val="1000"/>
              <a:buFont typeface="Arial"/>
              <a:buNone/>
            </a:pPr>
            <a:r>
              <a:rPr b="0" i="0" lang="en-US" sz="1000" u="none" cap="none" strike="noStrike">
                <a:solidFill>
                  <a:srgbClr val="C62828"/>
                </a:solidFill>
                <a:latin typeface="Arial"/>
                <a:ea typeface="Arial"/>
                <a:cs typeface="Arial"/>
                <a:sym typeface="Arial"/>
              </a:rPr>
              <a:t>Página ativa</a:t>
            </a:r>
            <a:endParaRPr b="0" i="0" sz="1000" u="none" cap="none" strike="noStrike">
              <a:solidFill>
                <a:schemeClr val="dk1"/>
              </a:solidFill>
              <a:latin typeface="Arial"/>
              <a:ea typeface="Arial"/>
              <a:cs typeface="Arial"/>
              <a:sym typeface="Arial"/>
            </a:endParaRPr>
          </a:p>
        </p:txBody>
      </p:sp>
      <p:sp>
        <p:nvSpPr>
          <p:cNvPr id="333" name="Google Shape;333;p16"/>
          <p:cNvSpPr/>
          <p:nvPr/>
        </p:nvSpPr>
        <p:spPr>
          <a:xfrm>
            <a:off x="8046720" y="3182112"/>
            <a:ext cx="2103120" cy="320040"/>
          </a:xfrm>
          <a:prstGeom prst="roundRect">
            <a:avLst>
              <a:gd fmla="val 34286"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6"/>
          <p:cNvSpPr/>
          <p:nvPr/>
        </p:nvSpPr>
        <p:spPr>
          <a:xfrm>
            <a:off x="8119872" y="3241548"/>
            <a:ext cx="195681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000"/>
              <a:buFont typeface="Arial"/>
              <a:buNone/>
            </a:pPr>
            <a:r>
              <a:rPr b="0" i="0" lang="en-US" sz="1000" u="none" cap="none" strike="noStrike">
                <a:solidFill>
                  <a:srgbClr val="1E88E5"/>
                </a:solidFill>
                <a:latin typeface="Arial"/>
                <a:ea typeface="Arial"/>
                <a:cs typeface="Arial"/>
                <a:sym typeface="Arial"/>
              </a:rPr>
              <a:t>Página 4</a:t>
            </a:r>
            <a:endParaRPr b="0" i="0" sz="1000" u="none" cap="none" strike="noStrike">
              <a:solidFill>
                <a:schemeClr val="dk1"/>
              </a:solidFill>
              <a:latin typeface="Arial"/>
              <a:ea typeface="Arial"/>
              <a:cs typeface="Arial"/>
              <a:sym typeface="Arial"/>
            </a:endParaRPr>
          </a:p>
        </p:txBody>
      </p:sp>
      <p:sp>
        <p:nvSpPr>
          <p:cNvPr id="335" name="Google Shape;335;p16"/>
          <p:cNvSpPr/>
          <p:nvPr/>
        </p:nvSpPr>
        <p:spPr>
          <a:xfrm>
            <a:off x="8046720" y="3685032"/>
            <a:ext cx="2103120" cy="320040"/>
          </a:xfrm>
          <a:prstGeom prst="roundRect">
            <a:avLst>
              <a:gd fmla="val 34286"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6"/>
          <p:cNvSpPr/>
          <p:nvPr/>
        </p:nvSpPr>
        <p:spPr>
          <a:xfrm>
            <a:off x="8119872" y="3744468"/>
            <a:ext cx="195681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000"/>
              <a:buFont typeface="Arial"/>
              <a:buNone/>
            </a:pPr>
            <a:r>
              <a:rPr b="0" i="0" lang="en-US" sz="1000" u="none" cap="none" strike="noStrike">
                <a:solidFill>
                  <a:srgbClr val="1E88E5"/>
                </a:solidFill>
                <a:latin typeface="Arial"/>
                <a:ea typeface="Arial"/>
                <a:cs typeface="Arial"/>
                <a:sym typeface="Arial"/>
              </a:rPr>
              <a:t>Página 5</a:t>
            </a:r>
            <a:endParaRPr b="0" i="0" sz="1000" u="none" cap="none" strike="noStrike">
              <a:solidFill>
                <a:schemeClr val="dk1"/>
              </a:solidFill>
              <a:latin typeface="Arial"/>
              <a:ea typeface="Arial"/>
              <a:cs typeface="Arial"/>
              <a:sym typeface="Arial"/>
            </a:endParaRPr>
          </a:p>
        </p:txBody>
      </p:sp>
      <p:sp>
        <p:nvSpPr>
          <p:cNvPr id="337" name="Google Shape;337;p16"/>
          <p:cNvSpPr/>
          <p:nvPr/>
        </p:nvSpPr>
        <p:spPr>
          <a:xfrm>
            <a:off x="10424160" y="2176272"/>
            <a:ext cx="685800" cy="1600200"/>
          </a:xfrm>
          <a:prstGeom prst="roundRect">
            <a:avLst>
              <a:gd fmla="val 1600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6"/>
          <p:cNvSpPr/>
          <p:nvPr/>
        </p:nvSpPr>
        <p:spPr>
          <a:xfrm>
            <a:off x="10497312" y="2875788"/>
            <a:ext cx="53949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1200"/>
              <a:buFont typeface="Arial"/>
              <a:buNone/>
            </a:pPr>
            <a:r>
              <a:rPr b="1" i="0" lang="en-US" sz="1200" u="none" cap="none" strike="noStrike">
                <a:solidFill>
                  <a:srgbClr val="2E7D32"/>
                </a:solidFill>
                <a:latin typeface="Arial"/>
                <a:ea typeface="Arial"/>
                <a:cs typeface="Arial"/>
                <a:sym typeface="Arial"/>
              </a:rPr>
              <a:t>RAM</a:t>
            </a:r>
            <a:endParaRPr b="0" i="0" sz="1200" u="none" cap="none" strike="noStrike">
              <a:solidFill>
                <a:schemeClr val="dk1"/>
              </a:solidFill>
              <a:latin typeface="Arial"/>
              <a:ea typeface="Arial"/>
              <a:cs typeface="Arial"/>
              <a:sym typeface="Arial"/>
            </a:endParaRPr>
          </a:p>
        </p:txBody>
      </p:sp>
      <p:cxnSp>
        <p:nvCxnSpPr>
          <p:cNvPr id="339" name="Google Shape;339;p16"/>
          <p:cNvCxnSpPr/>
          <p:nvPr/>
        </p:nvCxnSpPr>
        <p:spPr>
          <a:xfrm>
            <a:off x="10158984" y="2706624"/>
            <a:ext cx="265176" cy="0"/>
          </a:xfrm>
          <a:prstGeom prst="straightConnector1">
            <a:avLst/>
          </a:prstGeom>
          <a:noFill/>
          <a:ln cap="flat" cmpd="sng" w="12700">
            <a:solidFill>
              <a:srgbClr val="1E88E5"/>
            </a:solidFill>
            <a:prstDash val="solid"/>
            <a:round/>
            <a:headEnd len="sm" w="sm" type="none"/>
            <a:tailEnd len="med" w="med" type="triangle"/>
          </a:ln>
        </p:spPr>
      </p:cxnSp>
      <p:cxnSp>
        <p:nvCxnSpPr>
          <p:cNvPr id="340" name="Google Shape;340;p16"/>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341" name="Google Shape;341;p16"/>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16</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346" name="Shape 346"/>
        <p:cNvGrpSpPr/>
        <p:nvPr/>
      </p:nvGrpSpPr>
      <p:grpSpPr>
        <a:xfrm>
          <a:off x="0" y="0"/>
          <a:ext cx="0" cy="0"/>
          <a:chOff x="0" y="0"/>
          <a:chExt cx="0" cy="0"/>
        </a:xfrm>
      </p:grpSpPr>
      <p:sp>
        <p:nvSpPr>
          <p:cNvPr id="347" name="Google Shape;347;p17"/>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7"/>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Entrada e saída</a:t>
            </a:r>
            <a:endParaRPr b="0" i="0" sz="3200" u="none" cap="none" strike="noStrike">
              <a:solidFill>
                <a:schemeClr val="dk1"/>
              </a:solidFill>
              <a:latin typeface="Arial"/>
              <a:ea typeface="Arial"/>
              <a:cs typeface="Arial"/>
              <a:sym typeface="Arial"/>
            </a:endParaRPr>
          </a:p>
        </p:txBody>
      </p:sp>
      <p:sp>
        <p:nvSpPr>
          <p:cNvPr id="349" name="Google Shape;349;p17"/>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Disco, rede e dispositivos como gargalos</a:t>
            </a:r>
            <a:endParaRPr b="0" i="0" sz="1450" u="none" cap="none" strike="noStrike">
              <a:solidFill>
                <a:schemeClr val="dk1"/>
              </a:solidFill>
              <a:latin typeface="Arial"/>
              <a:ea typeface="Arial"/>
              <a:cs typeface="Arial"/>
              <a:sym typeface="Arial"/>
            </a:endParaRPr>
          </a:p>
        </p:txBody>
      </p:sp>
      <p:sp>
        <p:nvSpPr>
          <p:cNvPr id="350" name="Google Shape;350;p17"/>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Operações de entrada e saída costumam ser mais lentas que processamento em CPU. Um sistema pode parecer travado porque processos aguardam disco, rede ou dispositivo externo. Métricas de fila, tempo de espera e taxa de leitura ajudam a separar gargalo de CPU de gargalo de E/S.</a:t>
            </a:r>
            <a:endParaRPr b="0" i="0" sz="2400" u="none" cap="none" strike="noStrike">
              <a:solidFill>
                <a:schemeClr val="dk1"/>
              </a:solidFill>
              <a:latin typeface="Arial"/>
              <a:ea typeface="Arial"/>
              <a:cs typeface="Arial"/>
              <a:sym typeface="Arial"/>
            </a:endParaRPr>
          </a:p>
        </p:txBody>
      </p:sp>
      <p:sp>
        <p:nvSpPr>
          <p:cNvPr id="351" name="Google Shape;351;p17"/>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7"/>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E/S lenta aumenta filas e espera.</a:t>
            </a:r>
            <a:endParaRPr b="0" i="0" sz="1050" u="none" cap="none" strike="noStrike">
              <a:solidFill>
                <a:schemeClr val="dk1"/>
              </a:solidFill>
              <a:latin typeface="Arial"/>
              <a:ea typeface="Arial"/>
              <a:cs typeface="Arial"/>
              <a:sym typeface="Arial"/>
            </a:endParaRPr>
          </a:p>
        </p:txBody>
      </p:sp>
      <p:sp>
        <p:nvSpPr>
          <p:cNvPr id="353" name="Google Shape;353;p17"/>
          <p:cNvSpPr/>
          <p:nvPr/>
        </p:nvSpPr>
        <p:spPr>
          <a:xfrm>
            <a:off x="8046720" y="1856232"/>
            <a:ext cx="1097280" cy="1554480"/>
          </a:xfrm>
          <a:prstGeom prst="can">
            <a:avLst>
              <a:gd fmla="val 25000" name="adj"/>
            </a:avLst>
          </a:prstGeom>
          <a:solidFill>
            <a:srgbClr val="EEF2FF"/>
          </a:solidFill>
          <a:ln cap="flat" cmpd="sng" w="12700">
            <a:solidFill>
              <a:srgbClr val="1E88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7"/>
          <p:cNvSpPr/>
          <p:nvPr/>
        </p:nvSpPr>
        <p:spPr>
          <a:xfrm>
            <a:off x="8138160" y="2496312"/>
            <a:ext cx="914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88E5"/>
              </a:buClr>
              <a:buSzPts val="1300"/>
              <a:buFont typeface="Arial"/>
              <a:buNone/>
            </a:pPr>
            <a:r>
              <a:rPr b="1" i="0" lang="en-US" sz="1300" u="none" cap="none" strike="noStrike">
                <a:solidFill>
                  <a:srgbClr val="1E88E5"/>
                </a:solidFill>
                <a:latin typeface="Arial"/>
                <a:ea typeface="Arial"/>
                <a:cs typeface="Arial"/>
                <a:sym typeface="Arial"/>
              </a:rPr>
              <a:t>Disco</a:t>
            </a:r>
            <a:endParaRPr b="0" i="0" sz="1300" u="none" cap="none" strike="noStrike">
              <a:solidFill>
                <a:schemeClr val="dk1"/>
              </a:solidFill>
              <a:latin typeface="Arial"/>
              <a:ea typeface="Arial"/>
              <a:cs typeface="Arial"/>
              <a:sym typeface="Arial"/>
            </a:endParaRPr>
          </a:p>
        </p:txBody>
      </p:sp>
      <p:sp>
        <p:nvSpPr>
          <p:cNvPr id="355" name="Google Shape;355;p17"/>
          <p:cNvSpPr/>
          <p:nvPr/>
        </p:nvSpPr>
        <p:spPr>
          <a:xfrm>
            <a:off x="9875520" y="1764792"/>
            <a:ext cx="1234440" cy="475488"/>
          </a:xfrm>
          <a:prstGeom prst="roundRect">
            <a:avLst>
              <a:gd fmla="val 23077"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7"/>
          <p:cNvSpPr/>
          <p:nvPr/>
        </p:nvSpPr>
        <p:spPr>
          <a:xfrm>
            <a:off x="9948672" y="1901952"/>
            <a:ext cx="108813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324F"/>
              </a:buClr>
              <a:buSzPts val="1200"/>
              <a:buFont typeface="Arial"/>
              <a:buNone/>
            </a:pPr>
            <a:r>
              <a:rPr b="0" i="0" lang="en-US" sz="1200" u="none" cap="none" strike="noStrike">
                <a:solidFill>
                  <a:srgbClr val="16324F"/>
                </a:solidFill>
                <a:latin typeface="Arial"/>
                <a:ea typeface="Arial"/>
                <a:cs typeface="Arial"/>
                <a:sym typeface="Arial"/>
              </a:rPr>
              <a:t>Leitura</a:t>
            </a:r>
            <a:endParaRPr b="0" i="0" sz="1200" u="none" cap="none" strike="noStrike">
              <a:solidFill>
                <a:schemeClr val="dk1"/>
              </a:solidFill>
              <a:latin typeface="Arial"/>
              <a:ea typeface="Arial"/>
              <a:cs typeface="Arial"/>
              <a:sym typeface="Arial"/>
            </a:endParaRPr>
          </a:p>
        </p:txBody>
      </p:sp>
      <p:sp>
        <p:nvSpPr>
          <p:cNvPr id="357" name="Google Shape;357;p17"/>
          <p:cNvSpPr/>
          <p:nvPr/>
        </p:nvSpPr>
        <p:spPr>
          <a:xfrm>
            <a:off x="9875520" y="2496312"/>
            <a:ext cx="1234440" cy="475488"/>
          </a:xfrm>
          <a:prstGeom prst="roundRect">
            <a:avLst>
              <a:gd fmla="val 23077"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7"/>
          <p:cNvSpPr/>
          <p:nvPr/>
        </p:nvSpPr>
        <p:spPr>
          <a:xfrm>
            <a:off x="9948672" y="2633472"/>
            <a:ext cx="108813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324F"/>
              </a:buClr>
              <a:buSzPts val="1200"/>
              <a:buFont typeface="Arial"/>
              <a:buNone/>
            </a:pPr>
            <a:r>
              <a:rPr b="0" i="0" lang="en-US" sz="1200" u="none" cap="none" strike="noStrike">
                <a:solidFill>
                  <a:srgbClr val="16324F"/>
                </a:solidFill>
                <a:latin typeface="Arial"/>
                <a:ea typeface="Arial"/>
                <a:cs typeface="Arial"/>
                <a:sym typeface="Arial"/>
              </a:rPr>
              <a:t>Escrita</a:t>
            </a:r>
            <a:endParaRPr b="0" i="0" sz="1200" u="none" cap="none" strike="noStrike">
              <a:solidFill>
                <a:schemeClr val="dk1"/>
              </a:solidFill>
              <a:latin typeface="Arial"/>
              <a:ea typeface="Arial"/>
              <a:cs typeface="Arial"/>
              <a:sym typeface="Arial"/>
            </a:endParaRPr>
          </a:p>
        </p:txBody>
      </p:sp>
      <p:sp>
        <p:nvSpPr>
          <p:cNvPr id="359" name="Google Shape;359;p17"/>
          <p:cNvSpPr/>
          <p:nvPr/>
        </p:nvSpPr>
        <p:spPr>
          <a:xfrm>
            <a:off x="9875520" y="3227832"/>
            <a:ext cx="1234440" cy="475488"/>
          </a:xfrm>
          <a:prstGeom prst="roundRect">
            <a:avLst>
              <a:gd fmla="val 23077"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7"/>
          <p:cNvSpPr/>
          <p:nvPr/>
        </p:nvSpPr>
        <p:spPr>
          <a:xfrm>
            <a:off x="9948672" y="3364992"/>
            <a:ext cx="108813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324F"/>
              </a:buClr>
              <a:buSzPts val="1200"/>
              <a:buFont typeface="Arial"/>
              <a:buNone/>
            </a:pPr>
            <a:r>
              <a:rPr b="0" i="0" lang="en-US" sz="1200" u="none" cap="none" strike="noStrike">
                <a:solidFill>
                  <a:srgbClr val="16324F"/>
                </a:solidFill>
                <a:latin typeface="Arial"/>
                <a:ea typeface="Arial"/>
                <a:cs typeface="Arial"/>
                <a:sym typeface="Arial"/>
              </a:rPr>
              <a:t>Latência</a:t>
            </a:r>
            <a:endParaRPr b="0" i="0" sz="1200" u="none" cap="none" strike="noStrike">
              <a:solidFill>
                <a:schemeClr val="dk1"/>
              </a:solidFill>
              <a:latin typeface="Arial"/>
              <a:ea typeface="Arial"/>
              <a:cs typeface="Arial"/>
              <a:sym typeface="Arial"/>
            </a:endParaRPr>
          </a:p>
        </p:txBody>
      </p:sp>
      <p:cxnSp>
        <p:nvCxnSpPr>
          <p:cNvPr id="361" name="Google Shape;361;p17"/>
          <p:cNvCxnSpPr/>
          <p:nvPr/>
        </p:nvCxnSpPr>
        <p:spPr>
          <a:xfrm flipH="1" rot="10800000">
            <a:off x="9189720" y="1993392"/>
            <a:ext cx="658368" cy="228600"/>
          </a:xfrm>
          <a:prstGeom prst="straightConnector1">
            <a:avLst/>
          </a:prstGeom>
          <a:noFill/>
          <a:ln cap="flat" cmpd="sng" w="12700">
            <a:solidFill>
              <a:srgbClr val="1E88E5"/>
            </a:solidFill>
            <a:prstDash val="solid"/>
            <a:round/>
            <a:headEnd len="sm" w="sm" type="none"/>
            <a:tailEnd len="med" w="med" type="triangle"/>
          </a:ln>
        </p:spPr>
      </p:cxnSp>
      <p:cxnSp>
        <p:nvCxnSpPr>
          <p:cNvPr id="362" name="Google Shape;362;p17"/>
          <p:cNvCxnSpPr/>
          <p:nvPr/>
        </p:nvCxnSpPr>
        <p:spPr>
          <a:xfrm>
            <a:off x="9189720" y="2587752"/>
            <a:ext cx="658368" cy="137160"/>
          </a:xfrm>
          <a:prstGeom prst="straightConnector1">
            <a:avLst/>
          </a:prstGeom>
          <a:noFill/>
          <a:ln cap="flat" cmpd="sng" w="12700">
            <a:solidFill>
              <a:srgbClr val="1E88E5"/>
            </a:solidFill>
            <a:prstDash val="solid"/>
            <a:round/>
            <a:headEnd len="sm" w="sm" type="none"/>
            <a:tailEnd len="med" w="med" type="triangle"/>
          </a:ln>
        </p:spPr>
      </p:cxnSp>
      <p:cxnSp>
        <p:nvCxnSpPr>
          <p:cNvPr id="363" name="Google Shape;363;p17"/>
          <p:cNvCxnSpPr/>
          <p:nvPr/>
        </p:nvCxnSpPr>
        <p:spPr>
          <a:xfrm>
            <a:off x="9189720" y="2953512"/>
            <a:ext cx="658368" cy="502920"/>
          </a:xfrm>
          <a:prstGeom prst="straightConnector1">
            <a:avLst/>
          </a:prstGeom>
          <a:noFill/>
          <a:ln cap="flat" cmpd="sng" w="12700">
            <a:solidFill>
              <a:srgbClr val="1E88E5"/>
            </a:solidFill>
            <a:prstDash val="solid"/>
            <a:round/>
            <a:headEnd len="sm" w="sm" type="none"/>
            <a:tailEnd len="med" w="med" type="triangle"/>
          </a:ln>
        </p:spPr>
      </p:cxnSp>
      <p:cxnSp>
        <p:nvCxnSpPr>
          <p:cNvPr id="364" name="Google Shape;364;p17"/>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365" name="Google Shape;365;p17"/>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17</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370" name="Shape 370"/>
        <p:cNvGrpSpPr/>
        <p:nvPr/>
      </p:nvGrpSpPr>
      <p:grpSpPr>
        <a:xfrm>
          <a:off x="0" y="0"/>
          <a:ext cx="0" cy="0"/>
          <a:chOff x="0" y="0"/>
          <a:chExt cx="0" cy="0"/>
        </a:xfrm>
      </p:grpSpPr>
      <p:sp>
        <p:nvSpPr>
          <p:cNvPr id="371" name="Google Shape;371;p18"/>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8"/>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Concorrência e contenção</a:t>
            </a:r>
            <a:endParaRPr b="0" i="0" sz="3200" u="none" cap="none" strike="noStrike">
              <a:solidFill>
                <a:schemeClr val="dk1"/>
              </a:solidFill>
              <a:latin typeface="Arial"/>
              <a:ea typeface="Arial"/>
              <a:cs typeface="Arial"/>
              <a:sym typeface="Arial"/>
            </a:endParaRPr>
          </a:p>
        </p:txBody>
      </p:sp>
      <p:sp>
        <p:nvSpPr>
          <p:cNvPr id="373" name="Google Shape;373;p18"/>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Quando processos disputam o mesmo recurso</a:t>
            </a:r>
            <a:endParaRPr b="0" i="0" sz="1450" u="none" cap="none" strike="noStrike">
              <a:solidFill>
                <a:schemeClr val="dk1"/>
              </a:solidFill>
              <a:latin typeface="Arial"/>
              <a:ea typeface="Arial"/>
              <a:cs typeface="Arial"/>
              <a:sym typeface="Arial"/>
            </a:endParaRPr>
          </a:p>
        </p:txBody>
      </p:sp>
      <p:sp>
        <p:nvSpPr>
          <p:cNvPr id="374" name="Google Shape;374;p18"/>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Contenção ocorre quando vários processos precisam do mesmo recurso ao mesmo tempo. Pode envolver CPU, memória, disco, bloqueios, arquivos ou rede. A avaliação deve descobrir se o recurso está apenas muito usado ou se há fila, espera e queda de desempenho perceptível.</a:t>
            </a:r>
            <a:endParaRPr b="0" i="0" sz="2400" u="none" cap="none" strike="noStrike">
              <a:solidFill>
                <a:schemeClr val="dk1"/>
              </a:solidFill>
              <a:latin typeface="Arial"/>
              <a:ea typeface="Arial"/>
              <a:cs typeface="Arial"/>
              <a:sym typeface="Arial"/>
            </a:endParaRPr>
          </a:p>
        </p:txBody>
      </p:sp>
      <p:sp>
        <p:nvSpPr>
          <p:cNvPr id="375" name="Google Shape;375;p18"/>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8"/>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Concorrência sem controle vira espera.</a:t>
            </a:r>
            <a:endParaRPr b="0" i="0" sz="1050" u="none" cap="none" strike="noStrike">
              <a:solidFill>
                <a:schemeClr val="dk1"/>
              </a:solidFill>
              <a:latin typeface="Arial"/>
              <a:ea typeface="Arial"/>
              <a:cs typeface="Arial"/>
              <a:sym typeface="Arial"/>
            </a:endParaRPr>
          </a:p>
        </p:txBody>
      </p:sp>
      <p:sp>
        <p:nvSpPr>
          <p:cNvPr id="377" name="Google Shape;377;p18"/>
          <p:cNvSpPr/>
          <p:nvPr/>
        </p:nvSpPr>
        <p:spPr>
          <a:xfrm>
            <a:off x="7818120" y="2084832"/>
            <a:ext cx="1097280"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8"/>
          <p:cNvSpPr/>
          <p:nvPr/>
        </p:nvSpPr>
        <p:spPr>
          <a:xfrm>
            <a:off x="7891272" y="2249424"/>
            <a:ext cx="9509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200"/>
              <a:buFont typeface="Arial"/>
              <a:buNone/>
            </a:pPr>
            <a:r>
              <a:rPr b="1" i="0" lang="en-US" sz="1200" u="none" cap="none" strike="noStrike">
                <a:solidFill>
                  <a:srgbClr val="1E88E5"/>
                </a:solidFill>
                <a:latin typeface="Arial"/>
                <a:ea typeface="Arial"/>
                <a:cs typeface="Arial"/>
                <a:sym typeface="Arial"/>
              </a:rPr>
              <a:t>Chegada</a:t>
            </a:r>
            <a:endParaRPr b="0" i="0" sz="1200" u="none" cap="none" strike="noStrike">
              <a:solidFill>
                <a:schemeClr val="dk1"/>
              </a:solidFill>
              <a:latin typeface="Arial"/>
              <a:ea typeface="Arial"/>
              <a:cs typeface="Arial"/>
              <a:sym typeface="Arial"/>
            </a:endParaRPr>
          </a:p>
        </p:txBody>
      </p:sp>
      <p:cxnSp>
        <p:nvCxnSpPr>
          <p:cNvPr id="379" name="Google Shape;379;p18"/>
          <p:cNvCxnSpPr/>
          <p:nvPr/>
        </p:nvCxnSpPr>
        <p:spPr>
          <a:xfrm>
            <a:off x="8961120" y="2350008"/>
            <a:ext cx="411480" cy="0"/>
          </a:xfrm>
          <a:prstGeom prst="straightConnector1">
            <a:avLst/>
          </a:prstGeom>
          <a:noFill/>
          <a:ln cap="flat" cmpd="sng" w="12700">
            <a:solidFill>
              <a:srgbClr val="1E88E5"/>
            </a:solidFill>
            <a:prstDash val="solid"/>
            <a:round/>
            <a:headEnd len="sm" w="sm" type="none"/>
            <a:tailEnd len="med" w="med" type="triangle"/>
          </a:ln>
        </p:spPr>
      </p:cxnSp>
      <p:sp>
        <p:nvSpPr>
          <p:cNvPr id="380" name="Google Shape;380;p18"/>
          <p:cNvSpPr/>
          <p:nvPr/>
        </p:nvSpPr>
        <p:spPr>
          <a:xfrm>
            <a:off x="9418320" y="2103120"/>
            <a:ext cx="256032" cy="256032"/>
          </a:xfrm>
          <a:prstGeom prst="ellipse">
            <a:avLst/>
          </a:prstGeom>
          <a:solidFill>
            <a:srgbClr val="C62828"/>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8"/>
          <p:cNvSpPr/>
          <p:nvPr/>
        </p:nvSpPr>
        <p:spPr>
          <a:xfrm>
            <a:off x="9418320" y="2103120"/>
            <a:ext cx="256032"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chemeClr val="dk1"/>
              </a:buClr>
              <a:buSzPts val="800"/>
              <a:buFont typeface="Arial"/>
              <a:buNone/>
            </a:pPr>
            <a:r>
              <a:t/>
            </a:r>
            <a:endParaRPr b="0" i="0" sz="800" u="none" cap="none" strike="noStrike">
              <a:solidFill>
                <a:schemeClr val="dk1"/>
              </a:solidFill>
              <a:latin typeface="Arial"/>
              <a:ea typeface="Arial"/>
              <a:cs typeface="Arial"/>
              <a:sym typeface="Arial"/>
            </a:endParaRPr>
          </a:p>
        </p:txBody>
      </p:sp>
      <p:sp>
        <p:nvSpPr>
          <p:cNvPr id="382" name="Google Shape;382;p18"/>
          <p:cNvSpPr/>
          <p:nvPr/>
        </p:nvSpPr>
        <p:spPr>
          <a:xfrm>
            <a:off x="9765792" y="2103120"/>
            <a:ext cx="256032" cy="256032"/>
          </a:xfrm>
          <a:prstGeom prst="ellipse">
            <a:avLst/>
          </a:prstGeom>
          <a:solidFill>
            <a:srgbClr val="F9A825"/>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8"/>
          <p:cNvSpPr/>
          <p:nvPr/>
        </p:nvSpPr>
        <p:spPr>
          <a:xfrm>
            <a:off x="9765792" y="2103120"/>
            <a:ext cx="256032"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chemeClr val="dk1"/>
              </a:buClr>
              <a:buSzPts val="800"/>
              <a:buFont typeface="Arial"/>
              <a:buNone/>
            </a:pPr>
            <a:r>
              <a:t/>
            </a:r>
            <a:endParaRPr b="0" i="0" sz="800" u="none" cap="none" strike="noStrike">
              <a:solidFill>
                <a:schemeClr val="dk1"/>
              </a:solidFill>
              <a:latin typeface="Arial"/>
              <a:ea typeface="Arial"/>
              <a:cs typeface="Arial"/>
              <a:sym typeface="Arial"/>
            </a:endParaRPr>
          </a:p>
        </p:txBody>
      </p:sp>
      <p:sp>
        <p:nvSpPr>
          <p:cNvPr id="384" name="Google Shape;384;p18"/>
          <p:cNvSpPr/>
          <p:nvPr/>
        </p:nvSpPr>
        <p:spPr>
          <a:xfrm>
            <a:off x="10113264" y="2103120"/>
            <a:ext cx="256032" cy="256032"/>
          </a:xfrm>
          <a:prstGeom prst="ellipse">
            <a:avLst/>
          </a:prstGeom>
          <a:solidFill>
            <a:srgbClr val="1E88E5"/>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8"/>
          <p:cNvSpPr/>
          <p:nvPr/>
        </p:nvSpPr>
        <p:spPr>
          <a:xfrm>
            <a:off x="10113264" y="2103120"/>
            <a:ext cx="256032"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chemeClr val="dk1"/>
              </a:buClr>
              <a:buSzPts val="800"/>
              <a:buFont typeface="Arial"/>
              <a:buNone/>
            </a:pPr>
            <a:r>
              <a:t/>
            </a:r>
            <a:endParaRPr b="0" i="0" sz="800" u="none" cap="none" strike="noStrike">
              <a:solidFill>
                <a:schemeClr val="dk1"/>
              </a:solidFill>
              <a:latin typeface="Arial"/>
              <a:ea typeface="Arial"/>
              <a:cs typeface="Arial"/>
              <a:sym typeface="Arial"/>
            </a:endParaRPr>
          </a:p>
        </p:txBody>
      </p:sp>
      <p:sp>
        <p:nvSpPr>
          <p:cNvPr id="386" name="Google Shape;386;p18"/>
          <p:cNvSpPr/>
          <p:nvPr/>
        </p:nvSpPr>
        <p:spPr>
          <a:xfrm>
            <a:off x="10460736" y="2103120"/>
            <a:ext cx="256032" cy="256032"/>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8"/>
          <p:cNvSpPr/>
          <p:nvPr/>
        </p:nvSpPr>
        <p:spPr>
          <a:xfrm>
            <a:off x="10460736" y="2103120"/>
            <a:ext cx="256032"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chemeClr val="dk1"/>
              </a:buClr>
              <a:buSzPts val="800"/>
              <a:buFont typeface="Arial"/>
              <a:buNone/>
            </a:pPr>
            <a:r>
              <a:t/>
            </a:r>
            <a:endParaRPr b="0" i="0" sz="800" u="none" cap="none" strike="noStrike">
              <a:solidFill>
                <a:schemeClr val="dk1"/>
              </a:solidFill>
              <a:latin typeface="Arial"/>
              <a:ea typeface="Arial"/>
              <a:cs typeface="Arial"/>
              <a:sym typeface="Arial"/>
            </a:endParaRPr>
          </a:p>
        </p:txBody>
      </p:sp>
      <p:cxnSp>
        <p:nvCxnSpPr>
          <p:cNvPr id="388" name="Google Shape;388;p18"/>
          <p:cNvCxnSpPr/>
          <p:nvPr/>
        </p:nvCxnSpPr>
        <p:spPr>
          <a:xfrm>
            <a:off x="10881360" y="2350008"/>
            <a:ext cx="365760" cy="0"/>
          </a:xfrm>
          <a:prstGeom prst="straightConnector1">
            <a:avLst/>
          </a:prstGeom>
          <a:noFill/>
          <a:ln cap="flat" cmpd="sng" w="12700">
            <a:solidFill>
              <a:srgbClr val="1E88E5"/>
            </a:solidFill>
            <a:prstDash val="solid"/>
            <a:round/>
            <a:headEnd len="sm" w="sm" type="none"/>
            <a:tailEnd len="med" w="med" type="triangle"/>
          </a:ln>
        </p:spPr>
      </p:cxnSp>
      <p:sp>
        <p:nvSpPr>
          <p:cNvPr id="389" name="Google Shape;389;p18"/>
          <p:cNvSpPr/>
          <p:nvPr/>
        </p:nvSpPr>
        <p:spPr>
          <a:xfrm>
            <a:off x="10607040" y="3182112"/>
            <a:ext cx="868680" cy="640080"/>
          </a:xfrm>
          <a:prstGeom prst="roundRect">
            <a:avLst>
              <a:gd fmla="val 17143" name="adj"/>
            </a:avLst>
          </a:prstGeom>
          <a:solidFill>
            <a:srgbClr val="FFF3F3"/>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8"/>
          <p:cNvSpPr/>
          <p:nvPr/>
        </p:nvSpPr>
        <p:spPr>
          <a:xfrm>
            <a:off x="10680192" y="3401568"/>
            <a:ext cx="7223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62828"/>
              </a:buClr>
              <a:buSzPts val="1200"/>
              <a:buFont typeface="Arial"/>
              <a:buNone/>
            </a:pPr>
            <a:r>
              <a:rPr b="1" i="0" lang="en-US" sz="1200" u="none" cap="none" strike="noStrike">
                <a:solidFill>
                  <a:srgbClr val="C62828"/>
                </a:solidFill>
                <a:latin typeface="Arial"/>
                <a:ea typeface="Arial"/>
                <a:cs typeface="Arial"/>
                <a:sym typeface="Arial"/>
              </a:rPr>
              <a:t>CPU</a:t>
            </a:r>
            <a:endParaRPr b="0" i="0" sz="1200" u="none" cap="none" strike="noStrike">
              <a:solidFill>
                <a:schemeClr val="dk1"/>
              </a:solidFill>
              <a:latin typeface="Arial"/>
              <a:ea typeface="Arial"/>
              <a:cs typeface="Arial"/>
              <a:sym typeface="Arial"/>
            </a:endParaRPr>
          </a:p>
        </p:txBody>
      </p:sp>
      <p:cxnSp>
        <p:nvCxnSpPr>
          <p:cNvPr id="391" name="Google Shape;391;p18"/>
          <p:cNvCxnSpPr/>
          <p:nvPr/>
        </p:nvCxnSpPr>
        <p:spPr>
          <a:xfrm>
            <a:off x="10972800" y="2633472"/>
            <a:ext cx="0" cy="530352"/>
          </a:xfrm>
          <a:prstGeom prst="straightConnector1">
            <a:avLst/>
          </a:prstGeom>
          <a:noFill/>
          <a:ln cap="flat" cmpd="sng" w="12700">
            <a:solidFill>
              <a:srgbClr val="1E88E5"/>
            </a:solidFill>
            <a:prstDash val="solid"/>
            <a:round/>
            <a:headEnd len="sm" w="sm" type="none"/>
            <a:tailEnd len="med" w="med" type="triangle"/>
          </a:ln>
        </p:spPr>
      </p:cxnSp>
      <p:sp>
        <p:nvSpPr>
          <p:cNvPr id="392" name="Google Shape;392;p18"/>
          <p:cNvSpPr/>
          <p:nvPr/>
        </p:nvSpPr>
        <p:spPr>
          <a:xfrm>
            <a:off x="8412480" y="4233672"/>
            <a:ext cx="23317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Fila = espera antes do atendimento</a:t>
            </a:r>
            <a:endParaRPr b="0" i="0" sz="1100" u="none" cap="none" strike="noStrike">
              <a:solidFill>
                <a:schemeClr val="dk1"/>
              </a:solidFill>
              <a:latin typeface="Arial"/>
              <a:ea typeface="Arial"/>
              <a:cs typeface="Arial"/>
              <a:sym typeface="Arial"/>
            </a:endParaRPr>
          </a:p>
        </p:txBody>
      </p:sp>
      <p:cxnSp>
        <p:nvCxnSpPr>
          <p:cNvPr id="393" name="Google Shape;393;p18"/>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394" name="Google Shape;394;p18"/>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18</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399" name="Shape 399"/>
        <p:cNvGrpSpPr/>
        <p:nvPr/>
      </p:nvGrpSpPr>
      <p:grpSpPr>
        <a:xfrm>
          <a:off x="0" y="0"/>
          <a:ext cx="0" cy="0"/>
          <a:chOff x="0" y="0"/>
          <a:chExt cx="0" cy="0"/>
        </a:xfrm>
      </p:grpSpPr>
      <p:sp>
        <p:nvSpPr>
          <p:cNvPr id="400" name="Google Shape;400;p19"/>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9"/>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Confiabilidade e robustez</a:t>
            </a:r>
            <a:endParaRPr b="0" i="0" sz="3200" u="none" cap="none" strike="noStrike">
              <a:solidFill>
                <a:schemeClr val="dk1"/>
              </a:solidFill>
              <a:latin typeface="Arial"/>
              <a:ea typeface="Arial"/>
              <a:cs typeface="Arial"/>
              <a:sym typeface="Arial"/>
            </a:endParaRPr>
          </a:p>
        </p:txBody>
      </p:sp>
      <p:sp>
        <p:nvSpPr>
          <p:cNvPr id="402" name="Google Shape;402;p19"/>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Desempenho também envolve estabilidade</a:t>
            </a:r>
            <a:endParaRPr b="0" i="0" sz="1450" u="none" cap="none" strike="noStrike">
              <a:solidFill>
                <a:schemeClr val="dk1"/>
              </a:solidFill>
              <a:latin typeface="Arial"/>
              <a:ea typeface="Arial"/>
              <a:cs typeface="Arial"/>
              <a:sym typeface="Arial"/>
            </a:endParaRPr>
          </a:p>
        </p:txBody>
      </p:sp>
      <p:sp>
        <p:nvSpPr>
          <p:cNvPr id="403" name="Google Shape;403;p19"/>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Um sistema operacional deve manter funcionamento adequado mesmo sob falhas, cargas elevadas ou entradas inesperadas. Robustez significa resistir a situações adversas sem travar. Confiabilidade indica a probabilidade de operar corretamente por determinado período, com poucas falhas ou interrupções.</a:t>
            </a:r>
            <a:endParaRPr b="0" i="0" sz="2400" u="none" cap="none" strike="noStrike">
              <a:solidFill>
                <a:schemeClr val="dk1"/>
              </a:solidFill>
              <a:latin typeface="Arial"/>
              <a:ea typeface="Arial"/>
              <a:cs typeface="Arial"/>
              <a:sym typeface="Arial"/>
            </a:endParaRPr>
          </a:p>
        </p:txBody>
      </p:sp>
      <p:sp>
        <p:nvSpPr>
          <p:cNvPr id="404" name="Google Shape;404;p19"/>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9"/>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Sistema bom também precisa permanecer estável.</a:t>
            </a:r>
            <a:endParaRPr b="0" i="0" sz="1050" u="none" cap="none" strike="noStrike">
              <a:solidFill>
                <a:schemeClr val="dk1"/>
              </a:solidFill>
              <a:latin typeface="Arial"/>
              <a:ea typeface="Arial"/>
              <a:cs typeface="Arial"/>
              <a:sym typeface="Arial"/>
            </a:endParaRPr>
          </a:p>
        </p:txBody>
      </p:sp>
      <p:sp>
        <p:nvSpPr>
          <p:cNvPr id="406" name="Google Shape;406;p19"/>
          <p:cNvSpPr/>
          <p:nvPr/>
        </p:nvSpPr>
        <p:spPr>
          <a:xfrm>
            <a:off x="8138160" y="176479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9"/>
          <p:cNvSpPr/>
          <p:nvPr/>
        </p:nvSpPr>
        <p:spPr>
          <a:xfrm>
            <a:off x="8138160" y="179222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408" name="Google Shape;408;p19"/>
          <p:cNvSpPr/>
          <p:nvPr/>
        </p:nvSpPr>
        <p:spPr>
          <a:xfrm>
            <a:off x="8549640" y="179222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Métrica certa</a:t>
            </a:r>
            <a:endParaRPr b="0" i="0" sz="1250" u="none" cap="none" strike="noStrike">
              <a:solidFill>
                <a:schemeClr val="dk1"/>
              </a:solidFill>
              <a:latin typeface="Arial"/>
              <a:ea typeface="Arial"/>
              <a:cs typeface="Arial"/>
              <a:sym typeface="Arial"/>
            </a:endParaRPr>
          </a:p>
        </p:txBody>
      </p:sp>
      <p:sp>
        <p:nvSpPr>
          <p:cNvPr id="409" name="Google Shape;409;p19"/>
          <p:cNvSpPr/>
          <p:nvPr/>
        </p:nvSpPr>
        <p:spPr>
          <a:xfrm>
            <a:off x="8138160" y="249631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9"/>
          <p:cNvSpPr/>
          <p:nvPr/>
        </p:nvSpPr>
        <p:spPr>
          <a:xfrm>
            <a:off x="8138160" y="252374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411" name="Google Shape;411;p19"/>
          <p:cNvSpPr/>
          <p:nvPr/>
        </p:nvSpPr>
        <p:spPr>
          <a:xfrm>
            <a:off x="8549640" y="252374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Ambiente controlado</a:t>
            </a:r>
            <a:endParaRPr b="0" i="0" sz="1250" u="none" cap="none" strike="noStrike">
              <a:solidFill>
                <a:schemeClr val="dk1"/>
              </a:solidFill>
              <a:latin typeface="Arial"/>
              <a:ea typeface="Arial"/>
              <a:cs typeface="Arial"/>
              <a:sym typeface="Arial"/>
            </a:endParaRPr>
          </a:p>
        </p:txBody>
      </p:sp>
      <p:sp>
        <p:nvSpPr>
          <p:cNvPr id="412" name="Google Shape;412;p19"/>
          <p:cNvSpPr/>
          <p:nvPr/>
        </p:nvSpPr>
        <p:spPr>
          <a:xfrm>
            <a:off x="8138160" y="322783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9"/>
          <p:cNvSpPr/>
          <p:nvPr/>
        </p:nvSpPr>
        <p:spPr>
          <a:xfrm>
            <a:off x="8138160" y="325526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414" name="Google Shape;414;p19"/>
          <p:cNvSpPr/>
          <p:nvPr/>
        </p:nvSpPr>
        <p:spPr>
          <a:xfrm>
            <a:off x="8549640" y="325526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Amostras suficientes</a:t>
            </a:r>
            <a:endParaRPr b="0" i="0" sz="1250" u="none" cap="none" strike="noStrike">
              <a:solidFill>
                <a:schemeClr val="dk1"/>
              </a:solidFill>
              <a:latin typeface="Arial"/>
              <a:ea typeface="Arial"/>
              <a:cs typeface="Arial"/>
              <a:sym typeface="Arial"/>
            </a:endParaRPr>
          </a:p>
        </p:txBody>
      </p:sp>
      <p:sp>
        <p:nvSpPr>
          <p:cNvPr id="415" name="Google Shape;415;p19"/>
          <p:cNvSpPr/>
          <p:nvPr/>
        </p:nvSpPr>
        <p:spPr>
          <a:xfrm>
            <a:off x="8138160" y="395935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9"/>
          <p:cNvSpPr/>
          <p:nvPr/>
        </p:nvSpPr>
        <p:spPr>
          <a:xfrm>
            <a:off x="8138160" y="398678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417" name="Google Shape;417;p19"/>
          <p:cNvSpPr/>
          <p:nvPr/>
        </p:nvSpPr>
        <p:spPr>
          <a:xfrm>
            <a:off x="8549640" y="398678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Conclusão sustentada</a:t>
            </a:r>
            <a:endParaRPr b="0" i="0" sz="1250" u="none" cap="none" strike="noStrike">
              <a:solidFill>
                <a:schemeClr val="dk1"/>
              </a:solidFill>
              <a:latin typeface="Arial"/>
              <a:ea typeface="Arial"/>
              <a:cs typeface="Arial"/>
              <a:sym typeface="Arial"/>
            </a:endParaRPr>
          </a:p>
        </p:txBody>
      </p:sp>
      <p:cxnSp>
        <p:nvCxnSpPr>
          <p:cNvPr id="418" name="Google Shape;418;p19"/>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419" name="Google Shape;419;p19"/>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19</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424" name="Shape 424"/>
        <p:cNvGrpSpPr/>
        <p:nvPr/>
      </p:nvGrpSpPr>
      <p:grpSpPr>
        <a:xfrm>
          <a:off x="0" y="0"/>
          <a:ext cx="0" cy="0"/>
          <a:chOff x="0" y="0"/>
          <a:chExt cx="0" cy="0"/>
        </a:xfrm>
      </p:grpSpPr>
      <p:sp>
        <p:nvSpPr>
          <p:cNvPr id="425" name="Google Shape;425;p20"/>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0"/>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Escalabilidade</a:t>
            </a:r>
            <a:endParaRPr b="0" i="0" sz="3200" u="none" cap="none" strike="noStrike">
              <a:solidFill>
                <a:schemeClr val="dk1"/>
              </a:solidFill>
              <a:latin typeface="Arial"/>
              <a:ea typeface="Arial"/>
              <a:cs typeface="Arial"/>
              <a:sym typeface="Arial"/>
            </a:endParaRPr>
          </a:p>
        </p:txBody>
      </p:sp>
      <p:sp>
        <p:nvSpPr>
          <p:cNvPr id="427" name="Google Shape;427;p20"/>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Como o sistema reage ao aumento da carga</a:t>
            </a:r>
            <a:endParaRPr b="0" i="0" sz="1450" u="none" cap="none" strike="noStrike">
              <a:solidFill>
                <a:schemeClr val="dk1"/>
              </a:solidFill>
              <a:latin typeface="Arial"/>
              <a:ea typeface="Arial"/>
              <a:cs typeface="Arial"/>
              <a:sym typeface="Arial"/>
            </a:endParaRPr>
          </a:p>
        </p:txBody>
      </p:sp>
      <p:sp>
        <p:nvSpPr>
          <p:cNvPr id="428" name="Google Shape;428;p20"/>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Escalabilidade indica a capacidade de manter desempenho aceitável quando aumentam usuários, processos, dados ou requisições. Em sistemas operacionais, ela depende de escalonamento, gerenciamento de memória, E/S e arquitetura. Um sistema escalável cresce sem degradação brusca.</a:t>
            </a:r>
            <a:endParaRPr b="0" i="0" sz="2400" u="none" cap="none" strike="noStrike">
              <a:solidFill>
                <a:schemeClr val="dk1"/>
              </a:solidFill>
              <a:latin typeface="Arial"/>
              <a:ea typeface="Arial"/>
              <a:cs typeface="Arial"/>
              <a:sym typeface="Arial"/>
            </a:endParaRPr>
          </a:p>
        </p:txBody>
      </p:sp>
      <p:sp>
        <p:nvSpPr>
          <p:cNvPr id="429" name="Google Shape;429;p20"/>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0"/>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O limite aparece quando a curva muda.</a:t>
            </a:r>
            <a:endParaRPr b="0" i="0" sz="1050" u="none" cap="none" strike="noStrike">
              <a:solidFill>
                <a:schemeClr val="dk1"/>
              </a:solidFill>
              <a:latin typeface="Arial"/>
              <a:ea typeface="Arial"/>
              <a:cs typeface="Arial"/>
              <a:sym typeface="Arial"/>
            </a:endParaRPr>
          </a:p>
        </p:txBody>
      </p:sp>
      <p:sp>
        <p:nvSpPr>
          <p:cNvPr id="431" name="Google Shape;431;p20"/>
          <p:cNvSpPr/>
          <p:nvPr/>
        </p:nvSpPr>
        <p:spPr>
          <a:xfrm>
            <a:off x="8138160" y="3792474"/>
            <a:ext cx="320040" cy="349758"/>
          </a:xfrm>
          <a:prstGeom prst="rect">
            <a:avLst/>
          </a:prstGeom>
          <a:solidFill>
            <a:srgbClr val="2E7D32"/>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0"/>
          <p:cNvSpPr/>
          <p:nvPr/>
        </p:nvSpPr>
        <p:spPr>
          <a:xfrm>
            <a:off x="8074152"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1</a:t>
            </a:r>
            <a:endParaRPr b="0" i="0" sz="900" u="none" cap="none" strike="noStrike">
              <a:solidFill>
                <a:schemeClr val="dk1"/>
              </a:solidFill>
              <a:latin typeface="Arial"/>
              <a:ea typeface="Arial"/>
              <a:cs typeface="Arial"/>
              <a:sym typeface="Arial"/>
            </a:endParaRPr>
          </a:p>
        </p:txBody>
      </p:sp>
      <p:sp>
        <p:nvSpPr>
          <p:cNvPr id="433" name="Google Shape;433;p20"/>
          <p:cNvSpPr/>
          <p:nvPr/>
        </p:nvSpPr>
        <p:spPr>
          <a:xfrm>
            <a:off x="8759952" y="3588449"/>
            <a:ext cx="320040" cy="553784"/>
          </a:xfrm>
          <a:prstGeom prst="rect">
            <a:avLst/>
          </a:prstGeom>
          <a:solidFill>
            <a:srgbClr val="2E7D32"/>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0"/>
          <p:cNvSpPr/>
          <p:nvPr/>
        </p:nvSpPr>
        <p:spPr>
          <a:xfrm>
            <a:off x="8695944"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2</a:t>
            </a:r>
            <a:endParaRPr b="0" i="0" sz="900" u="none" cap="none" strike="noStrike">
              <a:solidFill>
                <a:schemeClr val="dk1"/>
              </a:solidFill>
              <a:latin typeface="Arial"/>
              <a:ea typeface="Arial"/>
              <a:cs typeface="Arial"/>
              <a:sym typeface="Arial"/>
            </a:endParaRPr>
          </a:p>
        </p:txBody>
      </p:sp>
      <p:sp>
        <p:nvSpPr>
          <p:cNvPr id="435" name="Google Shape;435;p20"/>
          <p:cNvSpPr/>
          <p:nvPr/>
        </p:nvSpPr>
        <p:spPr>
          <a:xfrm>
            <a:off x="9381744" y="3209544"/>
            <a:ext cx="320040" cy="932688"/>
          </a:xfrm>
          <a:prstGeom prst="rect">
            <a:avLst/>
          </a:prstGeom>
          <a:solidFill>
            <a:srgbClr val="F9A825"/>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0"/>
          <p:cNvSpPr/>
          <p:nvPr/>
        </p:nvSpPr>
        <p:spPr>
          <a:xfrm>
            <a:off x="9317736"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3</a:t>
            </a:r>
            <a:endParaRPr b="0" i="0" sz="900" u="none" cap="none" strike="noStrike">
              <a:solidFill>
                <a:schemeClr val="dk1"/>
              </a:solidFill>
              <a:latin typeface="Arial"/>
              <a:ea typeface="Arial"/>
              <a:cs typeface="Arial"/>
              <a:sym typeface="Arial"/>
            </a:endParaRPr>
          </a:p>
        </p:txBody>
      </p:sp>
      <p:sp>
        <p:nvSpPr>
          <p:cNvPr id="437" name="Google Shape;437;p20"/>
          <p:cNvSpPr/>
          <p:nvPr/>
        </p:nvSpPr>
        <p:spPr>
          <a:xfrm>
            <a:off x="10003536" y="2568321"/>
            <a:ext cx="320040" cy="1573911"/>
          </a:xfrm>
          <a:prstGeom prst="rect">
            <a:avLst/>
          </a:prstGeom>
          <a:solidFill>
            <a:srgbClr val="F9A825"/>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0"/>
          <p:cNvSpPr/>
          <p:nvPr/>
        </p:nvSpPr>
        <p:spPr>
          <a:xfrm>
            <a:off x="9939528"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4</a:t>
            </a:r>
            <a:endParaRPr b="0" i="0" sz="900" u="none" cap="none" strike="noStrike">
              <a:solidFill>
                <a:schemeClr val="dk1"/>
              </a:solidFill>
              <a:latin typeface="Arial"/>
              <a:ea typeface="Arial"/>
              <a:cs typeface="Arial"/>
              <a:sym typeface="Arial"/>
            </a:endParaRPr>
          </a:p>
        </p:txBody>
      </p:sp>
      <p:sp>
        <p:nvSpPr>
          <p:cNvPr id="439" name="Google Shape;439;p20"/>
          <p:cNvSpPr/>
          <p:nvPr/>
        </p:nvSpPr>
        <p:spPr>
          <a:xfrm>
            <a:off x="10625328" y="1810512"/>
            <a:ext cx="320040" cy="2331720"/>
          </a:xfrm>
          <a:prstGeom prst="rect">
            <a:avLst/>
          </a:prstGeom>
          <a:solidFill>
            <a:srgbClr val="C62828"/>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0"/>
          <p:cNvSpPr/>
          <p:nvPr/>
        </p:nvSpPr>
        <p:spPr>
          <a:xfrm>
            <a:off x="10561320"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5</a:t>
            </a:r>
            <a:endParaRPr b="0" i="0" sz="900" u="none" cap="none" strike="noStrike">
              <a:solidFill>
                <a:schemeClr val="dk1"/>
              </a:solidFill>
              <a:latin typeface="Arial"/>
              <a:ea typeface="Arial"/>
              <a:cs typeface="Arial"/>
              <a:sym typeface="Arial"/>
            </a:endParaRPr>
          </a:p>
        </p:txBody>
      </p:sp>
      <p:cxnSp>
        <p:nvCxnSpPr>
          <p:cNvPr id="441" name="Google Shape;441;p20"/>
          <p:cNvCxnSpPr/>
          <p:nvPr/>
        </p:nvCxnSpPr>
        <p:spPr>
          <a:xfrm>
            <a:off x="7982712" y="1810512"/>
            <a:ext cx="0" cy="2423160"/>
          </a:xfrm>
          <a:prstGeom prst="straightConnector1">
            <a:avLst/>
          </a:prstGeom>
          <a:noFill/>
          <a:ln cap="flat" cmpd="sng" w="12700">
            <a:solidFill>
              <a:srgbClr val="D6DEE8"/>
            </a:solidFill>
            <a:prstDash val="solid"/>
            <a:round/>
            <a:headEnd len="sm" w="sm" type="none"/>
            <a:tailEnd len="sm" w="sm" type="none"/>
          </a:ln>
        </p:spPr>
      </p:cxnSp>
      <p:cxnSp>
        <p:nvCxnSpPr>
          <p:cNvPr id="442" name="Google Shape;442;p20"/>
          <p:cNvCxnSpPr/>
          <p:nvPr/>
        </p:nvCxnSpPr>
        <p:spPr>
          <a:xfrm>
            <a:off x="7982712" y="4233672"/>
            <a:ext cx="3337560" cy="0"/>
          </a:xfrm>
          <a:prstGeom prst="straightConnector1">
            <a:avLst/>
          </a:prstGeom>
          <a:noFill/>
          <a:ln cap="flat" cmpd="sng" w="12700">
            <a:solidFill>
              <a:srgbClr val="D6DEE8"/>
            </a:solidFill>
            <a:prstDash val="solid"/>
            <a:round/>
            <a:headEnd len="sm" w="sm" type="none"/>
            <a:tailEnd len="sm" w="sm" type="none"/>
          </a:ln>
        </p:spPr>
      </p:cxnSp>
      <p:sp>
        <p:nvSpPr>
          <p:cNvPr id="443" name="Google Shape;443;p20"/>
          <p:cNvSpPr/>
          <p:nvPr/>
        </p:nvSpPr>
        <p:spPr>
          <a:xfrm>
            <a:off x="8412480" y="1490472"/>
            <a:ext cx="23317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Tempo médio cresce com a carga</a:t>
            </a:r>
            <a:endParaRPr b="0" i="0" sz="1100" u="none" cap="none" strike="noStrike">
              <a:solidFill>
                <a:schemeClr val="dk1"/>
              </a:solidFill>
              <a:latin typeface="Arial"/>
              <a:ea typeface="Arial"/>
              <a:cs typeface="Arial"/>
              <a:sym typeface="Arial"/>
            </a:endParaRPr>
          </a:p>
        </p:txBody>
      </p:sp>
      <p:cxnSp>
        <p:nvCxnSpPr>
          <p:cNvPr id="444" name="Google Shape;444;p20"/>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445" name="Google Shape;445;p20"/>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20</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450" name="Shape 450"/>
        <p:cNvGrpSpPr/>
        <p:nvPr/>
      </p:nvGrpSpPr>
      <p:grpSpPr>
        <a:xfrm>
          <a:off x="0" y="0"/>
          <a:ext cx="0" cy="0"/>
          <a:chOff x="0" y="0"/>
          <a:chExt cx="0" cy="0"/>
        </a:xfrm>
      </p:grpSpPr>
      <p:sp>
        <p:nvSpPr>
          <p:cNvPr id="451" name="Google Shape;451;p21"/>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1"/>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Carga de trabalho</a:t>
            </a:r>
            <a:endParaRPr b="0" i="0" sz="3200" u="none" cap="none" strike="noStrike">
              <a:solidFill>
                <a:schemeClr val="dk1"/>
              </a:solidFill>
              <a:latin typeface="Arial"/>
              <a:ea typeface="Arial"/>
              <a:cs typeface="Arial"/>
              <a:sym typeface="Arial"/>
            </a:endParaRPr>
          </a:p>
        </p:txBody>
      </p:sp>
      <p:sp>
        <p:nvSpPr>
          <p:cNvPr id="453" name="Google Shape;453;p21"/>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O que o sistema realmente executa</a:t>
            </a:r>
            <a:endParaRPr b="0" i="0" sz="1450" u="none" cap="none" strike="noStrike">
              <a:solidFill>
                <a:schemeClr val="dk1"/>
              </a:solidFill>
              <a:latin typeface="Arial"/>
              <a:ea typeface="Arial"/>
              <a:cs typeface="Arial"/>
              <a:sym typeface="Arial"/>
            </a:endParaRPr>
          </a:p>
        </p:txBody>
      </p:sp>
      <p:sp>
        <p:nvSpPr>
          <p:cNvPr id="454" name="Google Shape;454;p21"/>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Carga de trabalho é o conjunto de tarefas usado durante a avaliação. Ela deve representar o uso real do sistema: quantidade de processos, padrão de acesso, dados manipulados, horários de pico e operações frequentes. Uma carga mal definida gera conclusões pouco confiáveis.</a:t>
            </a:r>
            <a:endParaRPr b="0" i="0" sz="2400" u="none" cap="none" strike="noStrike">
              <a:solidFill>
                <a:schemeClr val="dk1"/>
              </a:solidFill>
              <a:latin typeface="Arial"/>
              <a:ea typeface="Arial"/>
              <a:cs typeface="Arial"/>
              <a:sym typeface="Arial"/>
            </a:endParaRPr>
          </a:p>
        </p:txBody>
      </p:sp>
      <p:sp>
        <p:nvSpPr>
          <p:cNvPr id="455" name="Google Shape;455;p21"/>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1"/>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Carga realista torna o teste útil.</a:t>
            </a:r>
            <a:endParaRPr b="0" i="0" sz="1050" u="none" cap="none" strike="noStrike">
              <a:solidFill>
                <a:schemeClr val="dk1"/>
              </a:solidFill>
              <a:latin typeface="Arial"/>
              <a:ea typeface="Arial"/>
              <a:cs typeface="Arial"/>
              <a:sym typeface="Arial"/>
            </a:endParaRPr>
          </a:p>
        </p:txBody>
      </p:sp>
      <p:sp>
        <p:nvSpPr>
          <p:cNvPr id="457" name="Google Shape;457;p21"/>
          <p:cNvSpPr/>
          <p:nvPr/>
        </p:nvSpPr>
        <p:spPr>
          <a:xfrm>
            <a:off x="7955280" y="2450592"/>
            <a:ext cx="621792"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1"/>
          <p:cNvSpPr/>
          <p:nvPr/>
        </p:nvSpPr>
        <p:spPr>
          <a:xfrm>
            <a:off x="8028432"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850"/>
              <a:buFont typeface="Arial"/>
              <a:buNone/>
            </a:pPr>
            <a:r>
              <a:rPr b="0" i="0" lang="en-US" sz="850" u="none" cap="none" strike="noStrike">
                <a:solidFill>
                  <a:srgbClr val="2E7D32"/>
                </a:solidFill>
                <a:latin typeface="Arial"/>
                <a:ea typeface="Arial"/>
                <a:cs typeface="Arial"/>
                <a:sym typeface="Arial"/>
              </a:rPr>
              <a:t>Hipótese</a:t>
            </a:r>
            <a:endParaRPr b="0" i="0" sz="850" u="none" cap="none" strike="noStrike">
              <a:solidFill>
                <a:schemeClr val="dk1"/>
              </a:solidFill>
              <a:latin typeface="Arial"/>
              <a:ea typeface="Arial"/>
              <a:cs typeface="Arial"/>
              <a:sym typeface="Arial"/>
            </a:endParaRPr>
          </a:p>
        </p:txBody>
      </p:sp>
      <p:cxnSp>
        <p:nvCxnSpPr>
          <p:cNvPr id="459" name="Google Shape;459;p21"/>
          <p:cNvCxnSpPr/>
          <p:nvPr/>
        </p:nvCxnSpPr>
        <p:spPr>
          <a:xfrm>
            <a:off x="8577072" y="2715768"/>
            <a:ext cx="82296" cy="0"/>
          </a:xfrm>
          <a:prstGeom prst="straightConnector1">
            <a:avLst/>
          </a:prstGeom>
          <a:noFill/>
          <a:ln cap="flat" cmpd="sng" w="12700">
            <a:solidFill>
              <a:srgbClr val="1E88E5"/>
            </a:solidFill>
            <a:prstDash val="solid"/>
            <a:round/>
            <a:headEnd len="sm" w="sm" type="none"/>
            <a:tailEnd len="med" w="med" type="triangle"/>
          </a:ln>
        </p:spPr>
      </p:cxnSp>
      <p:sp>
        <p:nvSpPr>
          <p:cNvPr id="460" name="Google Shape;460;p21"/>
          <p:cNvSpPr/>
          <p:nvPr/>
        </p:nvSpPr>
        <p:spPr>
          <a:xfrm>
            <a:off x="8668512" y="2450592"/>
            <a:ext cx="621792"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1"/>
          <p:cNvSpPr/>
          <p:nvPr/>
        </p:nvSpPr>
        <p:spPr>
          <a:xfrm>
            <a:off x="8741664"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850"/>
              <a:buFont typeface="Arial"/>
              <a:buNone/>
            </a:pPr>
            <a:r>
              <a:rPr b="0" i="0" lang="en-US" sz="850" u="none" cap="none" strike="noStrike">
                <a:solidFill>
                  <a:srgbClr val="1E88E5"/>
                </a:solidFill>
                <a:latin typeface="Arial"/>
                <a:ea typeface="Arial"/>
                <a:cs typeface="Arial"/>
                <a:sym typeface="Arial"/>
              </a:rPr>
              <a:t>Carga</a:t>
            </a:r>
            <a:endParaRPr b="0" i="0" sz="850" u="none" cap="none" strike="noStrike">
              <a:solidFill>
                <a:schemeClr val="dk1"/>
              </a:solidFill>
              <a:latin typeface="Arial"/>
              <a:ea typeface="Arial"/>
              <a:cs typeface="Arial"/>
              <a:sym typeface="Arial"/>
            </a:endParaRPr>
          </a:p>
        </p:txBody>
      </p:sp>
      <p:cxnSp>
        <p:nvCxnSpPr>
          <p:cNvPr id="462" name="Google Shape;462;p21"/>
          <p:cNvCxnSpPr/>
          <p:nvPr/>
        </p:nvCxnSpPr>
        <p:spPr>
          <a:xfrm>
            <a:off x="9290304" y="2715768"/>
            <a:ext cx="82296" cy="0"/>
          </a:xfrm>
          <a:prstGeom prst="straightConnector1">
            <a:avLst/>
          </a:prstGeom>
          <a:noFill/>
          <a:ln cap="flat" cmpd="sng" w="12700">
            <a:solidFill>
              <a:srgbClr val="1E88E5"/>
            </a:solidFill>
            <a:prstDash val="solid"/>
            <a:round/>
            <a:headEnd len="sm" w="sm" type="none"/>
            <a:tailEnd len="med" w="med" type="triangle"/>
          </a:ln>
        </p:spPr>
      </p:cxnSp>
      <p:sp>
        <p:nvSpPr>
          <p:cNvPr id="463" name="Google Shape;463;p21"/>
          <p:cNvSpPr/>
          <p:nvPr/>
        </p:nvSpPr>
        <p:spPr>
          <a:xfrm>
            <a:off x="9381744" y="2450592"/>
            <a:ext cx="621792"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1"/>
          <p:cNvSpPr/>
          <p:nvPr/>
        </p:nvSpPr>
        <p:spPr>
          <a:xfrm>
            <a:off x="9454896"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850"/>
              <a:buFont typeface="Arial"/>
              <a:buNone/>
            </a:pPr>
            <a:r>
              <a:rPr b="0" i="0" lang="en-US" sz="850" u="none" cap="none" strike="noStrike">
                <a:solidFill>
                  <a:srgbClr val="2E7D32"/>
                </a:solidFill>
                <a:latin typeface="Arial"/>
                <a:ea typeface="Arial"/>
                <a:cs typeface="Arial"/>
                <a:sym typeface="Arial"/>
              </a:rPr>
              <a:t>Métrica</a:t>
            </a:r>
            <a:endParaRPr b="0" i="0" sz="850" u="none" cap="none" strike="noStrike">
              <a:solidFill>
                <a:schemeClr val="dk1"/>
              </a:solidFill>
              <a:latin typeface="Arial"/>
              <a:ea typeface="Arial"/>
              <a:cs typeface="Arial"/>
              <a:sym typeface="Arial"/>
            </a:endParaRPr>
          </a:p>
        </p:txBody>
      </p:sp>
      <p:cxnSp>
        <p:nvCxnSpPr>
          <p:cNvPr id="465" name="Google Shape;465;p21"/>
          <p:cNvCxnSpPr/>
          <p:nvPr/>
        </p:nvCxnSpPr>
        <p:spPr>
          <a:xfrm>
            <a:off x="10003536" y="2715768"/>
            <a:ext cx="82296" cy="0"/>
          </a:xfrm>
          <a:prstGeom prst="straightConnector1">
            <a:avLst/>
          </a:prstGeom>
          <a:noFill/>
          <a:ln cap="flat" cmpd="sng" w="12700">
            <a:solidFill>
              <a:srgbClr val="1E88E5"/>
            </a:solidFill>
            <a:prstDash val="solid"/>
            <a:round/>
            <a:headEnd len="sm" w="sm" type="none"/>
            <a:tailEnd len="med" w="med" type="triangle"/>
          </a:ln>
        </p:spPr>
      </p:cxnSp>
      <p:sp>
        <p:nvSpPr>
          <p:cNvPr id="466" name="Google Shape;466;p21"/>
          <p:cNvSpPr/>
          <p:nvPr/>
        </p:nvSpPr>
        <p:spPr>
          <a:xfrm>
            <a:off x="10094976" y="2450592"/>
            <a:ext cx="621792"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1"/>
          <p:cNvSpPr/>
          <p:nvPr/>
        </p:nvSpPr>
        <p:spPr>
          <a:xfrm>
            <a:off x="10168128"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850"/>
              <a:buFont typeface="Arial"/>
              <a:buNone/>
            </a:pPr>
            <a:r>
              <a:rPr b="0" i="0" lang="en-US" sz="850" u="none" cap="none" strike="noStrike">
                <a:solidFill>
                  <a:srgbClr val="1E88E5"/>
                </a:solidFill>
                <a:latin typeface="Arial"/>
                <a:ea typeface="Arial"/>
                <a:cs typeface="Arial"/>
                <a:sym typeface="Arial"/>
              </a:rPr>
              <a:t>Coleta</a:t>
            </a:r>
            <a:endParaRPr b="0" i="0" sz="850" u="none" cap="none" strike="noStrike">
              <a:solidFill>
                <a:schemeClr val="dk1"/>
              </a:solidFill>
              <a:latin typeface="Arial"/>
              <a:ea typeface="Arial"/>
              <a:cs typeface="Arial"/>
              <a:sym typeface="Arial"/>
            </a:endParaRPr>
          </a:p>
        </p:txBody>
      </p:sp>
      <p:cxnSp>
        <p:nvCxnSpPr>
          <p:cNvPr id="468" name="Google Shape;468;p21"/>
          <p:cNvCxnSpPr/>
          <p:nvPr/>
        </p:nvCxnSpPr>
        <p:spPr>
          <a:xfrm>
            <a:off x="10716768" y="2715768"/>
            <a:ext cx="82296" cy="0"/>
          </a:xfrm>
          <a:prstGeom prst="straightConnector1">
            <a:avLst/>
          </a:prstGeom>
          <a:noFill/>
          <a:ln cap="flat" cmpd="sng" w="12700">
            <a:solidFill>
              <a:srgbClr val="1E88E5"/>
            </a:solidFill>
            <a:prstDash val="solid"/>
            <a:round/>
            <a:headEnd len="sm" w="sm" type="none"/>
            <a:tailEnd len="med" w="med" type="triangle"/>
          </a:ln>
        </p:spPr>
      </p:cxnSp>
      <p:sp>
        <p:nvSpPr>
          <p:cNvPr id="469" name="Google Shape;469;p21"/>
          <p:cNvSpPr/>
          <p:nvPr/>
        </p:nvSpPr>
        <p:spPr>
          <a:xfrm>
            <a:off x="10808208" y="2450592"/>
            <a:ext cx="621792"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1"/>
          <p:cNvSpPr/>
          <p:nvPr/>
        </p:nvSpPr>
        <p:spPr>
          <a:xfrm>
            <a:off x="10881360"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850"/>
              <a:buFont typeface="Arial"/>
              <a:buNone/>
            </a:pPr>
            <a:r>
              <a:rPr b="0" i="0" lang="en-US" sz="850" u="none" cap="none" strike="noStrike">
                <a:solidFill>
                  <a:srgbClr val="2E7D32"/>
                </a:solidFill>
                <a:latin typeface="Arial"/>
                <a:ea typeface="Arial"/>
                <a:cs typeface="Arial"/>
                <a:sym typeface="Arial"/>
              </a:rPr>
              <a:t>Conclusão</a:t>
            </a:r>
            <a:endParaRPr b="0" i="0" sz="850" u="none" cap="none" strike="noStrike">
              <a:solidFill>
                <a:schemeClr val="dk1"/>
              </a:solidFill>
              <a:latin typeface="Arial"/>
              <a:ea typeface="Arial"/>
              <a:cs typeface="Arial"/>
              <a:sym typeface="Arial"/>
            </a:endParaRPr>
          </a:p>
        </p:txBody>
      </p:sp>
      <p:sp>
        <p:nvSpPr>
          <p:cNvPr id="471" name="Google Shape;471;p21"/>
          <p:cNvSpPr/>
          <p:nvPr/>
        </p:nvSpPr>
        <p:spPr>
          <a:xfrm>
            <a:off x="8275320" y="3593592"/>
            <a:ext cx="23317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Reprodutibilidade é parte da avaliação</a:t>
            </a:r>
            <a:endParaRPr b="0" i="0" sz="1100" u="none" cap="none" strike="noStrike">
              <a:solidFill>
                <a:schemeClr val="dk1"/>
              </a:solidFill>
              <a:latin typeface="Arial"/>
              <a:ea typeface="Arial"/>
              <a:cs typeface="Arial"/>
              <a:sym typeface="Arial"/>
            </a:endParaRPr>
          </a:p>
        </p:txBody>
      </p:sp>
      <p:cxnSp>
        <p:nvCxnSpPr>
          <p:cNvPr id="472" name="Google Shape;472;p21"/>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473" name="Google Shape;473;p21"/>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21</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478" name="Shape 478"/>
        <p:cNvGrpSpPr/>
        <p:nvPr/>
      </p:nvGrpSpPr>
      <p:grpSpPr>
        <a:xfrm>
          <a:off x="0" y="0"/>
          <a:ext cx="0" cy="0"/>
          <a:chOff x="0" y="0"/>
          <a:chExt cx="0" cy="0"/>
        </a:xfrm>
      </p:grpSpPr>
      <p:sp>
        <p:nvSpPr>
          <p:cNvPr id="479" name="Google Shape;479;p22"/>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2"/>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Planejamento do experimento</a:t>
            </a:r>
            <a:endParaRPr b="0" i="0" sz="3200" u="none" cap="none" strike="noStrike">
              <a:solidFill>
                <a:schemeClr val="dk1"/>
              </a:solidFill>
              <a:latin typeface="Arial"/>
              <a:ea typeface="Arial"/>
              <a:cs typeface="Arial"/>
              <a:sym typeface="Arial"/>
            </a:endParaRPr>
          </a:p>
        </p:txBody>
      </p:sp>
      <p:sp>
        <p:nvSpPr>
          <p:cNvPr id="481" name="Google Shape;481;p22"/>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Antes de medir, defina a pergunta</a:t>
            </a:r>
            <a:endParaRPr b="0" i="0" sz="1450" u="none" cap="none" strike="noStrike">
              <a:solidFill>
                <a:schemeClr val="dk1"/>
              </a:solidFill>
              <a:latin typeface="Arial"/>
              <a:ea typeface="Arial"/>
              <a:cs typeface="Arial"/>
              <a:sym typeface="Arial"/>
            </a:endParaRPr>
          </a:p>
        </p:txBody>
      </p:sp>
      <p:sp>
        <p:nvSpPr>
          <p:cNvPr id="482" name="Google Shape;482;p22"/>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Um bom experimento começa com uma pergunta: o que será comparado, em qual ambiente e com qual métrica? Depois define hipótese, variáveis, carga de trabalho, ferramentas e critérios de aceitação. Sem planejamento, os números coletados podem ser difíceis de explicar.</a:t>
            </a:r>
            <a:endParaRPr b="0" i="0" sz="2400" u="none" cap="none" strike="noStrike">
              <a:solidFill>
                <a:schemeClr val="dk1"/>
              </a:solidFill>
              <a:latin typeface="Arial"/>
              <a:ea typeface="Arial"/>
              <a:cs typeface="Arial"/>
              <a:sym typeface="Arial"/>
            </a:endParaRPr>
          </a:p>
        </p:txBody>
      </p:sp>
      <p:sp>
        <p:nvSpPr>
          <p:cNvPr id="483" name="Google Shape;483;p22"/>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2"/>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Experimento começa com hipótese.</a:t>
            </a:r>
            <a:endParaRPr b="0" i="0" sz="1050" u="none" cap="none" strike="noStrike">
              <a:solidFill>
                <a:schemeClr val="dk1"/>
              </a:solidFill>
              <a:latin typeface="Arial"/>
              <a:ea typeface="Arial"/>
              <a:cs typeface="Arial"/>
              <a:sym typeface="Arial"/>
            </a:endParaRPr>
          </a:p>
        </p:txBody>
      </p:sp>
      <p:sp>
        <p:nvSpPr>
          <p:cNvPr id="485" name="Google Shape;485;p22"/>
          <p:cNvSpPr/>
          <p:nvPr/>
        </p:nvSpPr>
        <p:spPr>
          <a:xfrm>
            <a:off x="7955280" y="2450592"/>
            <a:ext cx="621792"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2"/>
          <p:cNvSpPr/>
          <p:nvPr/>
        </p:nvSpPr>
        <p:spPr>
          <a:xfrm>
            <a:off x="8028432"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850"/>
              <a:buFont typeface="Arial"/>
              <a:buNone/>
            </a:pPr>
            <a:r>
              <a:rPr b="0" i="0" lang="en-US" sz="850" u="none" cap="none" strike="noStrike">
                <a:solidFill>
                  <a:srgbClr val="2E7D32"/>
                </a:solidFill>
                <a:latin typeface="Arial"/>
                <a:ea typeface="Arial"/>
                <a:cs typeface="Arial"/>
                <a:sym typeface="Arial"/>
              </a:rPr>
              <a:t>Hipótese</a:t>
            </a:r>
            <a:endParaRPr b="0" i="0" sz="850" u="none" cap="none" strike="noStrike">
              <a:solidFill>
                <a:schemeClr val="dk1"/>
              </a:solidFill>
              <a:latin typeface="Arial"/>
              <a:ea typeface="Arial"/>
              <a:cs typeface="Arial"/>
              <a:sym typeface="Arial"/>
            </a:endParaRPr>
          </a:p>
        </p:txBody>
      </p:sp>
      <p:cxnSp>
        <p:nvCxnSpPr>
          <p:cNvPr id="487" name="Google Shape;487;p22"/>
          <p:cNvCxnSpPr/>
          <p:nvPr/>
        </p:nvCxnSpPr>
        <p:spPr>
          <a:xfrm>
            <a:off x="8577072" y="2715768"/>
            <a:ext cx="82296" cy="0"/>
          </a:xfrm>
          <a:prstGeom prst="straightConnector1">
            <a:avLst/>
          </a:prstGeom>
          <a:noFill/>
          <a:ln cap="flat" cmpd="sng" w="12700">
            <a:solidFill>
              <a:srgbClr val="1E88E5"/>
            </a:solidFill>
            <a:prstDash val="solid"/>
            <a:round/>
            <a:headEnd len="sm" w="sm" type="none"/>
            <a:tailEnd len="med" w="med" type="triangle"/>
          </a:ln>
        </p:spPr>
      </p:cxnSp>
      <p:sp>
        <p:nvSpPr>
          <p:cNvPr id="488" name="Google Shape;488;p22"/>
          <p:cNvSpPr/>
          <p:nvPr/>
        </p:nvSpPr>
        <p:spPr>
          <a:xfrm>
            <a:off x="8668512" y="2450592"/>
            <a:ext cx="621792"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2"/>
          <p:cNvSpPr/>
          <p:nvPr/>
        </p:nvSpPr>
        <p:spPr>
          <a:xfrm>
            <a:off x="8741664"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850"/>
              <a:buFont typeface="Arial"/>
              <a:buNone/>
            </a:pPr>
            <a:r>
              <a:rPr b="0" i="0" lang="en-US" sz="850" u="none" cap="none" strike="noStrike">
                <a:solidFill>
                  <a:srgbClr val="1E88E5"/>
                </a:solidFill>
                <a:latin typeface="Arial"/>
                <a:ea typeface="Arial"/>
                <a:cs typeface="Arial"/>
                <a:sym typeface="Arial"/>
              </a:rPr>
              <a:t>Carga</a:t>
            </a:r>
            <a:endParaRPr b="0" i="0" sz="850" u="none" cap="none" strike="noStrike">
              <a:solidFill>
                <a:schemeClr val="dk1"/>
              </a:solidFill>
              <a:latin typeface="Arial"/>
              <a:ea typeface="Arial"/>
              <a:cs typeface="Arial"/>
              <a:sym typeface="Arial"/>
            </a:endParaRPr>
          </a:p>
        </p:txBody>
      </p:sp>
      <p:cxnSp>
        <p:nvCxnSpPr>
          <p:cNvPr id="490" name="Google Shape;490;p22"/>
          <p:cNvCxnSpPr/>
          <p:nvPr/>
        </p:nvCxnSpPr>
        <p:spPr>
          <a:xfrm>
            <a:off x="9290304" y="2715768"/>
            <a:ext cx="82296" cy="0"/>
          </a:xfrm>
          <a:prstGeom prst="straightConnector1">
            <a:avLst/>
          </a:prstGeom>
          <a:noFill/>
          <a:ln cap="flat" cmpd="sng" w="12700">
            <a:solidFill>
              <a:srgbClr val="1E88E5"/>
            </a:solidFill>
            <a:prstDash val="solid"/>
            <a:round/>
            <a:headEnd len="sm" w="sm" type="none"/>
            <a:tailEnd len="med" w="med" type="triangle"/>
          </a:ln>
        </p:spPr>
      </p:cxnSp>
      <p:sp>
        <p:nvSpPr>
          <p:cNvPr id="491" name="Google Shape;491;p22"/>
          <p:cNvSpPr/>
          <p:nvPr/>
        </p:nvSpPr>
        <p:spPr>
          <a:xfrm>
            <a:off x="9381744" y="2450592"/>
            <a:ext cx="621792"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2"/>
          <p:cNvSpPr/>
          <p:nvPr/>
        </p:nvSpPr>
        <p:spPr>
          <a:xfrm>
            <a:off x="9454896"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850"/>
              <a:buFont typeface="Arial"/>
              <a:buNone/>
            </a:pPr>
            <a:r>
              <a:rPr b="0" i="0" lang="en-US" sz="850" u="none" cap="none" strike="noStrike">
                <a:solidFill>
                  <a:srgbClr val="2E7D32"/>
                </a:solidFill>
                <a:latin typeface="Arial"/>
                <a:ea typeface="Arial"/>
                <a:cs typeface="Arial"/>
                <a:sym typeface="Arial"/>
              </a:rPr>
              <a:t>Métrica</a:t>
            </a:r>
            <a:endParaRPr b="0" i="0" sz="850" u="none" cap="none" strike="noStrike">
              <a:solidFill>
                <a:schemeClr val="dk1"/>
              </a:solidFill>
              <a:latin typeface="Arial"/>
              <a:ea typeface="Arial"/>
              <a:cs typeface="Arial"/>
              <a:sym typeface="Arial"/>
            </a:endParaRPr>
          </a:p>
        </p:txBody>
      </p:sp>
      <p:cxnSp>
        <p:nvCxnSpPr>
          <p:cNvPr id="493" name="Google Shape;493;p22"/>
          <p:cNvCxnSpPr/>
          <p:nvPr/>
        </p:nvCxnSpPr>
        <p:spPr>
          <a:xfrm>
            <a:off x="10003536" y="2715768"/>
            <a:ext cx="82296" cy="0"/>
          </a:xfrm>
          <a:prstGeom prst="straightConnector1">
            <a:avLst/>
          </a:prstGeom>
          <a:noFill/>
          <a:ln cap="flat" cmpd="sng" w="12700">
            <a:solidFill>
              <a:srgbClr val="1E88E5"/>
            </a:solidFill>
            <a:prstDash val="solid"/>
            <a:round/>
            <a:headEnd len="sm" w="sm" type="none"/>
            <a:tailEnd len="med" w="med" type="triangle"/>
          </a:ln>
        </p:spPr>
      </p:cxnSp>
      <p:sp>
        <p:nvSpPr>
          <p:cNvPr id="494" name="Google Shape;494;p22"/>
          <p:cNvSpPr/>
          <p:nvPr/>
        </p:nvSpPr>
        <p:spPr>
          <a:xfrm>
            <a:off x="10094976" y="2450592"/>
            <a:ext cx="621792"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2"/>
          <p:cNvSpPr/>
          <p:nvPr/>
        </p:nvSpPr>
        <p:spPr>
          <a:xfrm>
            <a:off x="10168128"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850"/>
              <a:buFont typeface="Arial"/>
              <a:buNone/>
            </a:pPr>
            <a:r>
              <a:rPr b="0" i="0" lang="en-US" sz="850" u="none" cap="none" strike="noStrike">
                <a:solidFill>
                  <a:srgbClr val="1E88E5"/>
                </a:solidFill>
                <a:latin typeface="Arial"/>
                <a:ea typeface="Arial"/>
                <a:cs typeface="Arial"/>
                <a:sym typeface="Arial"/>
              </a:rPr>
              <a:t>Coleta</a:t>
            </a:r>
            <a:endParaRPr b="0" i="0" sz="850" u="none" cap="none" strike="noStrike">
              <a:solidFill>
                <a:schemeClr val="dk1"/>
              </a:solidFill>
              <a:latin typeface="Arial"/>
              <a:ea typeface="Arial"/>
              <a:cs typeface="Arial"/>
              <a:sym typeface="Arial"/>
            </a:endParaRPr>
          </a:p>
        </p:txBody>
      </p:sp>
      <p:cxnSp>
        <p:nvCxnSpPr>
          <p:cNvPr id="496" name="Google Shape;496;p22"/>
          <p:cNvCxnSpPr/>
          <p:nvPr/>
        </p:nvCxnSpPr>
        <p:spPr>
          <a:xfrm>
            <a:off x="10716768" y="2715768"/>
            <a:ext cx="82296" cy="0"/>
          </a:xfrm>
          <a:prstGeom prst="straightConnector1">
            <a:avLst/>
          </a:prstGeom>
          <a:noFill/>
          <a:ln cap="flat" cmpd="sng" w="12700">
            <a:solidFill>
              <a:srgbClr val="1E88E5"/>
            </a:solidFill>
            <a:prstDash val="solid"/>
            <a:round/>
            <a:headEnd len="sm" w="sm" type="none"/>
            <a:tailEnd len="med" w="med" type="triangle"/>
          </a:ln>
        </p:spPr>
      </p:cxnSp>
      <p:sp>
        <p:nvSpPr>
          <p:cNvPr id="497" name="Google Shape;497;p22"/>
          <p:cNvSpPr/>
          <p:nvPr/>
        </p:nvSpPr>
        <p:spPr>
          <a:xfrm>
            <a:off x="10808208" y="2450592"/>
            <a:ext cx="621792"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2"/>
          <p:cNvSpPr/>
          <p:nvPr/>
        </p:nvSpPr>
        <p:spPr>
          <a:xfrm>
            <a:off x="10881360"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850"/>
              <a:buFont typeface="Arial"/>
              <a:buNone/>
            </a:pPr>
            <a:r>
              <a:rPr b="0" i="0" lang="en-US" sz="850" u="none" cap="none" strike="noStrike">
                <a:solidFill>
                  <a:srgbClr val="2E7D32"/>
                </a:solidFill>
                <a:latin typeface="Arial"/>
                <a:ea typeface="Arial"/>
                <a:cs typeface="Arial"/>
                <a:sym typeface="Arial"/>
              </a:rPr>
              <a:t>Conclusão</a:t>
            </a:r>
            <a:endParaRPr b="0" i="0" sz="850" u="none" cap="none" strike="noStrike">
              <a:solidFill>
                <a:schemeClr val="dk1"/>
              </a:solidFill>
              <a:latin typeface="Arial"/>
              <a:ea typeface="Arial"/>
              <a:cs typeface="Arial"/>
              <a:sym typeface="Arial"/>
            </a:endParaRPr>
          </a:p>
        </p:txBody>
      </p:sp>
      <p:sp>
        <p:nvSpPr>
          <p:cNvPr id="499" name="Google Shape;499;p22"/>
          <p:cNvSpPr/>
          <p:nvPr/>
        </p:nvSpPr>
        <p:spPr>
          <a:xfrm>
            <a:off x="8275320" y="3593592"/>
            <a:ext cx="23317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Reprodutibilidade é parte da avaliação</a:t>
            </a:r>
            <a:endParaRPr b="0" i="0" sz="1100" u="none" cap="none" strike="noStrike">
              <a:solidFill>
                <a:schemeClr val="dk1"/>
              </a:solidFill>
              <a:latin typeface="Arial"/>
              <a:ea typeface="Arial"/>
              <a:cs typeface="Arial"/>
              <a:sym typeface="Arial"/>
            </a:endParaRPr>
          </a:p>
        </p:txBody>
      </p:sp>
      <p:cxnSp>
        <p:nvCxnSpPr>
          <p:cNvPr id="500" name="Google Shape;500;p22"/>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501" name="Google Shape;501;p22"/>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22</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506" name="Shape 506"/>
        <p:cNvGrpSpPr/>
        <p:nvPr/>
      </p:nvGrpSpPr>
      <p:grpSpPr>
        <a:xfrm>
          <a:off x="0" y="0"/>
          <a:ext cx="0" cy="0"/>
          <a:chOff x="0" y="0"/>
          <a:chExt cx="0" cy="0"/>
        </a:xfrm>
      </p:grpSpPr>
      <p:sp>
        <p:nvSpPr>
          <p:cNvPr id="507" name="Google Shape;507;p23"/>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3"/>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Variáveis controladas</a:t>
            </a:r>
            <a:endParaRPr b="0" i="0" sz="3200" u="none" cap="none" strike="noStrike">
              <a:solidFill>
                <a:schemeClr val="dk1"/>
              </a:solidFill>
              <a:latin typeface="Arial"/>
              <a:ea typeface="Arial"/>
              <a:cs typeface="Arial"/>
              <a:sym typeface="Arial"/>
            </a:endParaRPr>
          </a:p>
        </p:txBody>
      </p:sp>
      <p:sp>
        <p:nvSpPr>
          <p:cNvPr id="509" name="Google Shape;509;p23"/>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Evitar conclusões enganadoras</a:t>
            </a:r>
            <a:endParaRPr b="0" i="0" sz="1450" u="none" cap="none" strike="noStrike">
              <a:solidFill>
                <a:schemeClr val="dk1"/>
              </a:solidFill>
              <a:latin typeface="Arial"/>
              <a:ea typeface="Arial"/>
              <a:cs typeface="Arial"/>
              <a:sym typeface="Arial"/>
            </a:endParaRPr>
          </a:p>
        </p:txBody>
      </p:sp>
      <p:sp>
        <p:nvSpPr>
          <p:cNvPr id="510" name="Google Shape;510;p23"/>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Durante uma avaliação, alguns fatores precisam permanecer constantes: hardware, versão do sistema, plano de energia, processos em segundo plano, temperatura, rede e dados de entrada. Se muitos elementos mudarem ao mesmo tempo, fica difícil afirmar qual deles causou a diferença observada.</a:t>
            </a:r>
            <a:endParaRPr b="0" i="0" sz="2400" u="none" cap="none" strike="noStrike">
              <a:solidFill>
                <a:schemeClr val="dk1"/>
              </a:solidFill>
              <a:latin typeface="Arial"/>
              <a:ea typeface="Arial"/>
              <a:cs typeface="Arial"/>
              <a:sym typeface="Arial"/>
            </a:endParaRPr>
          </a:p>
        </p:txBody>
      </p:sp>
      <p:sp>
        <p:nvSpPr>
          <p:cNvPr id="511" name="Google Shape;511;p23"/>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3"/>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Controle melhora a confiança nos dados.</a:t>
            </a:r>
            <a:endParaRPr b="0" i="0" sz="1050" u="none" cap="none" strike="noStrike">
              <a:solidFill>
                <a:schemeClr val="dk1"/>
              </a:solidFill>
              <a:latin typeface="Arial"/>
              <a:ea typeface="Arial"/>
              <a:cs typeface="Arial"/>
              <a:sym typeface="Arial"/>
            </a:endParaRPr>
          </a:p>
        </p:txBody>
      </p:sp>
      <p:sp>
        <p:nvSpPr>
          <p:cNvPr id="513" name="Google Shape;513;p23"/>
          <p:cNvSpPr/>
          <p:nvPr/>
        </p:nvSpPr>
        <p:spPr>
          <a:xfrm>
            <a:off x="7955280" y="2450592"/>
            <a:ext cx="621792"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3"/>
          <p:cNvSpPr/>
          <p:nvPr/>
        </p:nvSpPr>
        <p:spPr>
          <a:xfrm>
            <a:off x="8028432"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850"/>
              <a:buFont typeface="Arial"/>
              <a:buNone/>
            </a:pPr>
            <a:r>
              <a:rPr b="0" i="0" lang="en-US" sz="850" u="none" cap="none" strike="noStrike">
                <a:solidFill>
                  <a:srgbClr val="2E7D32"/>
                </a:solidFill>
                <a:latin typeface="Arial"/>
                <a:ea typeface="Arial"/>
                <a:cs typeface="Arial"/>
                <a:sym typeface="Arial"/>
              </a:rPr>
              <a:t>Hipótese</a:t>
            </a:r>
            <a:endParaRPr b="0" i="0" sz="850" u="none" cap="none" strike="noStrike">
              <a:solidFill>
                <a:schemeClr val="dk1"/>
              </a:solidFill>
              <a:latin typeface="Arial"/>
              <a:ea typeface="Arial"/>
              <a:cs typeface="Arial"/>
              <a:sym typeface="Arial"/>
            </a:endParaRPr>
          </a:p>
        </p:txBody>
      </p:sp>
      <p:cxnSp>
        <p:nvCxnSpPr>
          <p:cNvPr id="515" name="Google Shape;515;p23"/>
          <p:cNvCxnSpPr/>
          <p:nvPr/>
        </p:nvCxnSpPr>
        <p:spPr>
          <a:xfrm>
            <a:off x="8577072" y="2715768"/>
            <a:ext cx="82296" cy="0"/>
          </a:xfrm>
          <a:prstGeom prst="straightConnector1">
            <a:avLst/>
          </a:prstGeom>
          <a:noFill/>
          <a:ln cap="flat" cmpd="sng" w="12700">
            <a:solidFill>
              <a:srgbClr val="1E88E5"/>
            </a:solidFill>
            <a:prstDash val="solid"/>
            <a:round/>
            <a:headEnd len="sm" w="sm" type="none"/>
            <a:tailEnd len="med" w="med" type="triangle"/>
          </a:ln>
        </p:spPr>
      </p:cxnSp>
      <p:sp>
        <p:nvSpPr>
          <p:cNvPr id="516" name="Google Shape;516;p23"/>
          <p:cNvSpPr/>
          <p:nvPr/>
        </p:nvSpPr>
        <p:spPr>
          <a:xfrm>
            <a:off x="8668512" y="2450592"/>
            <a:ext cx="621792"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3"/>
          <p:cNvSpPr/>
          <p:nvPr/>
        </p:nvSpPr>
        <p:spPr>
          <a:xfrm>
            <a:off x="8741664"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850"/>
              <a:buFont typeface="Arial"/>
              <a:buNone/>
            </a:pPr>
            <a:r>
              <a:rPr b="0" i="0" lang="en-US" sz="850" u="none" cap="none" strike="noStrike">
                <a:solidFill>
                  <a:srgbClr val="1E88E5"/>
                </a:solidFill>
                <a:latin typeface="Arial"/>
                <a:ea typeface="Arial"/>
                <a:cs typeface="Arial"/>
                <a:sym typeface="Arial"/>
              </a:rPr>
              <a:t>Carga</a:t>
            </a:r>
            <a:endParaRPr b="0" i="0" sz="850" u="none" cap="none" strike="noStrike">
              <a:solidFill>
                <a:schemeClr val="dk1"/>
              </a:solidFill>
              <a:latin typeface="Arial"/>
              <a:ea typeface="Arial"/>
              <a:cs typeface="Arial"/>
              <a:sym typeface="Arial"/>
            </a:endParaRPr>
          </a:p>
        </p:txBody>
      </p:sp>
      <p:cxnSp>
        <p:nvCxnSpPr>
          <p:cNvPr id="518" name="Google Shape;518;p23"/>
          <p:cNvCxnSpPr/>
          <p:nvPr/>
        </p:nvCxnSpPr>
        <p:spPr>
          <a:xfrm>
            <a:off x="9290304" y="2715768"/>
            <a:ext cx="82296" cy="0"/>
          </a:xfrm>
          <a:prstGeom prst="straightConnector1">
            <a:avLst/>
          </a:prstGeom>
          <a:noFill/>
          <a:ln cap="flat" cmpd="sng" w="12700">
            <a:solidFill>
              <a:srgbClr val="1E88E5"/>
            </a:solidFill>
            <a:prstDash val="solid"/>
            <a:round/>
            <a:headEnd len="sm" w="sm" type="none"/>
            <a:tailEnd len="med" w="med" type="triangle"/>
          </a:ln>
        </p:spPr>
      </p:cxnSp>
      <p:sp>
        <p:nvSpPr>
          <p:cNvPr id="519" name="Google Shape;519;p23"/>
          <p:cNvSpPr/>
          <p:nvPr/>
        </p:nvSpPr>
        <p:spPr>
          <a:xfrm>
            <a:off x="9381744" y="2450592"/>
            <a:ext cx="621792"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3"/>
          <p:cNvSpPr/>
          <p:nvPr/>
        </p:nvSpPr>
        <p:spPr>
          <a:xfrm>
            <a:off x="9454896"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850"/>
              <a:buFont typeface="Arial"/>
              <a:buNone/>
            </a:pPr>
            <a:r>
              <a:rPr b="0" i="0" lang="en-US" sz="850" u="none" cap="none" strike="noStrike">
                <a:solidFill>
                  <a:srgbClr val="2E7D32"/>
                </a:solidFill>
                <a:latin typeface="Arial"/>
                <a:ea typeface="Arial"/>
                <a:cs typeface="Arial"/>
                <a:sym typeface="Arial"/>
              </a:rPr>
              <a:t>Métrica</a:t>
            </a:r>
            <a:endParaRPr b="0" i="0" sz="850" u="none" cap="none" strike="noStrike">
              <a:solidFill>
                <a:schemeClr val="dk1"/>
              </a:solidFill>
              <a:latin typeface="Arial"/>
              <a:ea typeface="Arial"/>
              <a:cs typeface="Arial"/>
              <a:sym typeface="Arial"/>
            </a:endParaRPr>
          </a:p>
        </p:txBody>
      </p:sp>
      <p:cxnSp>
        <p:nvCxnSpPr>
          <p:cNvPr id="521" name="Google Shape;521;p23"/>
          <p:cNvCxnSpPr/>
          <p:nvPr/>
        </p:nvCxnSpPr>
        <p:spPr>
          <a:xfrm>
            <a:off x="10003536" y="2715768"/>
            <a:ext cx="82296" cy="0"/>
          </a:xfrm>
          <a:prstGeom prst="straightConnector1">
            <a:avLst/>
          </a:prstGeom>
          <a:noFill/>
          <a:ln cap="flat" cmpd="sng" w="12700">
            <a:solidFill>
              <a:srgbClr val="1E88E5"/>
            </a:solidFill>
            <a:prstDash val="solid"/>
            <a:round/>
            <a:headEnd len="sm" w="sm" type="none"/>
            <a:tailEnd len="med" w="med" type="triangle"/>
          </a:ln>
        </p:spPr>
      </p:cxnSp>
      <p:sp>
        <p:nvSpPr>
          <p:cNvPr id="522" name="Google Shape;522;p23"/>
          <p:cNvSpPr/>
          <p:nvPr/>
        </p:nvSpPr>
        <p:spPr>
          <a:xfrm>
            <a:off x="10094976" y="2450592"/>
            <a:ext cx="621792"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3"/>
          <p:cNvSpPr/>
          <p:nvPr/>
        </p:nvSpPr>
        <p:spPr>
          <a:xfrm>
            <a:off x="10168128"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850"/>
              <a:buFont typeface="Arial"/>
              <a:buNone/>
            </a:pPr>
            <a:r>
              <a:rPr b="0" i="0" lang="en-US" sz="850" u="none" cap="none" strike="noStrike">
                <a:solidFill>
                  <a:srgbClr val="1E88E5"/>
                </a:solidFill>
                <a:latin typeface="Arial"/>
                <a:ea typeface="Arial"/>
                <a:cs typeface="Arial"/>
                <a:sym typeface="Arial"/>
              </a:rPr>
              <a:t>Coleta</a:t>
            </a:r>
            <a:endParaRPr b="0" i="0" sz="850" u="none" cap="none" strike="noStrike">
              <a:solidFill>
                <a:schemeClr val="dk1"/>
              </a:solidFill>
              <a:latin typeface="Arial"/>
              <a:ea typeface="Arial"/>
              <a:cs typeface="Arial"/>
              <a:sym typeface="Arial"/>
            </a:endParaRPr>
          </a:p>
        </p:txBody>
      </p:sp>
      <p:cxnSp>
        <p:nvCxnSpPr>
          <p:cNvPr id="524" name="Google Shape;524;p23"/>
          <p:cNvCxnSpPr/>
          <p:nvPr/>
        </p:nvCxnSpPr>
        <p:spPr>
          <a:xfrm>
            <a:off x="10716768" y="2715768"/>
            <a:ext cx="82296" cy="0"/>
          </a:xfrm>
          <a:prstGeom prst="straightConnector1">
            <a:avLst/>
          </a:prstGeom>
          <a:noFill/>
          <a:ln cap="flat" cmpd="sng" w="12700">
            <a:solidFill>
              <a:srgbClr val="1E88E5"/>
            </a:solidFill>
            <a:prstDash val="solid"/>
            <a:round/>
            <a:headEnd len="sm" w="sm" type="none"/>
            <a:tailEnd len="med" w="med" type="triangle"/>
          </a:ln>
        </p:spPr>
      </p:cxnSp>
      <p:sp>
        <p:nvSpPr>
          <p:cNvPr id="525" name="Google Shape;525;p23"/>
          <p:cNvSpPr/>
          <p:nvPr/>
        </p:nvSpPr>
        <p:spPr>
          <a:xfrm>
            <a:off x="10808208" y="2450592"/>
            <a:ext cx="621792"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3"/>
          <p:cNvSpPr/>
          <p:nvPr/>
        </p:nvSpPr>
        <p:spPr>
          <a:xfrm>
            <a:off x="10881360"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850"/>
              <a:buFont typeface="Arial"/>
              <a:buNone/>
            </a:pPr>
            <a:r>
              <a:rPr b="0" i="0" lang="en-US" sz="850" u="none" cap="none" strike="noStrike">
                <a:solidFill>
                  <a:srgbClr val="2E7D32"/>
                </a:solidFill>
                <a:latin typeface="Arial"/>
                <a:ea typeface="Arial"/>
                <a:cs typeface="Arial"/>
                <a:sym typeface="Arial"/>
              </a:rPr>
              <a:t>Conclusão</a:t>
            </a:r>
            <a:endParaRPr b="0" i="0" sz="850" u="none" cap="none" strike="noStrike">
              <a:solidFill>
                <a:schemeClr val="dk1"/>
              </a:solidFill>
              <a:latin typeface="Arial"/>
              <a:ea typeface="Arial"/>
              <a:cs typeface="Arial"/>
              <a:sym typeface="Arial"/>
            </a:endParaRPr>
          </a:p>
        </p:txBody>
      </p:sp>
      <p:sp>
        <p:nvSpPr>
          <p:cNvPr id="527" name="Google Shape;527;p23"/>
          <p:cNvSpPr/>
          <p:nvPr/>
        </p:nvSpPr>
        <p:spPr>
          <a:xfrm>
            <a:off x="8275320" y="3593592"/>
            <a:ext cx="23317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Reprodutibilidade é parte da avaliação</a:t>
            </a:r>
            <a:endParaRPr b="0" i="0" sz="1100" u="none" cap="none" strike="noStrike">
              <a:solidFill>
                <a:schemeClr val="dk1"/>
              </a:solidFill>
              <a:latin typeface="Arial"/>
              <a:ea typeface="Arial"/>
              <a:cs typeface="Arial"/>
              <a:sym typeface="Arial"/>
            </a:endParaRPr>
          </a:p>
        </p:txBody>
      </p:sp>
      <p:cxnSp>
        <p:nvCxnSpPr>
          <p:cNvPr id="528" name="Google Shape;528;p23"/>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529" name="Google Shape;529;p23"/>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23</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534" name="Shape 534"/>
        <p:cNvGrpSpPr/>
        <p:nvPr/>
      </p:nvGrpSpPr>
      <p:grpSpPr>
        <a:xfrm>
          <a:off x="0" y="0"/>
          <a:ext cx="0" cy="0"/>
          <a:chOff x="0" y="0"/>
          <a:chExt cx="0" cy="0"/>
        </a:xfrm>
      </p:grpSpPr>
      <p:sp>
        <p:nvSpPr>
          <p:cNvPr id="535" name="Google Shape;535;p24"/>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4"/>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Coleta de dados</a:t>
            </a:r>
            <a:endParaRPr b="0" i="0" sz="3200" u="none" cap="none" strike="noStrike">
              <a:solidFill>
                <a:schemeClr val="dk1"/>
              </a:solidFill>
              <a:latin typeface="Arial"/>
              <a:ea typeface="Arial"/>
              <a:cs typeface="Arial"/>
              <a:sym typeface="Arial"/>
            </a:endParaRPr>
          </a:p>
        </p:txBody>
      </p:sp>
      <p:sp>
        <p:nvSpPr>
          <p:cNvPr id="537" name="Google Shape;537;p24"/>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Registrar para poder comparar</a:t>
            </a:r>
            <a:endParaRPr b="0" i="0" sz="1450" u="none" cap="none" strike="noStrike">
              <a:solidFill>
                <a:schemeClr val="dk1"/>
              </a:solidFill>
              <a:latin typeface="Arial"/>
              <a:ea typeface="Arial"/>
              <a:cs typeface="Arial"/>
              <a:sym typeface="Arial"/>
            </a:endParaRPr>
          </a:p>
        </p:txBody>
      </p:sp>
      <p:sp>
        <p:nvSpPr>
          <p:cNvPr id="538" name="Google Shape;538;p24"/>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A coleta deve ser organizada, repetida e documentada. Uma única medição raramente representa o comportamento geral. É recomendável coletar várias amostras, registrar horário, carga aplicada, comandos usados e resultados obtidos. Assim, outro aluno ou professor consegue reproduzir o experimento.</a:t>
            </a:r>
            <a:endParaRPr b="0" i="0" sz="2400" u="none" cap="none" strike="noStrike">
              <a:solidFill>
                <a:schemeClr val="dk1"/>
              </a:solidFill>
              <a:latin typeface="Arial"/>
              <a:ea typeface="Arial"/>
              <a:cs typeface="Arial"/>
              <a:sym typeface="Arial"/>
            </a:endParaRPr>
          </a:p>
        </p:txBody>
      </p:sp>
      <p:sp>
        <p:nvSpPr>
          <p:cNvPr id="539" name="Google Shape;539;p24"/>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4"/>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Sem registro, não há reprodutibilidade.</a:t>
            </a:r>
            <a:endParaRPr b="0" i="0" sz="1050" u="none" cap="none" strike="noStrike">
              <a:solidFill>
                <a:schemeClr val="dk1"/>
              </a:solidFill>
              <a:latin typeface="Arial"/>
              <a:ea typeface="Arial"/>
              <a:cs typeface="Arial"/>
              <a:sym typeface="Arial"/>
            </a:endParaRPr>
          </a:p>
        </p:txBody>
      </p:sp>
      <p:sp>
        <p:nvSpPr>
          <p:cNvPr id="541" name="Google Shape;541;p24"/>
          <p:cNvSpPr/>
          <p:nvPr/>
        </p:nvSpPr>
        <p:spPr>
          <a:xfrm>
            <a:off x="8138160" y="176479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4"/>
          <p:cNvSpPr/>
          <p:nvPr/>
        </p:nvSpPr>
        <p:spPr>
          <a:xfrm>
            <a:off x="8138160" y="179222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543" name="Google Shape;543;p24"/>
          <p:cNvSpPr/>
          <p:nvPr/>
        </p:nvSpPr>
        <p:spPr>
          <a:xfrm>
            <a:off x="8549640" y="179222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Métrica certa</a:t>
            </a:r>
            <a:endParaRPr b="0" i="0" sz="1250" u="none" cap="none" strike="noStrike">
              <a:solidFill>
                <a:schemeClr val="dk1"/>
              </a:solidFill>
              <a:latin typeface="Arial"/>
              <a:ea typeface="Arial"/>
              <a:cs typeface="Arial"/>
              <a:sym typeface="Arial"/>
            </a:endParaRPr>
          </a:p>
        </p:txBody>
      </p:sp>
      <p:sp>
        <p:nvSpPr>
          <p:cNvPr id="544" name="Google Shape;544;p24"/>
          <p:cNvSpPr/>
          <p:nvPr/>
        </p:nvSpPr>
        <p:spPr>
          <a:xfrm>
            <a:off x="8138160" y="249631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4"/>
          <p:cNvSpPr/>
          <p:nvPr/>
        </p:nvSpPr>
        <p:spPr>
          <a:xfrm>
            <a:off x="8138160" y="252374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546" name="Google Shape;546;p24"/>
          <p:cNvSpPr/>
          <p:nvPr/>
        </p:nvSpPr>
        <p:spPr>
          <a:xfrm>
            <a:off x="8549640" y="252374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Ambiente controlado</a:t>
            </a:r>
            <a:endParaRPr b="0" i="0" sz="1250" u="none" cap="none" strike="noStrike">
              <a:solidFill>
                <a:schemeClr val="dk1"/>
              </a:solidFill>
              <a:latin typeface="Arial"/>
              <a:ea typeface="Arial"/>
              <a:cs typeface="Arial"/>
              <a:sym typeface="Arial"/>
            </a:endParaRPr>
          </a:p>
        </p:txBody>
      </p:sp>
      <p:sp>
        <p:nvSpPr>
          <p:cNvPr id="547" name="Google Shape;547;p24"/>
          <p:cNvSpPr/>
          <p:nvPr/>
        </p:nvSpPr>
        <p:spPr>
          <a:xfrm>
            <a:off x="8138160" y="322783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4"/>
          <p:cNvSpPr/>
          <p:nvPr/>
        </p:nvSpPr>
        <p:spPr>
          <a:xfrm>
            <a:off x="8138160" y="325526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549" name="Google Shape;549;p24"/>
          <p:cNvSpPr/>
          <p:nvPr/>
        </p:nvSpPr>
        <p:spPr>
          <a:xfrm>
            <a:off x="8549640" y="325526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Amostras suficientes</a:t>
            </a:r>
            <a:endParaRPr b="0" i="0" sz="1250" u="none" cap="none" strike="noStrike">
              <a:solidFill>
                <a:schemeClr val="dk1"/>
              </a:solidFill>
              <a:latin typeface="Arial"/>
              <a:ea typeface="Arial"/>
              <a:cs typeface="Arial"/>
              <a:sym typeface="Arial"/>
            </a:endParaRPr>
          </a:p>
        </p:txBody>
      </p:sp>
      <p:sp>
        <p:nvSpPr>
          <p:cNvPr id="550" name="Google Shape;550;p24"/>
          <p:cNvSpPr/>
          <p:nvPr/>
        </p:nvSpPr>
        <p:spPr>
          <a:xfrm>
            <a:off x="8138160" y="395935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4"/>
          <p:cNvSpPr/>
          <p:nvPr/>
        </p:nvSpPr>
        <p:spPr>
          <a:xfrm>
            <a:off x="8138160" y="398678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552" name="Google Shape;552;p24"/>
          <p:cNvSpPr/>
          <p:nvPr/>
        </p:nvSpPr>
        <p:spPr>
          <a:xfrm>
            <a:off x="8549640" y="398678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Conclusão sustentada</a:t>
            </a:r>
            <a:endParaRPr b="0" i="0" sz="1250" u="none" cap="none" strike="noStrike">
              <a:solidFill>
                <a:schemeClr val="dk1"/>
              </a:solidFill>
              <a:latin typeface="Arial"/>
              <a:ea typeface="Arial"/>
              <a:cs typeface="Arial"/>
              <a:sym typeface="Arial"/>
            </a:endParaRPr>
          </a:p>
        </p:txBody>
      </p:sp>
      <p:cxnSp>
        <p:nvCxnSpPr>
          <p:cNvPr id="553" name="Google Shape;553;p24"/>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554" name="Google Shape;554;p24"/>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24</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559" name="Shape 559"/>
        <p:cNvGrpSpPr/>
        <p:nvPr/>
      </p:nvGrpSpPr>
      <p:grpSpPr>
        <a:xfrm>
          <a:off x="0" y="0"/>
          <a:ext cx="0" cy="0"/>
          <a:chOff x="0" y="0"/>
          <a:chExt cx="0" cy="0"/>
        </a:xfrm>
      </p:grpSpPr>
      <p:sp>
        <p:nvSpPr>
          <p:cNvPr id="560" name="Google Shape;560;p25"/>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5"/>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Ferramentas no Linux</a:t>
            </a:r>
            <a:endParaRPr b="0" i="0" sz="3200" u="none" cap="none" strike="noStrike">
              <a:solidFill>
                <a:schemeClr val="dk1"/>
              </a:solidFill>
              <a:latin typeface="Arial"/>
              <a:ea typeface="Arial"/>
              <a:cs typeface="Arial"/>
              <a:sym typeface="Arial"/>
            </a:endParaRPr>
          </a:p>
        </p:txBody>
      </p:sp>
      <p:sp>
        <p:nvSpPr>
          <p:cNvPr id="562" name="Google Shape;562;p25"/>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Monitoramento gratuito e acadêmico</a:t>
            </a:r>
            <a:endParaRPr b="0" i="0" sz="1450" u="none" cap="none" strike="noStrike">
              <a:solidFill>
                <a:schemeClr val="dk1"/>
              </a:solidFill>
              <a:latin typeface="Arial"/>
              <a:ea typeface="Arial"/>
              <a:cs typeface="Arial"/>
              <a:sym typeface="Arial"/>
            </a:endParaRPr>
          </a:p>
        </p:txBody>
      </p:sp>
      <p:sp>
        <p:nvSpPr>
          <p:cNvPr id="563" name="Google Shape;563;p25"/>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No Linux, ferramentas como top, htop, vmstat, iostat, free, sar, perf, time e stress-ng ajudam a observar processos, CPU, memória, disco e eventos de baixo nível. Elas são úteis porque permitem experimentos simples, reproduzíveis e sem necessidade de licenças comerciais.</a:t>
            </a:r>
            <a:endParaRPr b="0" i="0" sz="2400" u="none" cap="none" strike="noStrike">
              <a:solidFill>
                <a:schemeClr val="dk1"/>
              </a:solidFill>
              <a:latin typeface="Arial"/>
              <a:ea typeface="Arial"/>
              <a:cs typeface="Arial"/>
              <a:sym typeface="Arial"/>
            </a:endParaRPr>
          </a:p>
        </p:txBody>
      </p:sp>
      <p:sp>
        <p:nvSpPr>
          <p:cNvPr id="564" name="Google Shape;564;p25">
            <a:hlinkClick r:id="rId3"/>
          </p:cNvPr>
          <p:cNvSpPr/>
          <p:nvPr/>
        </p:nvSpPr>
        <p:spPr>
          <a:xfrm>
            <a:off x="612648" y="5577840"/>
            <a:ext cx="6446520" cy="4114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E88E5"/>
              </a:buClr>
              <a:buSzPts val="1150"/>
              <a:buFont typeface="Arial"/>
              <a:buNone/>
            </a:pPr>
            <a:r>
              <a:rPr b="0" i="0" lang="en-US" sz="1150" u="sng" cap="none" strike="noStrike">
                <a:solidFill>
                  <a:srgbClr val="1E88E5"/>
                </a:solidFill>
                <a:latin typeface="Arial"/>
                <a:ea typeface="Arial"/>
                <a:cs typeface="Arial"/>
                <a:sym typeface="Arial"/>
                <a:hlinkClick r:id="rId4">
                  <a:extLst>
                    <a:ext uri="{A12FA001-AC4F-418D-AE19-62706E023703}">
                      <ahyp:hlinkClr val="tx"/>
                    </a:ext>
                  </a:extLst>
                </a:hlinkClick>
              </a:rPr>
              <a:t>Recurso sugerido: https://man7.org/linux/man-pages/man1/perf.1.html</a:t>
            </a:r>
            <a:endParaRPr b="0" i="0" sz="1150" u="none" cap="none" strike="noStrike">
              <a:solidFill>
                <a:schemeClr val="dk1"/>
              </a:solidFill>
              <a:latin typeface="Arial"/>
              <a:ea typeface="Arial"/>
              <a:cs typeface="Arial"/>
              <a:sym typeface="Arial"/>
            </a:endParaRPr>
          </a:p>
        </p:txBody>
      </p:sp>
      <p:sp>
        <p:nvSpPr>
          <p:cNvPr id="565" name="Google Shape;565;p25"/>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5"/>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Ferramentas de terminal facilitam laboratório.</a:t>
            </a:r>
            <a:endParaRPr b="0" i="0" sz="1050" u="none" cap="none" strike="noStrike">
              <a:solidFill>
                <a:schemeClr val="dk1"/>
              </a:solidFill>
              <a:latin typeface="Arial"/>
              <a:ea typeface="Arial"/>
              <a:cs typeface="Arial"/>
              <a:sym typeface="Arial"/>
            </a:endParaRPr>
          </a:p>
        </p:txBody>
      </p:sp>
      <p:sp>
        <p:nvSpPr>
          <p:cNvPr id="567" name="Google Shape;567;p25"/>
          <p:cNvSpPr/>
          <p:nvPr/>
        </p:nvSpPr>
        <p:spPr>
          <a:xfrm>
            <a:off x="8138160" y="1645920"/>
            <a:ext cx="1325880"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5"/>
          <p:cNvSpPr/>
          <p:nvPr/>
        </p:nvSpPr>
        <p:spPr>
          <a:xfrm>
            <a:off x="8211312" y="1810512"/>
            <a:ext cx="11795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200"/>
              <a:buFont typeface="Arial"/>
              <a:buNone/>
            </a:pPr>
            <a:r>
              <a:rPr b="1" i="0" lang="en-US" sz="1200" u="none" cap="none" strike="noStrike">
                <a:solidFill>
                  <a:srgbClr val="1E88E5"/>
                </a:solidFill>
                <a:latin typeface="Arial"/>
                <a:ea typeface="Arial"/>
                <a:cs typeface="Arial"/>
                <a:sym typeface="Arial"/>
              </a:rPr>
              <a:t>top / htop</a:t>
            </a:r>
            <a:endParaRPr b="0" i="0" sz="1200" u="none" cap="none" strike="noStrike">
              <a:solidFill>
                <a:schemeClr val="dk1"/>
              </a:solidFill>
              <a:latin typeface="Arial"/>
              <a:ea typeface="Arial"/>
              <a:cs typeface="Arial"/>
              <a:sym typeface="Arial"/>
            </a:endParaRPr>
          </a:p>
        </p:txBody>
      </p:sp>
      <p:sp>
        <p:nvSpPr>
          <p:cNvPr id="569" name="Google Shape;569;p25"/>
          <p:cNvSpPr/>
          <p:nvPr/>
        </p:nvSpPr>
        <p:spPr>
          <a:xfrm>
            <a:off x="9784080" y="1645920"/>
            <a:ext cx="1325880"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5"/>
          <p:cNvSpPr/>
          <p:nvPr/>
        </p:nvSpPr>
        <p:spPr>
          <a:xfrm>
            <a:off x="9857232" y="1810512"/>
            <a:ext cx="11795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200"/>
              <a:buFont typeface="Arial"/>
              <a:buNone/>
            </a:pPr>
            <a:r>
              <a:rPr b="1" i="0" lang="en-US" sz="1200" u="none" cap="none" strike="noStrike">
                <a:solidFill>
                  <a:srgbClr val="1E88E5"/>
                </a:solidFill>
                <a:latin typeface="Arial"/>
                <a:ea typeface="Arial"/>
                <a:cs typeface="Arial"/>
                <a:sym typeface="Arial"/>
              </a:rPr>
              <a:t>vmstat</a:t>
            </a:r>
            <a:endParaRPr b="0" i="0" sz="1200" u="none" cap="none" strike="noStrike">
              <a:solidFill>
                <a:schemeClr val="dk1"/>
              </a:solidFill>
              <a:latin typeface="Arial"/>
              <a:ea typeface="Arial"/>
              <a:cs typeface="Arial"/>
              <a:sym typeface="Arial"/>
            </a:endParaRPr>
          </a:p>
        </p:txBody>
      </p:sp>
      <p:sp>
        <p:nvSpPr>
          <p:cNvPr id="571" name="Google Shape;571;p25"/>
          <p:cNvSpPr/>
          <p:nvPr/>
        </p:nvSpPr>
        <p:spPr>
          <a:xfrm>
            <a:off x="8138160" y="2651760"/>
            <a:ext cx="1325880"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5"/>
          <p:cNvSpPr/>
          <p:nvPr/>
        </p:nvSpPr>
        <p:spPr>
          <a:xfrm>
            <a:off x="8211312" y="2816352"/>
            <a:ext cx="11795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1200"/>
              <a:buFont typeface="Arial"/>
              <a:buNone/>
            </a:pPr>
            <a:r>
              <a:rPr b="1" i="0" lang="en-US" sz="1200" u="none" cap="none" strike="noStrike">
                <a:solidFill>
                  <a:srgbClr val="2E7D32"/>
                </a:solidFill>
                <a:latin typeface="Arial"/>
                <a:ea typeface="Arial"/>
                <a:cs typeface="Arial"/>
                <a:sym typeface="Arial"/>
              </a:rPr>
              <a:t>iostat</a:t>
            </a:r>
            <a:endParaRPr b="0" i="0" sz="1200" u="none" cap="none" strike="noStrike">
              <a:solidFill>
                <a:schemeClr val="dk1"/>
              </a:solidFill>
              <a:latin typeface="Arial"/>
              <a:ea typeface="Arial"/>
              <a:cs typeface="Arial"/>
              <a:sym typeface="Arial"/>
            </a:endParaRPr>
          </a:p>
        </p:txBody>
      </p:sp>
      <p:sp>
        <p:nvSpPr>
          <p:cNvPr id="573" name="Google Shape;573;p25"/>
          <p:cNvSpPr/>
          <p:nvPr/>
        </p:nvSpPr>
        <p:spPr>
          <a:xfrm>
            <a:off x="9784080" y="2651760"/>
            <a:ext cx="1325880"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5"/>
          <p:cNvSpPr/>
          <p:nvPr/>
        </p:nvSpPr>
        <p:spPr>
          <a:xfrm>
            <a:off x="9857232" y="2816352"/>
            <a:ext cx="11795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1200"/>
              <a:buFont typeface="Arial"/>
              <a:buNone/>
            </a:pPr>
            <a:r>
              <a:rPr b="1" i="0" lang="en-US" sz="1200" u="none" cap="none" strike="noStrike">
                <a:solidFill>
                  <a:srgbClr val="2E7D32"/>
                </a:solidFill>
                <a:latin typeface="Arial"/>
                <a:ea typeface="Arial"/>
                <a:cs typeface="Arial"/>
                <a:sym typeface="Arial"/>
              </a:rPr>
              <a:t>perf</a:t>
            </a:r>
            <a:endParaRPr b="0" i="0" sz="1200" u="none" cap="none" strike="noStrike">
              <a:solidFill>
                <a:schemeClr val="dk1"/>
              </a:solidFill>
              <a:latin typeface="Arial"/>
              <a:ea typeface="Arial"/>
              <a:cs typeface="Arial"/>
              <a:sym typeface="Arial"/>
            </a:endParaRPr>
          </a:p>
        </p:txBody>
      </p:sp>
      <p:sp>
        <p:nvSpPr>
          <p:cNvPr id="575" name="Google Shape;575;p25"/>
          <p:cNvSpPr/>
          <p:nvPr/>
        </p:nvSpPr>
        <p:spPr>
          <a:xfrm>
            <a:off x="8961120" y="3657600"/>
            <a:ext cx="1325880" cy="530352"/>
          </a:xfrm>
          <a:prstGeom prst="roundRect">
            <a:avLst>
              <a:gd fmla="val 20690" name="adj"/>
            </a:avLst>
          </a:prstGeom>
          <a:solidFill>
            <a:srgbClr val="FFF3F3"/>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5"/>
          <p:cNvSpPr/>
          <p:nvPr/>
        </p:nvSpPr>
        <p:spPr>
          <a:xfrm>
            <a:off x="9034272" y="3822192"/>
            <a:ext cx="11795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62828"/>
              </a:buClr>
              <a:buSzPts val="1200"/>
              <a:buFont typeface="Arial"/>
              <a:buNone/>
            </a:pPr>
            <a:r>
              <a:rPr b="1" i="0" lang="en-US" sz="1200" u="none" cap="none" strike="noStrike">
                <a:solidFill>
                  <a:srgbClr val="C62828"/>
                </a:solidFill>
                <a:latin typeface="Arial"/>
                <a:ea typeface="Arial"/>
                <a:cs typeface="Arial"/>
                <a:sym typeface="Arial"/>
              </a:rPr>
              <a:t>relatório</a:t>
            </a:r>
            <a:endParaRPr b="0" i="0" sz="1200" u="none" cap="none" strike="noStrike">
              <a:solidFill>
                <a:schemeClr val="dk1"/>
              </a:solidFill>
              <a:latin typeface="Arial"/>
              <a:ea typeface="Arial"/>
              <a:cs typeface="Arial"/>
              <a:sym typeface="Arial"/>
            </a:endParaRPr>
          </a:p>
        </p:txBody>
      </p:sp>
      <p:cxnSp>
        <p:nvCxnSpPr>
          <p:cNvPr id="577" name="Google Shape;577;p25"/>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578" name="Google Shape;578;p25"/>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25</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583" name="Shape 583"/>
        <p:cNvGrpSpPr/>
        <p:nvPr/>
      </p:nvGrpSpPr>
      <p:grpSpPr>
        <a:xfrm>
          <a:off x="0" y="0"/>
          <a:ext cx="0" cy="0"/>
          <a:chOff x="0" y="0"/>
          <a:chExt cx="0" cy="0"/>
        </a:xfrm>
      </p:grpSpPr>
      <p:sp>
        <p:nvSpPr>
          <p:cNvPr id="584" name="Google Shape;584;p26"/>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6"/>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Ferramentas no Windows</a:t>
            </a:r>
            <a:endParaRPr b="0" i="0" sz="3200" u="none" cap="none" strike="noStrike">
              <a:solidFill>
                <a:schemeClr val="dk1"/>
              </a:solidFill>
              <a:latin typeface="Arial"/>
              <a:ea typeface="Arial"/>
              <a:cs typeface="Arial"/>
              <a:sym typeface="Arial"/>
            </a:endParaRPr>
          </a:p>
        </p:txBody>
      </p:sp>
      <p:sp>
        <p:nvSpPr>
          <p:cNvPr id="586" name="Google Shape;586;p26"/>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Análise com recursos oficiais</a:t>
            </a:r>
            <a:endParaRPr b="0" i="0" sz="1450" u="none" cap="none" strike="noStrike">
              <a:solidFill>
                <a:schemeClr val="dk1"/>
              </a:solidFill>
              <a:latin typeface="Arial"/>
              <a:ea typeface="Arial"/>
              <a:cs typeface="Arial"/>
              <a:sym typeface="Arial"/>
            </a:endParaRPr>
          </a:p>
        </p:txBody>
      </p:sp>
      <p:sp>
        <p:nvSpPr>
          <p:cNvPr id="587" name="Google Shape;587;p26"/>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No Windows, Gerenciador de Tarefas, Monitor de Recursos, Monitor de Desempenho, Windows Performance Recorder e Windows Performance Analyzer apoiam a investigação de processos, consumo de CPU, disco, memória, inicialização, atrasos e eventos do sistema operacional.</a:t>
            </a:r>
            <a:endParaRPr b="0" i="0" sz="2400" u="none" cap="none" strike="noStrike">
              <a:solidFill>
                <a:schemeClr val="dk1"/>
              </a:solidFill>
              <a:latin typeface="Arial"/>
              <a:ea typeface="Arial"/>
              <a:cs typeface="Arial"/>
              <a:sym typeface="Arial"/>
            </a:endParaRPr>
          </a:p>
        </p:txBody>
      </p:sp>
      <p:sp>
        <p:nvSpPr>
          <p:cNvPr id="588" name="Google Shape;588;p26">
            <a:hlinkClick r:id="rId3"/>
          </p:cNvPr>
          <p:cNvSpPr/>
          <p:nvPr/>
        </p:nvSpPr>
        <p:spPr>
          <a:xfrm>
            <a:off x="612648" y="5577840"/>
            <a:ext cx="6446520" cy="4114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E88E5"/>
              </a:buClr>
              <a:buSzPts val="1150"/>
              <a:buFont typeface="Arial"/>
              <a:buNone/>
            </a:pPr>
            <a:r>
              <a:rPr b="0" i="0" lang="en-US" sz="1150" u="sng" cap="none" strike="noStrike">
                <a:solidFill>
                  <a:srgbClr val="1E88E5"/>
                </a:solidFill>
                <a:latin typeface="Arial"/>
                <a:ea typeface="Arial"/>
                <a:cs typeface="Arial"/>
                <a:sym typeface="Arial"/>
                <a:hlinkClick r:id="rId4">
                  <a:extLst>
                    <a:ext uri="{A12FA001-AC4F-418D-AE19-62706E023703}">
                      <ahyp:hlinkClr val="tx"/>
                    </a:ext>
                  </a:extLst>
                </a:hlinkClick>
              </a:rPr>
              <a:t>Recurso sugerido: https://learn.microsoft.com/en-us/windows-hardware/test/wpt/</a:t>
            </a:r>
            <a:endParaRPr b="0" i="0" sz="1150" u="none" cap="none" strike="noStrike">
              <a:solidFill>
                <a:schemeClr val="dk1"/>
              </a:solidFill>
              <a:latin typeface="Arial"/>
              <a:ea typeface="Arial"/>
              <a:cs typeface="Arial"/>
              <a:sym typeface="Arial"/>
            </a:endParaRPr>
          </a:p>
        </p:txBody>
      </p:sp>
      <p:sp>
        <p:nvSpPr>
          <p:cNvPr id="589" name="Google Shape;589;p26"/>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6"/>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WPR grava; WPA analisa a execução.</a:t>
            </a:r>
            <a:endParaRPr b="0" i="0" sz="1050" u="none" cap="none" strike="noStrike">
              <a:solidFill>
                <a:schemeClr val="dk1"/>
              </a:solidFill>
              <a:latin typeface="Arial"/>
              <a:ea typeface="Arial"/>
              <a:cs typeface="Arial"/>
              <a:sym typeface="Arial"/>
            </a:endParaRPr>
          </a:p>
        </p:txBody>
      </p:sp>
      <p:sp>
        <p:nvSpPr>
          <p:cNvPr id="591" name="Google Shape;591;p26"/>
          <p:cNvSpPr/>
          <p:nvPr/>
        </p:nvSpPr>
        <p:spPr>
          <a:xfrm>
            <a:off x="7955280" y="1764792"/>
            <a:ext cx="3337560"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6"/>
          <p:cNvSpPr/>
          <p:nvPr/>
        </p:nvSpPr>
        <p:spPr>
          <a:xfrm>
            <a:off x="8028432" y="1929384"/>
            <a:ext cx="319125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200"/>
              <a:buFont typeface="Arial"/>
              <a:buNone/>
            </a:pPr>
            <a:r>
              <a:rPr b="1" i="0" lang="en-US" sz="1200" u="none" cap="none" strike="noStrike">
                <a:solidFill>
                  <a:srgbClr val="1E88E5"/>
                </a:solidFill>
                <a:latin typeface="Arial"/>
                <a:ea typeface="Arial"/>
                <a:cs typeface="Arial"/>
                <a:sym typeface="Arial"/>
              </a:rPr>
              <a:t>WPR grava eventos ETW</a:t>
            </a:r>
            <a:endParaRPr b="0" i="0" sz="1200" u="none" cap="none" strike="noStrike">
              <a:solidFill>
                <a:schemeClr val="dk1"/>
              </a:solidFill>
              <a:latin typeface="Arial"/>
              <a:ea typeface="Arial"/>
              <a:cs typeface="Arial"/>
              <a:sym typeface="Arial"/>
            </a:endParaRPr>
          </a:p>
        </p:txBody>
      </p:sp>
      <p:cxnSp>
        <p:nvCxnSpPr>
          <p:cNvPr id="593" name="Google Shape;593;p26"/>
          <p:cNvCxnSpPr/>
          <p:nvPr/>
        </p:nvCxnSpPr>
        <p:spPr>
          <a:xfrm>
            <a:off x="9619488" y="2313432"/>
            <a:ext cx="0" cy="548640"/>
          </a:xfrm>
          <a:prstGeom prst="straightConnector1">
            <a:avLst/>
          </a:prstGeom>
          <a:noFill/>
          <a:ln cap="flat" cmpd="sng" w="12700">
            <a:solidFill>
              <a:srgbClr val="1E88E5"/>
            </a:solidFill>
            <a:prstDash val="solid"/>
            <a:round/>
            <a:headEnd len="sm" w="sm" type="none"/>
            <a:tailEnd len="med" w="med" type="triangle"/>
          </a:ln>
        </p:spPr>
      </p:cxnSp>
      <p:sp>
        <p:nvSpPr>
          <p:cNvPr id="594" name="Google Shape;594;p26"/>
          <p:cNvSpPr/>
          <p:nvPr/>
        </p:nvSpPr>
        <p:spPr>
          <a:xfrm>
            <a:off x="7955280" y="2889504"/>
            <a:ext cx="3337560"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6"/>
          <p:cNvSpPr/>
          <p:nvPr/>
        </p:nvSpPr>
        <p:spPr>
          <a:xfrm>
            <a:off x="8028432" y="3054096"/>
            <a:ext cx="319125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1200"/>
              <a:buFont typeface="Arial"/>
              <a:buNone/>
            </a:pPr>
            <a:r>
              <a:rPr b="1" i="0" lang="en-US" sz="1200" u="none" cap="none" strike="noStrike">
                <a:solidFill>
                  <a:srgbClr val="2E7D32"/>
                </a:solidFill>
                <a:latin typeface="Arial"/>
                <a:ea typeface="Arial"/>
                <a:cs typeface="Arial"/>
                <a:sym typeface="Arial"/>
              </a:rPr>
              <a:t>WPA analisa gráficos e tabelas</a:t>
            </a:r>
            <a:endParaRPr b="0" i="0" sz="1200" u="none" cap="none" strike="noStrike">
              <a:solidFill>
                <a:schemeClr val="dk1"/>
              </a:solidFill>
              <a:latin typeface="Arial"/>
              <a:ea typeface="Arial"/>
              <a:cs typeface="Arial"/>
              <a:sym typeface="Arial"/>
            </a:endParaRPr>
          </a:p>
        </p:txBody>
      </p:sp>
      <p:cxnSp>
        <p:nvCxnSpPr>
          <p:cNvPr id="596" name="Google Shape;596;p26"/>
          <p:cNvCxnSpPr/>
          <p:nvPr/>
        </p:nvCxnSpPr>
        <p:spPr>
          <a:xfrm>
            <a:off x="9619488" y="3456432"/>
            <a:ext cx="0" cy="530352"/>
          </a:xfrm>
          <a:prstGeom prst="straightConnector1">
            <a:avLst/>
          </a:prstGeom>
          <a:noFill/>
          <a:ln cap="flat" cmpd="sng" w="12700">
            <a:solidFill>
              <a:srgbClr val="1E88E5"/>
            </a:solidFill>
            <a:prstDash val="solid"/>
            <a:round/>
            <a:headEnd len="sm" w="sm" type="none"/>
            <a:tailEnd len="med" w="med" type="triangle"/>
          </a:ln>
        </p:spPr>
      </p:cxnSp>
      <p:sp>
        <p:nvSpPr>
          <p:cNvPr id="597" name="Google Shape;597;p26"/>
          <p:cNvSpPr/>
          <p:nvPr/>
        </p:nvSpPr>
        <p:spPr>
          <a:xfrm>
            <a:off x="7955280" y="4005072"/>
            <a:ext cx="3337560" cy="530352"/>
          </a:xfrm>
          <a:prstGeom prst="roundRect">
            <a:avLst>
              <a:gd fmla="val 20690" name="adj"/>
            </a:avLst>
          </a:prstGeom>
          <a:solidFill>
            <a:srgbClr val="FFF3F3"/>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6"/>
          <p:cNvSpPr/>
          <p:nvPr/>
        </p:nvSpPr>
        <p:spPr>
          <a:xfrm>
            <a:off x="8028432" y="4169664"/>
            <a:ext cx="319125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62828"/>
              </a:buClr>
              <a:buSzPts val="1200"/>
              <a:buFont typeface="Arial"/>
              <a:buNone/>
            </a:pPr>
            <a:r>
              <a:rPr b="1" i="0" lang="en-US" sz="1200" u="none" cap="none" strike="noStrike">
                <a:solidFill>
                  <a:srgbClr val="C62828"/>
                </a:solidFill>
                <a:latin typeface="Arial"/>
                <a:ea typeface="Arial"/>
                <a:cs typeface="Arial"/>
                <a:sym typeface="Arial"/>
              </a:rPr>
              <a:t>Diagnóstico do gargalo</a:t>
            </a:r>
            <a:endParaRPr b="0" i="0" sz="1200" u="none" cap="none" strike="noStrike">
              <a:solidFill>
                <a:schemeClr val="dk1"/>
              </a:solidFill>
              <a:latin typeface="Arial"/>
              <a:ea typeface="Arial"/>
              <a:cs typeface="Arial"/>
              <a:sym typeface="Arial"/>
            </a:endParaRPr>
          </a:p>
        </p:txBody>
      </p:sp>
      <p:cxnSp>
        <p:nvCxnSpPr>
          <p:cNvPr id="599" name="Google Shape;599;p26"/>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600" name="Google Shape;600;p26"/>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26</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605" name="Shape 605"/>
        <p:cNvGrpSpPr/>
        <p:nvPr/>
      </p:nvGrpSpPr>
      <p:grpSpPr>
        <a:xfrm>
          <a:off x="0" y="0"/>
          <a:ext cx="0" cy="0"/>
          <a:chOff x="0" y="0"/>
          <a:chExt cx="0" cy="0"/>
        </a:xfrm>
      </p:grpSpPr>
      <p:sp>
        <p:nvSpPr>
          <p:cNvPr id="606" name="Google Shape;606;p27"/>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7"/>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Benchmarks</a:t>
            </a:r>
            <a:endParaRPr b="0" i="0" sz="3200" u="none" cap="none" strike="noStrike">
              <a:solidFill>
                <a:schemeClr val="dk1"/>
              </a:solidFill>
              <a:latin typeface="Arial"/>
              <a:ea typeface="Arial"/>
              <a:cs typeface="Arial"/>
              <a:sym typeface="Arial"/>
            </a:endParaRPr>
          </a:p>
        </p:txBody>
      </p:sp>
      <p:sp>
        <p:nvSpPr>
          <p:cNvPr id="608" name="Google Shape;608;p27"/>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Testes padronizados para comparação</a:t>
            </a:r>
            <a:endParaRPr b="0" i="0" sz="1450" u="none" cap="none" strike="noStrike">
              <a:solidFill>
                <a:schemeClr val="dk1"/>
              </a:solidFill>
              <a:latin typeface="Arial"/>
              <a:ea typeface="Arial"/>
              <a:cs typeface="Arial"/>
              <a:sym typeface="Arial"/>
            </a:endParaRPr>
          </a:p>
        </p:txBody>
      </p:sp>
      <p:sp>
        <p:nvSpPr>
          <p:cNvPr id="609" name="Google Shape;609;p27"/>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Benchmark é um teste com procedimento definido para comparar desempenho. Pode avaliar CPU, memória, disco, sistema de arquivos ou aplicação. O resultado só é válido quando o ambiente e a metodologia são claros. Benchmarks mal executados produzem rankings bonitos, mas conclusões frágeis.</a:t>
            </a:r>
            <a:endParaRPr b="0" i="0" sz="2400" u="none" cap="none" strike="noStrike">
              <a:solidFill>
                <a:schemeClr val="dk1"/>
              </a:solidFill>
              <a:latin typeface="Arial"/>
              <a:ea typeface="Arial"/>
              <a:cs typeface="Arial"/>
              <a:sym typeface="Arial"/>
            </a:endParaRPr>
          </a:p>
        </p:txBody>
      </p:sp>
      <p:sp>
        <p:nvSpPr>
          <p:cNvPr id="610" name="Google Shape;610;p27">
            <a:hlinkClick r:id="rId3"/>
          </p:cNvPr>
          <p:cNvSpPr/>
          <p:nvPr/>
        </p:nvSpPr>
        <p:spPr>
          <a:xfrm>
            <a:off x="612648" y="5577840"/>
            <a:ext cx="6446520" cy="4114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E88E5"/>
              </a:buClr>
              <a:buSzPts val="1150"/>
              <a:buFont typeface="Arial"/>
              <a:buNone/>
            </a:pPr>
            <a:r>
              <a:rPr b="0" i="0" lang="en-US" sz="1150" u="sng" cap="none" strike="noStrike">
                <a:solidFill>
                  <a:srgbClr val="1E88E5"/>
                </a:solidFill>
                <a:latin typeface="Arial"/>
                <a:ea typeface="Arial"/>
                <a:cs typeface="Arial"/>
                <a:sym typeface="Arial"/>
                <a:hlinkClick r:id="rId4">
                  <a:extLst>
                    <a:ext uri="{A12FA001-AC4F-418D-AE19-62706E023703}">
                      <ahyp:hlinkClr val="tx"/>
                    </a:ext>
                  </a:extLst>
                </a:hlinkClick>
              </a:rPr>
              <a:t>Recurso sugerido: https://www.phoronix-test-suite.com/</a:t>
            </a:r>
            <a:endParaRPr b="0" i="0" sz="1150" u="none" cap="none" strike="noStrike">
              <a:solidFill>
                <a:schemeClr val="dk1"/>
              </a:solidFill>
              <a:latin typeface="Arial"/>
              <a:ea typeface="Arial"/>
              <a:cs typeface="Arial"/>
              <a:sym typeface="Arial"/>
            </a:endParaRPr>
          </a:p>
        </p:txBody>
      </p:sp>
      <p:sp>
        <p:nvSpPr>
          <p:cNvPr id="611" name="Google Shape;611;p27"/>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7"/>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Comparação exige procedimento igual.</a:t>
            </a:r>
            <a:endParaRPr b="0" i="0" sz="1050" u="none" cap="none" strike="noStrike">
              <a:solidFill>
                <a:schemeClr val="dk1"/>
              </a:solidFill>
              <a:latin typeface="Arial"/>
              <a:ea typeface="Arial"/>
              <a:cs typeface="Arial"/>
              <a:sym typeface="Arial"/>
            </a:endParaRPr>
          </a:p>
        </p:txBody>
      </p:sp>
      <p:sp>
        <p:nvSpPr>
          <p:cNvPr id="613" name="Google Shape;613;p27"/>
          <p:cNvSpPr/>
          <p:nvPr/>
        </p:nvSpPr>
        <p:spPr>
          <a:xfrm>
            <a:off x="8138160" y="3792474"/>
            <a:ext cx="320040" cy="349758"/>
          </a:xfrm>
          <a:prstGeom prst="rect">
            <a:avLst/>
          </a:prstGeom>
          <a:solidFill>
            <a:srgbClr val="2E7D32"/>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7"/>
          <p:cNvSpPr/>
          <p:nvPr/>
        </p:nvSpPr>
        <p:spPr>
          <a:xfrm>
            <a:off x="8074152"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1</a:t>
            </a:r>
            <a:endParaRPr b="0" i="0" sz="900" u="none" cap="none" strike="noStrike">
              <a:solidFill>
                <a:schemeClr val="dk1"/>
              </a:solidFill>
              <a:latin typeface="Arial"/>
              <a:ea typeface="Arial"/>
              <a:cs typeface="Arial"/>
              <a:sym typeface="Arial"/>
            </a:endParaRPr>
          </a:p>
        </p:txBody>
      </p:sp>
      <p:sp>
        <p:nvSpPr>
          <p:cNvPr id="615" name="Google Shape;615;p27"/>
          <p:cNvSpPr/>
          <p:nvPr/>
        </p:nvSpPr>
        <p:spPr>
          <a:xfrm>
            <a:off x="8759952" y="3588449"/>
            <a:ext cx="320040" cy="553784"/>
          </a:xfrm>
          <a:prstGeom prst="rect">
            <a:avLst/>
          </a:prstGeom>
          <a:solidFill>
            <a:srgbClr val="2E7D32"/>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7"/>
          <p:cNvSpPr/>
          <p:nvPr/>
        </p:nvSpPr>
        <p:spPr>
          <a:xfrm>
            <a:off x="8695944"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2</a:t>
            </a:r>
            <a:endParaRPr b="0" i="0" sz="900" u="none" cap="none" strike="noStrike">
              <a:solidFill>
                <a:schemeClr val="dk1"/>
              </a:solidFill>
              <a:latin typeface="Arial"/>
              <a:ea typeface="Arial"/>
              <a:cs typeface="Arial"/>
              <a:sym typeface="Arial"/>
            </a:endParaRPr>
          </a:p>
        </p:txBody>
      </p:sp>
      <p:sp>
        <p:nvSpPr>
          <p:cNvPr id="617" name="Google Shape;617;p27"/>
          <p:cNvSpPr/>
          <p:nvPr/>
        </p:nvSpPr>
        <p:spPr>
          <a:xfrm>
            <a:off x="9381744" y="3209544"/>
            <a:ext cx="320040" cy="932688"/>
          </a:xfrm>
          <a:prstGeom prst="rect">
            <a:avLst/>
          </a:prstGeom>
          <a:solidFill>
            <a:srgbClr val="F9A825"/>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7"/>
          <p:cNvSpPr/>
          <p:nvPr/>
        </p:nvSpPr>
        <p:spPr>
          <a:xfrm>
            <a:off x="9317736"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3</a:t>
            </a:r>
            <a:endParaRPr b="0" i="0" sz="900" u="none" cap="none" strike="noStrike">
              <a:solidFill>
                <a:schemeClr val="dk1"/>
              </a:solidFill>
              <a:latin typeface="Arial"/>
              <a:ea typeface="Arial"/>
              <a:cs typeface="Arial"/>
              <a:sym typeface="Arial"/>
            </a:endParaRPr>
          </a:p>
        </p:txBody>
      </p:sp>
      <p:sp>
        <p:nvSpPr>
          <p:cNvPr id="619" name="Google Shape;619;p27"/>
          <p:cNvSpPr/>
          <p:nvPr/>
        </p:nvSpPr>
        <p:spPr>
          <a:xfrm>
            <a:off x="10003536" y="2568321"/>
            <a:ext cx="320040" cy="1573911"/>
          </a:xfrm>
          <a:prstGeom prst="rect">
            <a:avLst/>
          </a:prstGeom>
          <a:solidFill>
            <a:srgbClr val="F9A825"/>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7"/>
          <p:cNvSpPr/>
          <p:nvPr/>
        </p:nvSpPr>
        <p:spPr>
          <a:xfrm>
            <a:off x="9939528"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4</a:t>
            </a:r>
            <a:endParaRPr b="0" i="0" sz="900" u="none" cap="none" strike="noStrike">
              <a:solidFill>
                <a:schemeClr val="dk1"/>
              </a:solidFill>
              <a:latin typeface="Arial"/>
              <a:ea typeface="Arial"/>
              <a:cs typeface="Arial"/>
              <a:sym typeface="Arial"/>
            </a:endParaRPr>
          </a:p>
        </p:txBody>
      </p:sp>
      <p:sp>
        <p:nvSpPr>
          <p:cNvPr id="621" name="Google Shape;621;p27"/>
          <p:cNvSpPr/>
          <p:nvPr/>
        </p:nvSpPr>
        <p:spPr>
          <a:xfrm>
            <a:off x="10625328" y="1810512"/>
            <a:ext cx="320040" cy="2331720"/>
          </a:xfrm>
          <a:prstGeom prst="rect">
            <a:avLst/>
          </a:prstGeom>
          <a:solidFill>
            <a:srgbClr val="C62828"/>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7"/>
          <p:cNvSpPr/>
          <p:nvPr/>
        </p:nvSpPr>
        <p:spPr>
          <a:xfrm>
            <a:off x="10561320"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5</a:t>
            </a:r>
            <a:endParaRPr b="0" i="0" sz="900" u="none" cap="none" strike="noStrike">
              <a:solidFill>
                <a:schemeClr val="dk1"/>
              </a:solidFill>
              <a:latin typeface="Arial"/>
              <a:ea typeface="Arial"/>
              <a:cs typeface="Arial"/>
              <a:sym typeface="Arial"/>
            </a:endParaRPr>
          </a:p>
        </p:txBody>
      </p:sp>
      <p:cxnSp>
        <p:nvCxnSpPr>
          <p:cNvPr id="623" name="Google Shape;623;p27"/>
          <p:cNvCxnSpPr/>
          <p:nvPr/>
        </p:nvCxnSpPr>
        <p:spPr>
          <a:xfrm>
            <a:off x="7982712" y="1810512"/>
            <a:ext cx="0" cy="2423160"/>
          </a:xfrm>
          <a:prstGeom prst="straightConnector1">
            <a:avLst/>
          </a:prstGeom>
          <a:noFill/>
          <a:ln cap="flat" cmpd="sng" w="12700">
            <a:solidFill>
              <a:srgbClr val="D6DEE8"/>
            </a:solidFill>
            <a:prstDash val="solid"/>
            <a:round/>
            <a:headEnd len="sm" w="sm" type="none"/>
            <a:tailEnd len="sm" w="sm" type="none"/>
          </a:ln>
        </p:spPr>
      </p:cxnSp>
      <p:cxnSp>
        <p:nvCxnSpPr>
          <p:cNvPr id="624" name="Google Shape;624;p27"/>
          <p:cNvCxnSpPr/>
          <p:nvPr/>
        </p:nvCxnSpPr>
        <p:spPr>
          <a:xfrm>
            <a:off x="7982712" y="4233672"/>
            <a:ext cx="3337560" cy="0"/>
          </a:xfrm>
          <a:prstGeom prst="straightConnector1">
            <a:avLst/>
          </a:prstGeom>
          <a:noFill/>
          <a:ln cap="flat" cmpd="sng" w="12700">
            <a:solidFill>
              <a:srgbClr val="D6DEE8"/>
            </a:solidFill>
            <a:prstDash val="solid"/>
            <a:round/>
            <a:headEnd len="sm" w="sm" type="none"/>
            <a:tailEnd len="sm" w="sm" type="none"/>
          </a:ln>
        </p:spPr>
      </p:cxnSp>
      <p:sp>
        <p:nvSpPr>
          <p:cNvPr id="625" name="Google Shape;625;p27"/>
          <p:cNvSpPr/>
          <p:nvPr/>
        </p:nvSpPr>
        <p:spPr>
          <a:xfrm>
            <a:off x="8412480" y="1490472"/>
            <a:ext cx="23317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Tempo médio cresce com a carga</a:t>
            </a:r>
            <a:endParaRPr b="0" i="0" sz="1100" u="none" cap="none" strike="noStrike">
              <a:solidFill>
                <a:schemeClr val="dk1"/>
              </a:solidFill>
              <a:latin typeface="Arial"/>
              <a:ea typeface="Arial"/>
              <a:cs typeface="Arial"/>
              <a:sym typeface="Arial"/>
            </a:endParaRPr>
          </a:p>
        </p:txBody>
      </p:sp>
      <p:cxnSp>
        <p:nvCxnSpPr>
          <p:cNvPr id="626" name="Google Shape;626;p27"/>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627" name="Google Shape;627;p27"/>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27</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632" name="Shape 632"/>
        <p:cNvGrpSpPr/>
        <p:nvPr/>
      </p:nvGrpSpPr>
      <p:grpSpPr>
        <a:xfrm>
          <a:off x="0" y="0"/>
          <a:ext cx="0" cy="0"/>
          <a:chOff x="0" y="0"/>
          <a:chExt cx="0" cy="0"/>
        </a:xfrm>
      </p:grpSpPr>
      <p:sp>
        <p:nvSpPr>
          <p:cNvPr id="633" name="Google Shape;633;p28"/>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8"/>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Profiling e tracing</a:t>
            </a:r>
            <a:endParaRPr b="0" i="0" sz="3200" u="none" cap="none" strike="noStrike">
              <a:solidFill>
                <a:schemeClr val="dk1"/>
              </a:solidFill>
              <a:latin typeface="Arial"/>
              <a:ea typeface="Arial"/>
              <a:cs typeface="Arial"/>
              <a:sym typeface="Arial"/>
            </a:endParaRPr>
          </a:p>
        </p:txBody>
      </p:sp>
      <p:sp>
        <p:nvSpPr>
          <p:cNvPr id="635" name="Google Shape;635;p28"/>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Entender onde o tempo é gasto</a:t>
            </a:r>
            <a:endParaRPr b="0" i="0" sz="1450" u="none" cap="none" strike="noStrike">
              <a:solidFill>
                <a:schemeClr val="dk1"/>
              </a:solidFill>
              <a:latin typeface="Arial"/>
              <a:ea typeface="Arial"/>
              <a:cs typeface="Arial"/>
              <a:sym typeface="Arial"/>
            </a:endParaRPr>
          </a:p>
        </p:txBody>
      </p:sp>
      <p:sp>
        <p:nvSpPr>
          <p:cNvPr id="636" name="Google Shape;636;p28"/>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Profiling identifica partes do sistema ou aplicação que mais consomem tempo ou recursos. Tracing registra eventos ao longo da execução, como chamadas de sistema, interrupções e acesso a disco. Essas técnicas ajudam a passar de “está lento” para “está lento por causa de algo específico”.</a:t>
            </a:r>
            <a:endParaRPr b="0" i="0" sz="2400" u="none" cap="none" strike="noStrike">
              <a:solidFill>
                <a:schemeClr val="dk1"/>
              </a:solidFill>
              <a:latin typeface="Arial"/>
              <a:ea typeface="Arial"/>
              <a:cs typeface="Arial"/>
              <a:sym typeface="Arial"/>
            </a:endParaRPr>
          </a:p>
        </p:txBody>
      </p:sp>
      <p:sp>
        <p:nvSpPr>
          <p:cNvPr id="637" name="Google Shape;637;p28">
            <a:hlinkClick r:id="rId3"/>
          </p:cNvPr>
          <p:cNvSpPr/>
          <p:nvPr/>
        </p:nvSpPr>
        <p:spPr>
          <a:xfrm>
            <a:off x="612648" y="5577840"/>
            <a:ext cx="6446520" cy="4114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E88E5"/>
              </a:buClr>
              <a:buSzPts val="1150"/>
              <a:buFont typeface="Arial"/>
              <a:buNone/>
            </a:pPr>
            <a:r>
              <a:rPr b="0" i="0" lang="en-US" sz="1150" u="sng" cap="none" strike="noStrike">
                <a:solidFill>
                  <a:srgbClr val="1E88E5"/>
                </a:solidFill>
                <a:latin typeface="Arial"/>
                <a:ea typeface="Arial"/>
                <a:cs typeface="Arial"/>
                <a:sym typeface="Arial"/>
                <a:hlinkClick r:id="rId4">
                  <a:extLst>
                    <a:ext uri="{A12FA001-AC4F-418D-AE19-62706E023703}">
                      <ahyp:hlinkClr val="tx"/>
                    </a:ext>
                  </a:extLst>
                </a:hlinkClick>
              </a:rPr>
              <a:t>Recurso sugerido: https://perfwiki.github.io/main/tutorial/</a:t>
            </a:r>
            <a:endParaRPr b="0" i="0" sz="1150" u="none" cap="none" strike="noStrike">
              <a:solidFill>
                <a:schemeClr val="dk1"/>
              </a:solidFill>
              <a:latin typeface="Arial"/>
              <a:ea typeface="Arial"/>
              <a:cs typeface="Arial"/>
              <a:sym typeface="Arial"/>
            </a:endParaRPr>
          </a:p>
        </p:txBody>
      </p:sp>
      <p:sp>
        <p:nvSpPr>
          <p:cNvPr id="638" name="Google Shape;638;p28"/>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8"/>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Rastreamento transforma sintomas em evidências.</a:t>
            </a:r>
            <a:endParaRPr b="0" i="0" sz="1050" u="none" cap="none" strike="noStrike">
              <a:solidFill>
                <a:schemeClr val="dk1"/>
              </a:solidFill>
              <a:latin typeface="Arial"/>
              <a:ea typeface="Arial"/>
              <a:cs typeface="Arial"/>
              <a:sym typeface="Arial"/>
            </a:endParaRPr>
          </a:p>
        </p:txBody>
      </p:sp>
      <p:sp>
        <p:nvSpPr>
          <p:cNvPr id="640" name="Google Shape;640;p28"/>
          <p:cNvSpPr/>
          <p:nvPr/>
        </p:nvSpPr>
        <p:spPr>
          <a:xfrm>
            <a:off x="7955280" y="1764792"/>
            <a:ext cx="3337560"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8"/>
          <p:cNvSpPr/>
          <p:nvPr/>
        </p:nvSpPr>
        <p:spPr>
          <a:xfrm>
            <a:off x="8028432" y="1929384"/>
            <a:ext cx="319125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200"/>
              <a:buFont typeface="Arial"/>
              <a:buNone/>
            </a:pPr>
            <a:r>
              <a:rPr b="1" i="0" lang="en-US" sz="1200" u="none" cap="none" strike="noStrike">
                <a:solidFill>
                  <a:srgbClr val="1E88E5"/>
                </a:solidFill>
                <a:latin typeface="Arial"/>
                <a:ea typeface="Arial"/>
                <a:cs typeface="Arial"/>
                <a:sym typeface="Arial"/>
              </a:rPr>
              <a:t>WPR grava eventos ETW</a:t>
            </a:r>
            <a:endParaRPr b="0" i="0" sz="1200" u="none" cap="none" strike="noStrike">
              <a:solidFill>
                <a:schemeClr val="dk1"/>
              </a:solidFill>
              <a:latin typeface="Arial"/>
              <a:ea typeface="Arial"/>
              <a:cs typeface="Arial"/>
              <a:sym typeface="Arial"/>
            </a:endParaRPr>
          </a:p>
        </p:txBody>
      </p:sp>
      <p:cxnSp>
        <p:nvCxnSpPr>
          <p:cNvPr id="642" name="Google Shape;642;p28"/>
          <p:cNvCxnSpPr/>
          <p:nvPr/>
        </p:nvCxnSpPr>
        <p:spPr>
          <a:xfrm>
            <a:off x="9619488" y="2313432"/>
            <a:ext cx="0" cy="548640"/>
          </a:xfrm>
          <a:prstGeom prst="straightConnector1">
            <a:avLst/>
          </a:prstGeom>
          <a:noFill/>
          <a:ln cap="flat" cmpd="sng" w="12700">
            <a:solidFill>
              <a:srgbClr val="1E88E5"/>
            </a:solidFill>
            <a:prstDash val="solid"/>
            <a:round/>
            <a:headEnd len="sm" w="sm" type="none"/>
            <a:tailEnd len="med" w="med" type="triangle"/>
          </a:ln>
        </p:spPr>
      </p:cxnSp>
      <p:sp>
        <p:nvSpPr>
          <p:cNvPr id="643" name="Google Shape;643;p28"/>
          <p:cNvSpPr/>
          <p:nvPr/>
        </p:nvSpPr>
        <p:spPr>
          <a:xfrm>
            <a:off x="7955280" y="2889504"/>
            <a:ext cx="3337560"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8"/>
          <p:cNvSpPr/>
          <p:nvPr/>
        </p:nvSpPr>
        <p:spPr>
          <a:xfrm>
            <a:off x="8028432" y="3054096"/>
            <a:ext cx="319125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1200"/>
              <a:buFont typeface="Arial"/>
              <a:buNone/>
            </a:pPr>
            <a:r>
              <a:rPr b="1" i="0" lang="en-US" sz="1200" u="none" cap="none" strike="noStrike">
                <a:solidFill>
                  <a:srgbClr val="2E7D32"/>
                </a:solidFill>
                <a:latin typeface="Arial"/>
                <a:ea typeface="Arial"/>
                <a:cs typeface="Arial"/>
                <a:sym typeface="Arial"/>
              </a:rPr>
              <a:t>WPA analisa gráficos e tabelas</a:t>
            </a:r>
            <a:endParaRPr b="0" i="0" sz="1200" u="none" cap="none" strike="noStrike">
              <a:solidFill>
                <a:schemeClr val="dk1"/>
              </a:solidFill>
              <a:latin typeface="Arial"/>
              <a:ea typeface="Arial"/>
              <a:cs typeface="Arial"/>
              <a:sym typeface="Arial"/>
            </a:endParaRPr>
          </a:p>
        </p:txBody>
      </p:sp>
      <p:cxnSp>
        <p:nvCxnSpPr>
          <p:cNvPr id="645" name="Google Shape;645;p28"/>
          <p:cNvCxnSpPr/>
          <p:nvPr/>
        </p:nvCxnSpPr>
        <p:spPr>
          <a:xfrm>
            <a:off x="9619488" y="3456432"/>
            <a:ext cx="0" cy="530352"/>
          </a:xfrm>
          <a:prstGeom prst="straightConnector1">
            <a:avLst/>
          </a:prstGeom>
          <a:noFill/>
          <a:ln cap="flat" cmpd="sng" w="12700">
            <a:solidFill>
              <a:srgbClr val="1E88E5"/>
            </a:solidFill>
            <a:prstDash val="solid"/>
            <a:round/>
            <a:headEnd len="sm" w="sm" type="none"/>
            <a:tailEnd len="med" w="med" type="triangle"/>
          </a:ln>
        </p:spPr>
      </p:cxnSp>
      <p:sp>
        <p:nvSpPr>
          <p:cNvPr id="646" name="Google Shape;646;p28"/>
          <p:cNvSpPr/>
          <p:nvPr/>
        </p:nvSpPr>
        <p:spPr>
          <a:xfrm>
            <a:off x="7955280" y="4005072"/>
            <a:ext cx="3337560" cy="530352"/>
          </a:xfrm>
          <a:prstGeom prst="roundRect">
            <a:avLst>
              <a:gd fmla="val 20690" name="adj"/>
            </a:avLst>
          </a:prstGeom>
          <a:solidFill>
            <a:srgbClr val="FFF3F3"/>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8"/>
          <p:cNvSpPr/>
          <p:nvPr/>
        </p:nvSpPr>
        <p:spPr>
          <a:xfrm>
            <a:off x="8028432" y="4169664"/>
            <a:ext cx="319125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62828"/>
              </a:buClr>
              <a:buSzPts val="1200"/>
              <a:buFont typeface="Arial"/>
              <a:buNone/>
            </a:pPr>
            <a:r>
              <a:rPr b="1" i="0" lang="en-US" sz="1200" u="none" cap="none" strike="noStrike">
                <a:solidFill>
                  <a:srgbClr val="C62828"/>
                </a:solidFill>
                <a:latin typeface="Arial"/>
                <a:ea typeface="Arial"/>
                <a:cs typeface="Arial"/>
                <a:sym typeface="Arial"/>
              </a:rPr>
              <a:t>Diagnóstico do gargalo</a:t>
            </a:r>
            <a:endParaRPr b="0" i="0" sz="1200" u="none" cap="none" strike="noStrike">
              <a:solidFill>
                <a:schemeClr val="dk1"/>
              </a:solidFill>
              <a:latin typeface="Arial"/>
              <a:ea typeface="Arial"/>
              <a:cs typeface="Arial"/>
              <a:sym typeface="Arial"/>
            </a:endParaRPr>
          </a:p>
        </p:txBody>
      </p:sp>
      <p:cxnSp>
        <p:nvCxnSpPr>
          <p:cNvPr id="648" name="Google Shape;648;p28"/>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649" name="Google Shape;649;p28"/>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28</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654" name="Shape 654"/>
        <p:cNvGrpSpPr/>
        <p:nvPr/>
      </p:nvGrpSpPr>
      <p:grpSpPr>
        <a:xfrm>
          <a:off x="0" y="0"/>
          <a:ext cx="0" cy="0"/>
          <a:chOff x="0" y="0"/>
          <a:chExt cx="0" cy="0"/>
        </a:xfrm>
      </p:grpSpPr>
      <p:sp>
        <p:nvSpPr>
          <p:cNvPr id="655" name="Google Shape;655;p29"/>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9"/>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Análise estatística</a:t>
            </a:r>
            <a:endParaRPr b="0" i="0" sz="3200" u="none" cap="none" strike="noStrike">
              <a:solidFill>
                <a:schemeClr val="dk1"/>
              </a:solidFill>
              <a:latin typeface="Arial"/>
              <a:ea typeface="Arial"/>
              <a:cs typeface="Arial"/>
              <a:sym typeface="Arial"/>
            </a:endParaRPr>
          </a:p>
        </p:txBody>
      </p:sp>
      <p:sp>
        <p:nvSpPr>
          <p:cNvPr id="657" name="Google Shape;657;p29"/>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Média sozinha não basta</a:t>
            </a:r>
            <a:endParaRPr b="0" i="0" sz="1450" u="none" cap="none" strike="noStrike">
              <a:solidFill>
                <a:schemeClr val="dk1"/>
              </a:solidFill>
              <a:latin typeface="Arial"/>
              <a:ea typeface="Arial"/>
              <a:cs typeface="Arial"/>
              <a:sym typeface="Arial"/>
            </a:endParaRPr>
          </a:p>
        </p:txBody>
      </p:sp>
      <p:sp>
        <p:nvSpPr>
          <p:cNvPr id="658" name="Google Shape;658;p29"/>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Resultados de desempenho variam. Por isso, além da média, é importante observar mínimo, máximo, mediana, desvio padrão e percentis. Dois sistemas podem ter a mesma média, mas um deles apresentar picos de lentidão, o que prejudica usuários em momentos específicos.</a:t>
            </a:r>
            <a:endParaRPr b="0" i="0" sz="2400" u="none" cap="none" strike="noStrike">
              <a:solidFill>
                <a:schemeClr val="dk1"/>
              </a:solidFill>
              <a:latin typeface="Arial"/>
              <a:ea typeface="Arial"/>
              <a:cs typeface="Arial"/>
              <a:sym typeface="Arial"/>
            </a:endParaRPr>
          </a:p>
        </p:txBody>
      </p:sp>
      <p:sp>
        <p:nvSpPr>
          <p:cNvPr id="659" name="Google Shape;659;p29"/>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9"/>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Variabilidade revela instabilidade.</a:t>
            </a:r>
            <a:endParaRPr b="0" i="0" sz="1050" u="none" cap="none" strike="noStrike">
              <a:solidFill>
                <a:schemeClr val="dk1"/>
              </a:solidFill>
              <a:latin typeface="Arial"/>
              <a:ea typeface="Arial"/>
              <a:cs typeface="Arial"/>
              <a:sym typeface="Arial"/>
            </a:endParaRPr>
          </a:p>
        </p:txBody>
      </p:sp>
      <p:sp>
        <p:nvSpPr>
          <p:cNvPr id="661" name="Google Shape;661;p29"/>
          <p:cNvSpPr/>
          <p:nvPr/>
        </p:nvSpPr>
        <p:spPr>
          <a:xfrm>
            <a:off x="8138160" y="3792474"/>
            <a:ext cx="320040" cy="349758"/>
          </a:xfrm>
          <a:prstGeom prst="rect">
            <a:avLst/>
          </a:prstGeom>
          <a:solidFill>
            <a:srgbClr val="2E7D32"/>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9"/>
          <p:cNvSpPr/>
          <p:nvPr/>
        </p:nvSpPr>
        <p:spPr>
          <a:xfrm>
            <a:off x="8074152"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1</a:t>
            </a:r>
            <a:endParaRPr b="0" i="0" sz="900" u="none" cap="none" strike="noStrike">
              <a:solidFill>
                <a:schemeClr val="dk1"/>
              </a:solidFill>
              <a:latin typeface="Arial"/>
              <a:ea typeface="Arial"/>
              <a:cs typeface="Arial"/>
              <a:sym typeface="Arial"/>
            </a:endParaRPr>
          </a:p>
        </p:txBody>
      </p:sp>
      <p:sp>
        <p:nvSpPr>
          <p:cNvPr id="663" name="Google Shape;663;p29"/>
          <p:cNvSpPr/>
          <p:nvPr/>
        </p:nvSpPr>
        <p:spPr>
          <a:xfrm>
            <a:off x="8759952" y="3588449"/>
            <a:ext cx="320040" cy="553784"/>
          </a:xfrm>
          <a:prstGeom prst="rect">
            <a:avLst/>
          </a:prstGeom>
          <a:solidFill>
            <a:srgbClr val="2E7D32"/>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9"/>
          <p:cNvSpPr/>
          <p:nvPr/>
        </p:nvSpPr>
        <p:spPr>
          <a:xfrm>
            <a:off x="8695944"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2</a:t>
            </a:r>
            <a:endParaRPr b="0" i="0" sz="900" u="none" cap="none" strike="noStrike">
              <a:solidFill>
                <a:schemeClr val="dk1"/>
              </a:solidFill>
              <a:latin typeface="Arial"/>
              <a:ea typeface="Arial"/>
              <a:cs typeface="Arial"/>
              <a:sym typeface="Arial"/>
            </a:endParaRPr>
          </a:p>
        </p:txBody>
      </p:sp>
      <p:sp>
        <p:nvSpPr>
          <p:cNvPr id="665" name="Google Shape;665;p29"/>
          <p:cNvSpPr/>
          <p:nvPr/>
        </p:nvSpPr>
        <p:spPr>
          <a:xfrm>
            <a:off x="9381744" y="3209544"/>
            <a:ext cx="320040" cy="932688"/>
          </a:xfrm>
          <a:prstGeom prst="rect">
            <a:avLst/>
          </a:prstGeom>
          <a:solidFill>
            <a:srgbClr val="F9A825"/>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9"/>
          <p:cNvSpPr/>
          <p:nvPr/>
        </p:nvSpPr>
        <p:spPr>
          <a:xfrm>
            <a:off x="9317736"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3</a:t>
            </a:r>
            <a:endParaRPr b="0" i="0" sz="900" u="none" cap="none" strike="noStrike">
              <a:solidFill>
                <a:schemeClr val="dk1"/>
              </a:solidFill>
              <a:latin typeface="Arial"/>
              <a:ea typeface="Arial"/>
              <a:cs typeface="Arial"/>
              <a:sym typeface="Arial"/>
            </a:endParaRPr>
          </a:p>
        </p:txBody>
      </p:sp>
      <p:sp>
        <p:nvSpPr>
          <p:cNvPr id="667" name="Google Shape;667;p29"/>
          <p:cNvSpPr/>
          <p:nvPr/>
        </p:nvSpPr>
        <p:spPr>
          <a:xfrm>
            <a:off x="10003536" y="2568321"/>
            <a:ext cx="320040" cy="1573911"/>
          </a:xfrm>
          <a:prstGeom prst="rect">
            <a:avLst/>
          </a:prstGeom>
          <a:solidFill>
            <a:srgbClr val="F9A825"/>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9"/>
          <p:cNvSpPr/>
          <p:nvPr/>
        </p:nvSpPr>
        <p:spPr>
          <a:xfrm>
            <a:off x="9939528"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4</a:t>
            </a:r>
            <a:endParaRPr b="0" i="0" sz="900" u="none" cap="none" strike="noStrike">
              <a:solidFill>
                <a:schemeClr val="dk1"/>
              </a:solidFill>
              <a:latin typeface="Arial"/>
              <a:ea typeface="Arial"/>
              <a:cs typeface="Arial"/>
              <a:sym typeface="Arial"/>
            </a:endParaRPr>
          </a:p>
        </p:txBody>
      </p:sp>
      <p:sp>
        <p:nvSpPr>
          <p:cNvPr id="669" name="Google Shape;669;p29"/>
          <p:cNvSpPr/>
          <p:nvPr/>
        </p:nvSpPr>
        <p:spPr>
          <a:xfrm>
            <a:off x="10625328" y="1810512"/>
            <a:ext cx="320040" cy="2331720"/>
          </a:xfrm>
          <a:prstGeom prst="rect">
            <a:avLst/>
          </a:prstGeom>
          <a:solidFill>
            <a:srgbClr val="C62828"/>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9"/>
          <p:cNvSpPr/>
          <p:nvPr/>
        </p:nvSpPr>
        <p:spPr>
          <a:xfrm>
            <a:off x="10561320" y="42336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900"/>
              <a:buFont typeface="Arial"/>
              <a:buNone/>
            </a:pPr>
            <a:r>
              <a:rPr b="0" i="0" lang="en-US" sz="900" u="none" cap="none" strike="noStrike">
                <a:solidFill>
                  <a:srgbClr val="53657D"/>
                </a:solidFill>
                <a:latin typeface="Arial"/>
                <a:ea typeface="Arial"/>
                <a:cs typeface="Arial"/>
                <a:sym typeface="Arial"/>
              </a:rPr>
              <a:t>5</a:t>
            </a:r>
            <a:endParaRPr b="0" i="0" sz="900" u="none" cap="none" strike="noStrike">
              <a:solidFill>
                <a:schemeClr val="dk1"/>
              </a:solidFill>
              <a:latin typeface="Arial"/>
              <a:ea typeface="Arial"/>
              <a:cs typeface="Arial"/>
              <a:sym typeface="Arial"/>
            </a:endParaRPr>
          </a:p>
        </p:txBody>
      </p:sp>
      <p:cxnSp>
        <p:nvCxnSpPr>
          <p:cNvPr id="671" name="Google Shape;671;p29"/>
          <p:cNvCxnSpPr/>
          <p:nvPr/>
        </p:nvCxnSpPr>
        <p:spPr>
          <a:xfrm>
            <a:off x="7982712" y="1810512"/>
            <a:ext cx="0" cy="2423160"/>
          </a:xfrm>
          <a:prstGeom prst="straightConnector1">
            <a:avLst/>
          </a:prstGeom>
          <a:noFill/>
          <a:ln cap="flat" cmpd="sng" w="12700">
            <a:solidFill>
              <a:srgbClr val="D6DEE8"/>
            </a:solidFill>
            <a:prstDash val="solid"/>
            <a:round/>
            <a:headEnd len="sm" w="sm" type="none"/>
            <a:tailEnd len="sm" w="sm" type="none"/>
          </a:ln>
        </p:spPr>
      </p:cxnSp>
      <p:cxnSp>
        <p:nvCxnSpPr>
          <p:cNvPr id="672" name="Google Shape;672;p29"/>
          <p:cNvCxnSpPr/>
          <p:nvPr/>
        </p:nvCxnSpPr>
        <p:spPr>
          <a:xfrm>
            <a:off x="7982712" y="4233672"/>
            <a:ext cx="3337560" cy="0"/>
          </a:xfrm>
          <a:prstGeom prst="straightConnector1">
            <a:avLst/>
          </a:prstGeom>
          <a:noFill/>
          <a:ln cap="flat" cmpd="sng" w="12700">
            <a:solidFill>
              <a:srgbClr val="D6DEE8"/>
            </a:solidFill>
            <a:prstDash val="solid"/>
            <a:round/>
            <a:headEnd len="sm" w="sm" type="none"/>
            <a:tailEnd len="sm" w="sm" type="none"/>
          </a:ln>
        </p:spPr>
      </p:cxnSp>
      <p:sp>
        <p:nvSpPr>
          <p:cNvPr id="673" name="Google Shape;673;p29"/>
          <p:cNvSpPr/>
          <p:nvPr/>
        </p:nvSpPr>
        <p:spPr>
          <a:xfrm>
            <a:off x="8412480" y="1490472"/>
            <a:ext cx="23317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Tempo médio cresce com a carga</a:t>
            </a:r>
            <a:endParaRPr b="0" i="0" sz="1100" u="none" cap="none" strike="noStrike">
              <a:solidFill>
                <a:schemeClr val="dk1"/>
              </a:solidFill>
              <a:latin typeface="Arial"/>
              <a:ea typeface="Arial"/>
              <a:cs typeface="Arial"/>
              <a:sym typeface="Arial"/>
            </a:endParaRPr>
          </a:p>
        </p:txBody>
      </p:sp>
      <p:cxnSp>
        <p:nvCxnSpPr>
          <p:cNvPr id="674" name="Google Shape;674;p29"/>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675" name="Google Shape;675;p29"/>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29</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680" name="Shape 680"/>
        <p:cNvGrpSpPr/>
        <p:nvPr/>
      </p:nvGrpSpPr>
      <p:grpSpPr>
        <a:xfrm>
          <a:off x="0" y="0"/>
          <a:ext cx="0" cy="0"/>
          <a:chOff x="0" y="0"/>
          <a:chExt cx="0" cy="0"/>
        </a:xfrm>
      </p:grpSpPr>
      <p:sp>
        <p:nvSpPr>
          <p:cNvPr id="681" name="Google Shape;681;p30"/>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30"/>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Identificação de gargalos</a:t>
            </a:r>
            <a:endParaRPr b="0" i="0" sz="3200" u="none" cap="none" strike="noStrike">
              <a:solidFill>
                <a:schemeClr val="dk1"/>
              </a:solidFill>
              <a:latin typeface="Arial"/>
              <a:ea typeface="Arial"/>
              <a:cs typeface="Arial"/>
              <a:sym typeface="Arial"/>
            </a:endParaRPr>
          </a:p>
        </p:txBody>
      </p:sp>
      <p:sp>
        <p:nvSpPr>
          <p:cNvPr id="683" name="Google Shape;683;p30"/>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Onde a fila realmente se forma</a:t>
            </a:r>
            <a:endParaRPr b="0" i="0" sz="1450" u="none" cap="none" strike="noStrike">
              <a:solidFill>
                <a:schemeClr val="dk1"/>
              </a:solidFill>
              <a:latin typeface="Arial"/>
              <a:ea typeface="Arial"/>
              <a:cs typeface="Arial"/>
              <a:sym typeface="Arial"/>
            </a:endParaRPr>
          </a:p>
        </p:txBody>
      </p:sp>
      <p:sp>
        <p:nvSpPr>
          <p:cNvPr id="684" name="Google Shape;684;p30"/>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Gargalo é o recurso ou etapa que limita o desempenho geral. Pode estar na CPU, memória, disco, rede, algoritmo, bloqueio ou configuração. A análise deve cruzar métricas: alta CPU, muita espera de E/S, uso de swap e queda de vazão contam histórias diferentes.</a:t>
            </a:r>
            <a:endParaRPr b="0" i="0" sz="2400" u="none" cap="none" strike="noStrike">
              <a:solidFill>
                <a:schemeClr val="dk1"/>
              </a:solidFill>
              <a:latin typeface="Arial"/>
              <a:ea typeface="Arial"/>
              <a:cs typeface="Arial"/>
              <a:sym typeface="Arial"/>
            </a:endParaRPr>
          </a:p>
        </p:txBody>
      </p:sp>
      <p:sp>
        <p:nvSpPr>
          <p:cNvPr id="685" name="Google Shape;685;p30"/>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30"/>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Gargalo é o ponto que limita o fluxo.</a:t>
            </a:r>
            <a:endParaRPr b="0" i="0" sz="1050" u="none" cap="none" strike="noStrike">
              <a:solidFill>
                <a:schemeClr val="dk1"/>
              </a:solidFill>
              <a:latin typeface="Arial"/>
              <a:ea typeface="Arial"/>
              <a:cs typeface="Arial"/>
              <a:sym typeface="Arial"/>
            </a:endParaRPr>
          </a:p>
        </p:txBody>
      </p:sp>
      <p:sp>
        <p:nvSpPr>
          <p:cNvPr id="687" name="Google Shape;687;p30"/>
          <p:cNvSpPr/>
          <p:nvPr/>
        </p:nvSpPr>
        <p:spPr>
          <a:xfrm>
            <a:off x="7818120" y="2084832"/>
            <a:ext cx="1097280"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0"/>
          <p:cNvSpPr/>
          <p:nvPr/>
        </p:nvSpPr>
        <p:spPr>
          <a:xfrm>
            <a:off x="7891272" y="2249424"/>
            <a:ext cx="9509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200"/>
              <a:buFont typeface="Arial"/>
              <a:buNone/>
            </a:pPr>
            <a:r>
              <a:rPr b="1" i="0" lang="en-US" sz="1200" u="none" cap="none" strike="noStrike">
                <a:solidFill>
                  <a:srgbClr val="1E88E5"/>
                </a:solidFill>
                <a:latin typeface="Arial"/>
                <a:ea typeface="Arial"/>
                <a:cs typeface="Arial"/>
                <a:sym typeface="Arial"/>
              </a:rPr>
              <a:t>Chegada</a:t>
            </a:r>
            <a:endParaRPr b="0" i="0" sz="1200" u="none" cap="none" strike="noStrike">
              <a:solidFill>
                <a:schemeClr val="dk1"/>
              </a:solidFill>
              <a:latin typeface="Arial"/>
              <a:ea typeface="Arial"/>
              <a:cs typeface="Arial"/>
              <a:sym typeface="Arial"/>
            </a:endParaRPr>
          </a:p>
        </p:txBody>
      </p:sp>
      <p:cxnSp>
        <p:nvCxnSpPr>
          <p:cNvPr id="689" name="Google Shape;689;p30"/>
          <p:cNvCxnSpPr/>
          <p:nvPr/>
        </p:nvCxnSpPr>
        <p:spPr>
          <a:xfrm>
            <a:off x="8961120" y="2350008"/>
            <a:ext cx="411480" cy="0"/>
          </a:xfrm>
          <a:prstGeom prst="straightConnector1">
            <a:avLst/>
          </a:prstGeom>
          <a:noFill/>
          <a:ln cap="flat" cmpd="sng" w="12700">
            <a:solidFill>
              <a:srgbClr val="1E88E5"/>
            </a:solidFill>
            <a:prstDash val="solid"/>
            <a:round/>
            <a:headEnd len="sm" w="sm" type="none"/>
            <a:tailEnd len="med" w="med" type="triangle"/>
          </a:ln>
        </p:spPr>
      </p:cxnSp>
      <p:sp>
        <p:nvSpPr>
          <p:cNvPr id="690" name="Google Shape;690;p30"/>
          <p:cNvSpPr/>
          <p:nvPr/>
        </p:nvSpPr>
        <p:spPr>
          <a:xfrm>
            <a:off x="9418320" y="2103120"/>
            <a:ext cx="256032" cy="256032"/>
          </a:xfrm>
          <a:prstGeom prst="ellipse">
            <a:avLst/>
          </a:prstGeom>
          <a:solidFill>
            <a:srgbClr val="C62828"/>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30"/>
          <p:cNvSpPr/>
          <p:nvPr/>
        </p:nvSpPr>
        <p:spPr>
          <a:xfrm>
            <a:off x="9418320" y="2103120"/>
            <a:ext cx="256032"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chemeClr val="dk1"/>
              </a:buClr>
              <a:buSzPts val="800"/>
              <a:buFont typeface="Arial"/>
              <a:buNone/>
            </a:pPr>
            <a:r>
              <a:t/>
            </a:r>
            <a:endParaRPr b="0" i="0" sz="800" u="none" cap="none" strike="noStrike">
              <a:solidFill>
                <a:schemeClr val="dk1"/>
              </a:solidFill>
              <a:latin typeface="Arial"/>
              <a:ea typeface="Arial"/>
              <a:cs typeface="Arial"/>
              <a:sym typeface="Arial"/>
            </a:endParaRPr>
          </a:p>
        </p:txBody>
      </p:sp>
      <p:sp>
        <p:nvSpPr>
          <p:cNvPr id="692" name="Google Shape;692;p30"/>
          <p:cNvSpPr/>
          <p:nvPr/>
        </p:nvSpPr>
        <p:spPr>
          <a:xfrm>
            <a:off x="9765792" y="2103120"/>
            <a:ext cx="256032" cy="256032"/>
          </a:xfrm>
          <a:prstGeom prst="ellipse">
            <a:avLst/>
          </a:prstGeom>
          <a:solidFill>
            <a:srgbClr val="F9A825"/>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30"/>
          <p:cNvSpPr/>
          <p:nvPr/>
        </p:nvSpPr>
        <p:spPr>
          <a:xfrm>
            <a:off x="9765792" y="2103120"/>
            <a:ext cx="256032"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chemeClr val="dk1"/>
              </a:buClr>
              <a:buSzPts val="800"/>
              <a:buFont typeface="Arial"/>
              <a:buNone/>
            </a:pPr>
            <a:r>
              <a:t/>
            </a:r>
            <a:endParaRPr b="0" i="0" sz="800" u="none" cap="none" strike="noStrike">
              <a:solidFill>
                <a:schemeClr val="dk1"/>
              </a:solidFill>
              <a:latin typeface="Arial"/>
              <a:ea typeface="Arial"/>
              <a:cs typeface="Arial"/>
              <a:sym typeface="Arial"/>
            </a:endParaRPr>
          </a:p>
        </p:txBody>
      </p:sp>
      <p:sp>
        <p:nvSpPr>
          <p:cNvPr id="694" name="Google Shape;694;p30"/>
          <p:cNvSpPr/>
          <p:nvPr/>
        </p:nvSpPr>
        <p:spPr>
          <a:xfrm>
            <a:off x="10113264" y="2103120"/>
            <a:ext cx="256032" cy="256032"/>
          </a:xfrm>
          <a:prstGeom prst="ellipse">
            <a:avLst/>
          </a:prstGeom>
          <a:solidFill>
            <a:srgbClr val="1E88E5"/>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0"/>
          <p:cNvSpPr/>
          <p:nvPr/>
        </p:nvSpPr>
        <p:spPr>
          <a:xfrm>
            <a:off x="10113264" y="2103120"/>
            <a:ext cx="256032"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chemeClr val="dk1"/>
              </a:buClr>
              <a:buSzPts val="800"/>
              <a:buFont typeface="Arial"/>
              <a:buNone/>
            </a:pPr>
            <a:r>
              <a:t/>
            </a:r>
            <a:endParaRPr b="0" i="0" sz="800" u="none" cap="none" strike="noStrike">
              <a:solidFill>
                <a:schemeClr val="dk1"/>
              </a:solidFill>
              <a:latin typeface="Arial"/>
              <a:ea typeface="Arial"/>
              <a:cs typeface="Arial"/>
              <a:sym typeface="Arial"/>
            </a:endParaRPr>
          </a:p>
        </p:txBody>
      </p:sp>
      <p:sp>
        <p:nvSpPr>
          <p:cNvPr id="696" name="Google Shape;696;p30"/>
          <p:cNvSpPr/>
          <p:nvPr/>
        </p:nvSpPr>
        <p:spPr>
          <a:xfrm>
            <a:off x="10460736" y="2103120"/>
            <a:ext cx="256032" cy="256032"/>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0"/>
          <p:cNvSpPr/>
          <p:nvPr/>
        </p:nvSpPr>
        <p:spPr>
          <a:xfrm>
            <a:off x="10460736" y="2103120"/>
            <a:ext cx="256032"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chemeClr val="dk1"/>
              </a:buClr>
              <a:buSzPts val="800"/>
              <a:buFont typeface="Arial"/>
              <a:buNone/>
            </a:pPr>
            <a:r>
              <a:t/>
            </a:r>
            <a:endParaRPr b="0" i="0" sz="800" u="none" cap="none" strike="noStrike">
              <a:solidFill>
                <a:schemeClr val="dk1"/>
              </a:solidFill>
              <a:latin typeface="Arial"/>
              <a:ea typeface="Arial"/>
              <a:cs typeface="Arial"/>
              <a:sym typeface="Arial"/>
            </a:endParaRPr>
          </a:p>
        </p:txBody>
      </p:sp>
      <p:cxnSp>
        <p:nvCxnSpPr>
          <p:cNvPr id="698" name="Google Shape;698;p30"/>
          <p:cNvCxnSpPr/>
          <p:nvPr/>
        </p:nvCxnSpPr>
        <p:spPr>
          <a:xfrm>
            <a:off x="10881360" y="2350008"/>
            <a:ext cx="365760" cy="0"/>
          </a:xfrm>
          <a:prstGeom prst="straightConnector1">
            <a:avLst/>
          </a:prstGeom>
          <a:noFill/>
          <a:ln cap="flat" cmpd="sng" w="12700">
            <a:solidFill>
              <a:srgbClr val="1E88E5"/>
            </a:solidFill>
            <a:prstDash val="solid"/>
            <a:round/>
            <a:headEnd len="sm" w="sm" type="none"/>
            <a:tailEnd len="med" w="med" type="triangle"/>
          </a:ln>
        </p:spPr>
      </p:cxnSp>
      <p:sp>
        <p:nvSpPr>
          <p:cNvPr id="699" name="Google Shape;699;p30"/>
          <p:cNvSpPr/>
          <p:nvPr/>
        </p:nvSpPr>
        <p:spPr>
          <a:xfrm>
            <a:off x="10607040" y="3182112"/>
            <a:ext cx="868680" cy="640080"/>
          </a:xfrm>
          <a:prstGeom prst="roundRect">
            <a:avLst>
              <a:gd fmla="val 17143" name="adj"/>
            </a:avLst>
          </a:prstGeom>
          <a:solidFill>
            <a:srgbClr val="FFF3F3"/>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0"/>
          <p:cNvSpPr/>
          <p:nvPr/>
        </p:nvSpPr>
        <p:spPr>
          <a:xfrm>
            <a:off x="10680192" y="3401568"/>
            <a:ext cx="7223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62828"/>
              </a:buClr>
              <a:buSzPts val="1200"/>
              <a:buFont typeface="Arial"/>
              <a:buNone/>
            </a:pPr>
            <a:r>
              <a:rPr b="1" i="0" lang="en-US" sz="1200" u="none" cap="none" strike="noStrike">
                <a:solidFill>
                  <a:srgbClr val="C62828"/>
                </a:solidFill>
                <a:latin typeface="Arial"/>
                <a:ea typeface="Arial"/>
                <a:cs typeface="Arial"/>
                <a:sym typeface="Arial"/>
              </a:rPr>
              <a:t>CPU</a:t>
            </a:r>
            <a:endParaRPr b="0" i="0" sz="1200" u="none" cap="none" strike="noStrike">
              <a:solidFill>
                <a:schemeClr val="dk1"/>
              </a:solidFill>
              <a:latin typeface="Arial"/>
              <a:ea typeface="Arial"/>
              <a:cs typeface="Arial"/>
              <a:sym typeface="Arial"/>
            </a:endParaRPr>
          </a:p>
        </p:txBody>
      </p:sp>
      <p:cxnSp>
        <p:nvCxnSpPr>
          <p:cNvPr id="701" name="Google Shape;701;p30"/>
          <p:cNvCxnSpPr/>
          <p:nvPr/>
        </p:nvCxnSpPr>
        <p:spPr>
          <a:xfrm>
            <a:off x="10972800" y="2633472"/>
            <a:ext cx="0" cy="530352"/>
          </a:xfrm>
          <a:prstGeom prst="straightConnector1">
            <a:avLst/>
          </a:prstGeom>
          <a:noFill/>
          <a:ln cap="flat" cmpd="sng" w="12700">
            <a:solidFill>
              <a:srgbClr val="1E88E5"/>
            </a:solidFill>
            <a:prstDash val="solid"/>
            <a:round/>
            <a:headEnd len="sm" w="sm" type="none"/>
            <a:tailEnd len="med" w="med" type="triangle"/>
          </a:ln>
        </p:spPr>
      </p:cxnSp>
      <p:sp>
        <p:nvSpPr>
          <p:cNvPr id="702" name="Google Shape;702;p30"/>
          <p:cNvSpPr/>
          <p:nvPr/>
        </p:nvSpPr>
        <p:spPr>
          <a:xfrm>
            <a:off x="8412480" y="4233672"/>
            <a:ext cx="23317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Fila = espera antes do atendimento</a:t>
            </a:r>
            <a:endParaRPr b="0" i="0" sz="1100" u="none" cap="none" strike="noStrike">
              <a:solidFill>
                <a:schemeClr val="dk1"/>
              </a:solidFill>
              <a:latin typeface="Arial"/>
              <a:ea typeface="Arial"/>
              <a:cs typeface="Arial"/>
              <a:sym typeface="Arial"/>
            </a:endParaRPr>
          </a:p>
        </p:txBody>
      </p:sp>
      <p:cxnSp>
        <p:nvCxnSpPr>
          <p:cNvPr id="703" name="Google Shape;703;p30"/>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704" name="Google Shape;704;p30"/>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30</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709" name="Shape 709"/>
        <p:cNvGrpSpPr/>
        <p:nvPr/>
      </p:nvGrpSpPr>
      <p:grpSpPr>
        <a:xfrm>
          <a:off x="0" y="0"/>
          <a:ext cx="0" cy="0"/>
          <a:chOff x="0" y="0"/>
          <a:chExt cx="0" cy="0"/>
        </a:xfrm>
      </p:grpSpPr>
      <p:sp>
        <p:nvSpPr>
          <p:cNvPr id="710" name="Google Shape;710;p31"/>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1"/>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Trade-offs de desempenho</a:t>
            </a:r>
            <a:endParaRPr b="0" i="0" sz="3200" u="none" cap="none" strike="noStrike">
              <a:solidFill>
                <a:schemeClr val="dk1"/>
              </a:solidFill>
              <a:latin typeface="Arial"/>
              <a:ea typeface="Arial"/>
              <a:cs typeface="Arial"/>
              <a:sym typeface="Arial"/>
            </a:endParaRPr>
          </a:p>
        </p:txBody>
      </p:sp>
      <p:sp>
        <p:nvSpPr>
          <p:cNvPr id="712" name="Google Shape;712;p31"/>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Melhorar uma métrica pode piorar outra</a:t>
            </a:r>
            <a:endParaRPr b="0" i="0" sz="1450" u="none" cap="none" strike="noStrike">
              <a:solidFill>
                <a:schemeClr val="dk1"/>
              </a:solidFill>
              <a:latin typeface="Arial"/>
              <a:ea typeface="Arial"/>
              <a:cs typeface="Arial"/>
              <a:sym typeface="Arial"/>
            </a:endParaRPr>
          </a:p>
        </p:txBody>
      </p:sp>
      <p:sp>
        <p:nvSpPr>
          <p:cNvPr id="713" name="Google Shape;713;p31"/>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Nem toda otimização melhora tudo. Aumentar cache pode consumir memória; priorizar baixa latência pode reduzir vazão; compactar dados economiza disco, mas usa CPU. Avaliar sistemas operacionais exige reconhecer escolhas técnicas e justificar qual métrica é mais importante no contexto.</a:t>
            </a:r>
            <a:endParaRPr b="0" i="0" sz="2400" u="none" cap="none" strike="noStrike">
              <a:solidFill>
                <a:schemeClr val="dk1"/>
              </a:solidFill>
              <a:latin typeface="Arial"/>
              <a:ea typeface="Arial"/>
              <a:cs typeface="Arial"/>
              <a:sym typeface="Arial"/>
            </a:endParaRPr>
          </a:p>
        </p:txBody>
      </p:sp>
      <p:sp>
        <p:nvSpPr>
          <p:cNvPr id="714" name="Google Shape;714;p31"/>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1"/>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O melhor depende do objetivo.</a:t>
            </a:r>
            <a:endParaRPr b="0" i="0" sz="1050" u="none" cap="none" strike="noStrike">
              <a:solidFill>
                <a:schemeClr val="dk1"/>
              </a:solidFill>
              <a:latin typeface="Arial"/>
              <a:ea typeface="Arial"/>
              <a:cs typeface="Arial"/>
              <a:sym typeface="Arial"/>
            </a:endParaRPr>
          </a:p>
        </p:txBody>
      </p:sp>
      <p:cxnSp>
        <p:nvCxnSpPr>
          <p:cNvPr id="716" name="Google Shape;716;p31"/>
          <p:cNvCxnSpPr/>
          <p:nvPr/>
        </p:nvCxnSpPr>
        <p:spPr>
          <a:xfrm>
            <a:off x="8183880" y="4142232"/>
            <a:ext cx="2834640" cy="0"/>
          </a:xfrm>
          <a:prstGeom prst="straightConnector1">
            <a:avLst/>
          </a:prstGeom>
          <a:noFill/>
          <a:ln cap="flat" cmpd="sng" w="12700">
            <a:solidFill>
              <a:srgbClr val="D6DEE8"/>
            </a:solidFill>
            <a:prstDash val="solid"/>
            <a:round/>
            <a:headEnd len="sm" w="sm" type="none"/>
            <a:tailEnd len="med" w="med" type="triangle"/>
          </a:ln>
        </p:spPr>
      </p:cxnSp>
      <p:cxnSp>
        <p:nvCxnSpPr>
          <p:cNvPr id="717" name="Google Shape;717;p31"/>
          <p:cNvCxnSpPr/>
          <p:nvPr/>
        </p:nvCxnSpPr>
        <p:spPr>
          <a:xfrm rot="10800000">
            <a:off x="8183880" y="1810512"/>
            <a:ext cx="0" cy="2331720"/>
          </a:xfrm>
          <a:prstGeom prst="straightConnector1">
            <a:avLst/>
          </a:prstGeom>
          <a:noFill/>
          <a:ln cap="flat" cmpd="sng" w="12700">
            <a:solidFill>
              <a:srgbClr val="D6DEE8"/>
            </a:solidFill>
            <a:prstDash val="solid"/>
            <a:round/>
            <a:headEnd len="sm" w="sm" type="none"/>
            <a:tailEnd len="med" w="med" type="triangle"/>
          </a:ln>
        </p:spPr>
      </p:cxnSp>
      <p:sp>
        <p:nvSpPr>
          <p:cNvPr id="718" name="Google Shape;718;p31"/>
          <p:cNvSpPr/>
          <p:nvPr/>
        </p:nvSpPr>
        <p:spPr>
          <a:xfrm>
            <a:off x="8641080" y="1536192"/>
            <a:ext cx="219456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88E5"/>
              </a:buClr>
              <a:buSzPts val="1300"/>
              <a:buFont typeface="Arial"/>
              <a:buNone/>
            </a:pPr>
            <a:r>
              <a:rPr b="1" i="0" lang="en-US" sz="1300" u="none" cap="none" strike="noStrike">
                <a:solidFill>
                  <a:srgbClr val="1E88E5"/>
                </a:solidFill>
                <a:latin typeface="Arial"/>
                <a:ea typeface="Arial"/>
                <a:cs typeface="Arial"/>
                <a:sym typeface="Arial"/>
              </a:rPr>
              <a:t>Baixa latência</a:t>
            </a:r>
            <a:endParaRPr b="0" i="0" sz="1300" u="none" cap="none" strike="noStrike">
              <a:solidFill>
                <a:schemeClr val="dk1"/>
              </a:solidFill>
              <a:latin typeface="Arial"/>
              <a:ea typeface="Arial"/>
              <a:cs typeface="Arial"/>
              <a:sym typeface="Arial"/>
            </a:endParaRPr>
          </a:p>
        </p:txBody>
      </p:sp>
      <p:sp>
        <p:nvSpPr>
          <p:cNvPr id="719" name="Google Shape;719;p31"/>
          <p:cNvSpPr/>
          <p:nvPr/>
        </p:nvSpPr>
        <p:spPr>
          <a:xfrm>
            <a:off x="9921240" y="4325112"/>
            <a:ext cx="109728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32"/>
              </a:buClr>
              <a:buSzPts val="1300"/>
              <a:buFont typeface="Arial"/>
              <a:buNone/>
            </a:pPr>
            <a:r>
              <a:rPr b="1" i="0" lang="en-US" sz="1300" u="none" cap="none" strike="noStrike">
                <a:solidFill>
                  <a:srgbClr val="2E7D32"/>
                </a:solidFill>
                <a:latin typeface="Arial"/>
                <a:ea typeface="Arial"/>
                <a:cs typeface="Arial"/>
                <a:sym typeface="Arial"/>
              </a:rPr>
              <a:t>Alta vazão</a:t>
            </a:r>
            <a:endParaRPr b="0" i="0" sz="1300" u="none" cap="none" strike="noStrike">
              <a:solidFill>
                <a:schemeClr val="dk1"/>
              </a:solidFill>
              <a:latin typeface="Arial"/>
              <a:ea typeface="Arial"/>
              <a:cs typeface="Arial"/>
              <a:sym typeface="Arial"/>
            </a:endParaRPr>
          </a:p>
        </p:txBody>
      </p:sp>
      <p:sp>
        <p:nvSpPr>
          <p:cNvPr id="720" name="Google Shape;720;p31"/>
          <p:cNvSpPr/>
          <p:nvPr/>
        </p:nvSpPr>
        <p:spPr>
          <a:xfrm>
            <a:off x="8732520" y="3136392"/>
            <a:ext cx="411480" cy="411480"/>
          </a:xfrm>
          <a:prstGeom prst="ellipse">
            <a:avLst/>
          </a:prstGeom>
          <a:solidFill>
            <a:srgbClr val="F9A825"/>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1"/>
          <p:cNvSpPr/>
          <p:nvPr/>
        </p:nvSpPr>
        <p:spPr>
          <a:xfrm>
            <a:off x="8732520" y="3214116"/>
            <a:ext cx="411480"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A</a:t>
            </a:r>
            <a:endParaRPr b="0" i="0" sz="1000" u="none" cap="none" strike="noStrike">
              <a:solidFill>
                <a:schemeClr val="dk1"/>
              </a:solidFill>
              <a:latin typeface="Arial"/>
              <a:ea typeface="Arial"/>
              <a:cs typeface="Arial"/>
              <a:sym typeface="Arial"/>
            </a:endParaRPr>
          </a:p>
        </p:txBody>
      </p:sp>
      <p:sp>
        <p:nvSpPr>
          <p:cNvPr id="722" name="Google Shape;722;p31"/>
          <p:cNvSpPr/>
          <p:nvPr/>
        </p:nvSpPr>
        <p:spPr>
          <a:xfrm>
            <a:off x="10104120" y="2084832"/>
            <a:ext cx="411480" cy="411480"/>
          </a:xfrm>
          <a:prstGeom prst="ellipse">
            <a:avLst/>
          </a:prstGeom>
          <a:solidFill>
            <a:srgbClr val="C62828"/>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1"/>
          <p:cNvSpPr/>
          <p:nvPr/>
        </p:nvSpPr>
        <p:spPr>
          <a:xfrm>
            <a:off x="10104120" y="2162556"/>
            <a:ext cx="411480"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B</a:t>
            </a:r>
            <a:endParaRPr b="0" i="0" sz="1000" u="none" cap="none" strike="noStrike">
              <a:solidFill>
                <a:schemeClr val="dk1"/>
              </a:solidFill>
              <a:latin typeface="Arial"/>
              <a:ea typeface="Arial"/>
              <a:cs typeface="Arial"/>
              <a:sym typeface="Arial"/>
            </a:endParaRPr>
          </a:p>
        </p:txBody>
      </p:sp>
      <p:cxnSp>
        <p:nvCxnSpPr>
          <p:cNvPr id="724" name="Google Shape;724;p31"/>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725" name="Google Shape;725;p31"/>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31</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730" name="Shape 730"/>
        <p:cNvGrpSpPr/>
        <p:nvPr/>
      </p:nvGrpSpPr>
      <p:grpSpPr>
        <a:xfrm>
          <a:off x="0" y="0"/>
          <a:ext cx="0" cy="0"/>
          <a:chOff x="0" y="0"/>
          <a:chExt cx="0" cy="0"/>
        </a:xfrm>
      </p:grpSpPr>
      <p:sp>
        <p:nvSpPr>
          <p:cNvPr id="731" name="Google Shape;731;p32"/>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32"/>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Estudo de caso: CPU-bound</a:t>
            </a:r>
            <a:endParaRPr b="0" i="0" sz="3200" u="none" cap="none" strike="noStrike">
              <a:solidFill>
                <a:schemeClr val="dk1"/>
              </a:solidFill>
              <a:latin typeface="Arial"/>
              <a:ea typeface="Arial"/>
              <a:cs typeface="Arial"/>
              <a:sym typeface="Arial"/>
            </a:endParaRPr>
          </a:p>
        </p:txBody>
      </p:sp>
      <p:sp>
        <p:nvSpPr>
          <p:cNvPr id="733" name="Google Shape;733;p32"/>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Quando o processador domina o custo</a:t>
            </a:r>
            <a:endParaRPr b="0" i="0" sz="1450" u="none" cap="none" strike="noStrike">
              <a:solidFill>
                <a:schemeClr val="dk1"/>
              </a:solidFill>
              <a:latin typeface="Arial"/>
              <a:ea typeface="Arial"/>
              <a:cs typeface="Arial"/>
              <a:sym typeface="Arial"/>
            </a:endParaRPr>
          </a:p>
        </p:txBody>
      </p:sp>
      <p:sp>
        <p:nvSpPr>
          <p:cNvPr id="734" name="Google Shape;734;p32"/>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Uma aplicação CPU-bound passa a maior parte do tempo realizando cálculos. Nesse cenário, o uso de CPU fica elevado e a vazão depende da capacidade de processamento. A avaliação deve observar carga média, tempo de CPU, quantidade de processos concorrentes e impacto do escalonamento.</a:t>
            </a:r>
            <a:endParaRPr b="0" i="0" sz="2400" u="none" cap="none" strike="noStrike">
              <a:solidFill>
                <a:schemeClr val="dk1"/>
              </a:solidFill>
              <a:latin typeface="Arial"/>
              <a:ea typeface="Arial"/>
              <a:cs typeface="Arial"/>
              <a:sym typeface="Arial"/>
            </a:endParaRPr>
          </a:p>
        </p:txBody>
      </p:sp>
      <p:sp>
        <p:nvSpPr>
          <p:cNvPr id="735" name="Google Shape;735;p32"/>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2"/>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Carga de cálculo pressiona a CPU.</a:t>
            </a:r>
            <a:endParaRPr b="0" i="0" sz="1050" u="none" cap="none" strike="noStrike">
              <a:solidFill>
                <a:schemeClr val="dk1"/>
              </a:solidFill>
              <a:latin typeface="Arial"/>
              <a:ea typeface="Arial"/>
              <a:cs typeface="Arial"/>
              <a:sym typeface="Arial"/>
            </a:endParaRPr>
          </a:p>
        </p:txBody>
      </p:sp>
      <p:sp>
        <p:nvSpPr>
          <p:cNvPr id="737" name="Google Shape;737;p32"/>
          <p:cNvSpPr/>
          <p:nvPr/>
        </p:nvSpPr>
        <p:spPr>
          <a:xfrm>
            <a:off x="9006840" y="1673352"/>
            <a:ext cx="1371600" cy="1371600"/>
          </a:xfrm>
          <a:prstGeom prst="ellipse">
            <a:avLst/>
          </a:prstGeom>
          <a:solidFill>
            <a:srgbClr val="1E88E5"/>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2"/>
          <p:cNvSpPr/>
          <p:nvPr/>
        </p:nvSpPr>
        <p:spPr>
          <a:xfrm>
            <a:off x="9006840" y="2231136"/>
            <a:ext cx="1371600"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CPU</a:t>
            </a:r>
            <a:endParaRPr b="0" i="0" sz="1800" u="none" cap="none" strike="noStrike">
              <a:solidFill>
                <a:schemeClr val="dk1"/>
              </a:solidFill>
              <a:latin typeface="Arial"/>
              <a:ea typeface="Arial"/>
              <a:cs typeface="Arial"/>
              <a:sym typeface="Arial"/>
            </a:endParaRPr>
          </a:p>
        </p:txBody>
      </p:sp>
      <p:sp>
        <p:nvSpPr>
          <p:cNvPr id="739" name="Google Shape;739;p32"/>
          <p:cNvSpPr/>
          <p:nvPr/>
        </p:nvSpPr>
        <p:spPr>
          <a:xfrm>
            <a:off x="8046720" y="3410712"/>
            <a:ext cx="1005840" cy="502920"/>
          </a:xfrm>
          <a:prstGeom prst="roundRect">
            <a:avLst>
              <a:gd fmla="val 2181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2"/>
          <p:cNvSpPr/>
          <p:nvPr/>
        </p:nvSpPr>
        <p:spPr>
          <a:xfrm>
            <a:off x="8119872" y="3561588"/>
            <a:ext cx="85953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324F"/>
              </a:buClr>
              <a:buSzPts val="1200"/>
              <a:buFont typeface="Arial"/>
              <a:buNone/>
            </a:pPr>
            <a:r>
              <a:rPr b="0" i="0" lang="en-US" sz="1200" u="none" cap="none" strike="noStrike">
                <a:solidFill>
                  <a:srgbClr val="16324F"/>
                </a:solidFill>
                <a:latin typeface="Arial"/>
                <a:ea typeface="Arial"/>
                <a:cs typeface="Arial"/>
                <a:sym typeface="Arial"/>
              </a:rPr>
              <a:t>P1</a:t>
            </a:r>
            <a:endParaRPr b="0" i="0" sz="1200" u="none" cap="none" strike="noStrike">
              <a:solidFill>
                <a:schemeClr val="dk1"/>
              </a:solidFill>
              <a:latin typeface="Arial"/>
              <a:ea typeface="Arial"/>
              <a:cs typeface="Arial"/>
              <a:sym typeface="Arial"/>
            </a:endParaRPr>
          </a:p>
        </p:txBody>
      </p:sp>
      <p:sp>
        <p:nvSpPr>
          <p:cNvPr id="741" name="Google Shape;741;p32"/>
          <p:cNvSpPr/>
          <p:nvPr/>
        </p:nvSpPr>
        <p:spPr>
          <a:xfrm>
            <a:off x="9235440" y="3410712"/>
            <a:ext cx="1005840" cy="502920"/>
          </a:xfrm>
          <a:prstGeom prst="roundRect">
            <a:avLst>
              <a:gd fmla="val 2181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2"/>
          <p:cNvSpPr/>
          <p:nvPr/>
        </p:nvSpPr>
        <p:spPr>
          <a:xfrm>
            <a:off x="9308592" y="3561588"/>
            <a:ext cx="85953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324F"/>
              </a:buClr>
              <a:buSzPts val="1200"/>
              <a:buFont typeface="Arial"/>
              <a:buNone/>
            </a:pPr>
            <a:r>
              <a:rPr b="0" i="0" lang="en-US" sz="1200" u="none" cap="none" strike="noStrike">
                <a:solidFill>
                  <a:srgbClr val="16324F"/>
                </a:solidFill>
                <a:latin typeface="Arial"/>
                <a:ea typeface="Arial"/>
                <a:cs typeface="Arial"/>
                <a:sym typeface="Arial"/>
              </a:rPr>
              <a:t>P2</a:t>
            </a:r>
            <a:endParaRPr b="0" i="0" sz="1200" u="none" cap="none" strike="noStrike">
              <a:solidFill>
                <a:schemeClr val="dk1"/>
              </a:solidFill>
              <a:latin typeface="Arial"/>
              <a:ea typeface="Arial"/>
              <a:cs typeface="Arial"/>
              <a:sym typeface="Arial"/>
            </a:endParaRPr>
          </a:p>
        </p:txBody>
      </p:sp>
      <p:sp>
        <p:nvSpPr>
          <p:cNvPr id="743" name="Google Shape;743;p32"/>
          <p:cNvSpPr/>
          <p:nvPr/>
        </p:nvSpPr>
        <p:spPr>
          <a:xfrm>
            <a:off x="10424160" y="3410712"/>
            <a:ext cx="1005840" cy="502920"/>
          </a:xfrm>
          <a:prstGeom prst="roundRect">
            <a:avLst>
              <a:gd fmla="val 2181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32"/>
          <p:cNvSpPr/>
          <p:nvPr/>
        </p:nvSpPr>
        <p:spPr>
          <a:xfrm>
            <a:off x="10497312" y="3561588"/>
            <a:ext cx="85953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324F"/>
              </a:buClr>
              <a:buSzPts val="1200"/>
              <a:buFont typeface="Arial"/>
              <a:buNone/>
            </a:pPr>
            <a:r>
              <a:rPr b="0" i="0" lang="en-US" sz="1200" u="none" cap="none" strike="noStrike">
                <a:solidFill>
                  <a:srgbClr val="16324F"/>
                </a:solidFill>
                <a:latin typeface="Arial"/>
                <a:ea typeface="Arial"/>
                <a:cs typeface="Arial"/>
                <a:sym typeface="Arial"/>
              </a:rPr>
              <a:t>P3</a:t>
            </a:r>
            <a:endParaRPr b="0" i="0" sz="1200" u="none" cap="none" strike="noStrike">
              <a:solidFill>
                <a:schemeClr val="dk1"/>
              </a:solidFill>
              <a:latin typeface="Arial"/>
              <a:ea typeface="Arial"/>
              <a:cs typeface="Arial"/>
              <a:sym typeface="Arial"/>
            </a:endParaRPr>
          </a:p>
        </p:txBody>
      </p:sp>
      <p:cxnSp>
        <p:nvCxnSpPr>
          <p:cNvPr id="745" name="Google Shape;745;p32"/>
          <p:cNvCxnSpPr/>
          <p:nvPr/>
        </p:nvCxnSpPr>
        <p:spPr>
          <a:xfrm flipH="1" rot="10800000">
            <a:off x="8549640" y="2889504"/>
            <a:ext cx="804672" cy="502920"/>
          </a:xfrm>
          <a:prstGeom prst="straightConnector1">
            <a:avLst/>
          </a:prstGeom>
          <a:noFill/>
          <a:ln cap="flat" cmpd="sng" w="12700">
            <a:solidFill>
              <a:srgbClr val="1E88E5"/>
            </a:solidFill>
            <a:prstDash val="solid"/>
            <a:round/>
            <a:headEnd len="sm" w="sm" type="none"/>
            <a:tailEnd len="med" w="med" type="triangle"/>
          </a:ln>
        </p:spPr>
      </p:cxnSp>
      <p:cxnSp>
        <p:nvCxnSpPr>
          <p:cNvPr id="746" name="Google Shape;746;p32"/>
          <p:cNvCxnSpPr/>
          <p:nvPr/>
        </p:nvCxnSpPr>
        <p:spPr>
          <a:xfrm rot="10800000">
            <a:off x="9692640" y="3017520"/>
            <a:ext cx="45720" cy="374904"/>
          </a:xfrm>
          <a:prstGeom prst="straightConnector1">
            <a:avLst/>
          </a:prstGeom>
          <a:noFill/>
          <a:ln cap="flat" cmpd="sng" w="12700">
            <a:solidFill>
              <a:srgbClr val="1E88E5"/>
            </a:solidFill>
            <a:prstDash val="solid"/>
            <a:round/>
            <a:headEnd len="sm" w="sm" type="none"/>
            <a:tailEnd len="med" w="med" type="triangle"/>
          </a:ln>
        </p:spPr>
      </p:cxnSp>
      <p:cxnSp>
        <p:nvCxnSpPr>
          <p:cNvPr id="747" name="Google Shape;747;p32"/>
          <p:cNvCxnSpPr/>
          <p:nvPr/>
        </p:nvCxnSpPr>
        <p:spPr>
          <a:xfrm rot="10800000">
            <a:off x="10195560" y="2889504"/>
            <a:ext cx="731520" cy="502920"/>
          </a:xfrm>
          <a:prstGeom prst="straightConnector1">
            <a:avLst/>
          </a:prstGeom>
          <a:noFill/>
          <a:ln cap="flat" cmpd="sng" w="12700">
            <a:solidFill>
              <a:srgbClr val="1E88E5"/>
            </a:solidFill>
            <a:prstDash val="solid"/>
            <a:round/>
            <a:headEnd len="sm" w="sm" type="none"/>
            <a:tailEnd len="med" w="med" type="triangle"/>
          </a:ln>
        </p:spPr>
      </p:cxnSp>
      <p:cxnSp>
        <p:nvCxnSpPr>
          <p:cNvPr id="748" name="Google Shape;748;p32"/>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749" name="Google Shape;749;p32"/>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32</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754" name="Shape 754"/>
        <p:cNvGrpSpPr/>
        <p:nvPr/>
      </p:nvGrpSpPr>
      <p:grpSpPr>
        <a:xfrm>
          <a:off x="0" y="0"/>
          <a:ext cx="0" cy="0"/>
          <a:chOff x="0" y="0"/>
          <a:chExt cx="0" cy="0"/>
        </a:xfrm>
      </p:grpSpPr>
      <p:sp>
        <p:nvSpPr>
          <p:cNvPr id="755" name="Google Shape;755;p33"/>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3"/>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Estudo de caso: memory-bound</a:t>
            </a:r>
            <a:endParaRPr b="0" i="0" sz="3200" u="none" cap="none" strike="noStrike">
              <a:solidFill>
                <a:schemeClr val="dk1"/>
              </a:solidFill>
              <a:latin typeface="Arial"/>
              <a:ea typeface="Arial"/>
              <a:cs typeface="Arial"/>
              <a:sym typeface="Arial"/>
            </a:endParaRPr>
          </a:p>
        </p:txBody>
      </p:sp>
      <p:sp>
        <p:nvSpPr>
          <p:cNvPr id="757" name="Google Shape;757;p33"/>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Quando a memória limita o desempenho</a:t>
            </a:r>
            <a:endParaRPr b="0" i="0" sz="1450" u="none" cap="none" strike="noStrike">
              <a:solidFill>
                <a:schemeClr val="dk1"/>
              </a:solidFill>
              <a:latin typeface="Arial"/>
              <a:ea typeface="Arial"/>
              <a:cs typeface="Arial"/>
              <a:sym typeface="Arial"/>
            </a:endParaRPr>
          </a:p>
        </p:txBody>
      </p:sp>
      <p:sp>
        <p:nvSpPr>
          <p:cNvPr id="758" name="Google Shape;758;p33"/>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Uma carga memory-bound sofre mais com acesso à memória do que com cálculo puro. Se a RAM for insuficiente, o sistema pode usar swap e gerar queda severa no desempenho. A avaliação deve observar memória disponível, page faults, swap, cache e tempo de resposta.</a:t>
            </a:r>
            <a:endParaRPr b="0" i="0" sz="2400" u="none" cap="none" strike="noStrike">
              <a:solidFill>
                <a:schemeClr val="dk1"/>
              </a:solidFill>
              <a:latin typeface="Arial"/>
              <a:ea typeface="Arial"/>
              <a:cs typeface="Arial"/>
              <a:sym typeface="Arial"/>
            </a:endParaRPr>
          </a:p>
        </p:txBody>
      </p:sp>
      <p:sp>
        <p:nvSpPr>
          <p:cNvPr id="759" name="Google Shape;759;p33"/>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33"/>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Memória insuficiente pode causar thrashing.</a:t>
            </a:r>
            <a:endParaRPr b="0" i="0" sz="1050" u="none" cap="none" strike="noStrike">
              <a:solidFill>
                <a:schemeClr val="dk1"/>
              </a:solidFill>
              <a:latin typeface="Arial"/>
              <a:ea typeface="Arial"/>
              <a:cs typeface="Arial"/>
              <a:sym typeface="Arial"/>
            </a:endParaRPr>
          </a:p>
        </p:txBody>
      </p:sp>
      <p:sp>
        <p:nvSpPr>
          <p:cNvPr id="761" name="Google Shape;761;p33"/>
          <p:cNvSpPr/>
          <p:nvPr/>
        </p:nvSpPr>
        <p:spPr>
          <a:xfrm>
            <a:off x="8046720" y="1673352"/>
            <a:ext cx="2103120" cy="320040"/>
          </a:xfrm>
          <a:prstGeom prst="roundRect">
            <a:avLst>
              <a:gd fmla="val 34286"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3"/>
          <p:cNvSpPr/>
          <p:nvPr/>
        </p:nvSpPr>
        <p:spPr>
          <a:xfrm>
            <a:off x="8119872" y="1732788"/>
            <a:ext cx="195681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000"/>
              <a:buFont typeface="Arial"/>
              <a:buNone/>
            </a:pPr>
            <a:r>
              <a:rPr b="0" i="0" lang="en-US" sz="1000" u="none" cap="none" strike="noStrike">
                <a:solidFill>
                  <a:srgbClr val="1E88E5"/>
                </a:solidFill>
                <a:latin typeface="Arial"/>
                <a:ea typeface="Arial"/>
                <a:cs typeface="Arial"/>
                <a:sym typeface="Arial"/>
              </a:rPr>
              <a:t>Página 1</a:t>
            </a:r>
            <a:endParaRPr b="0" i="0" sz="1000" u="none" cap="none" strike="noStrike">
              <a:solidFill>
                <a:schemeClr val="dk1"/>
              </a:solidFill>
              <a:latin typeface="Arial"/>
              <a:ea typeface="Arial"/>
              <a:cs typeface="Arial"/>
              <a:sym typeface="Arial"/>
            </a:endParaRPr>
          </a:p>
        </p:txBody>
      </p:sp>
      <p:sp>
        <p:nvSpPr>
          <p:cNvPr id="763" name="Google Shape;763;p33"/>
          <p:cNvSpPr/>
          <p:nvPr/>
        </p:nvSpPr>
        <p:spPr>
          <a:xfrm>
            <a:off x="8046720" y="2176272"/>
            <a:ext cx="2103120" cy="320040"/>
          </a:xfrm>
          <a:prstGeom prst="roundRect">
            <a:avLst>
              <a:gd fmla="val 34286"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33"/>
          <p:cNvSpPr/>
          <p:nvPr/>
        </p:nvSpPr>
        <p:spPr>
          <a:xfrm>
            <a:off x="8119872" y="2235708"/>
            <a:ext cx="195681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000"/>
              <a:buFont typeface="Arial"/>
              <a:buNone/>
            </a:pPr>
            <a:r>
              <a:rPr b="0" i="0" lang="en-US" sz="1000" u="none" cap="none" strike="noStrike">
                <a:solidFill>
                  <a:srgbClr val="1E88E5"/>
                </a:solidFill>
                <a:latin typeface="Arial"/>
                <a:ea typeface="Arial"/>
                <a:cs typeface="Arial"/>
                <a:sym typeface="Arial"/>
              </a:rPr>
              <a:t>Página 2</a:t>
            </a:r>
            <a:endParaRPr b="0" i="0" sz="1000" u="none" cap="none" strike="noStrike">
              <a:solidFill>
                <a:schemeClr val="dk1"/>
              </a:solidFill>
              <a:latin typeface="Arial"/>
              <a:ea typeface="Arial"/>
              <a:cs typeface="Arial"/>
              <a:sym typeface="Arial"/>
            </a:endParaRPr>
          </a:p>
        </p:txBody>
      </p:sp>
      <p:sp>
        <p:nvSpPr>
          <p:cNvPr id="765" name="Google Shape;765;p33"/>
          <p:cNvSpPr/>
          <p:nvPr/>
        </p:nvSpPr>
        <p:spPr>
          <a:xfrm>
            <a:off x="8046720" y="2679192"/>
            <a:ext cx="2103120" cy="320040"/>
          </a:xfrm>
          <a:prstGeom prst="roundRect">
            <a:avLst>
              <a:gd fmla="val 34286" name="adj"/>
            </a:avLst>
          </a:prstGeom>
          <a:solidFill>
            <a:srgbClr val="FFF3F3"/>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33"/>
          <p:cNvSpPr/>
          <p:nvPr/>
        </p:nvSpPr>
        <p:spPr>
          <a:xfrm>
            <a:off x="8119872" y="2738628"/>
            <a:ext cx="195681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62828"/>
              </a:buClr>
              <a:buSzPts val="1000"/>
              <a:buFont typeface="Arial"/>
              <a:buNone/>
            </a:pPr>
            <a:r>
              <a:rPr b="0" i="0" lang="en-US" sz="1000" u="none" cap="none" strike="noStrike">
                <a:solidFill>
                  <a:srgbClr val="C62828"/>
                </a:solidFill>
                <a:latin typeface="Arial"/>
                <a:ea typeface="Arial"/>
                <a:cs typeface="Arial"/>
                <a:sym typeface="Arial"/>
              </a:rPr>
              <a:t>Página ativa</a:t>
            </a:r>
            <a:endParaRPr b="0" i="0" sz="1000" u="none" cap="none" strike="noStrike">
              <a:solidFill>
                <a:schemeClr val="dk1"/>
              </a:solidFill>
              <a:latin typeface="Arial"/>
              <a:ea typeface="Arial"/>
              <a:cs typeface="Arial"/>
              <a:sym typeface="Arial"/>
            </a:endParaRPr>
          </a:p>
        </p:txBody>
      </p:sp>
      <p:sp>
        <p:nvSpPr>
          <p:cNvPr id="767" name="Google Shape;767;p33"/>
          <p:cNvSpPr/>
          <p:nvPr/>
        </p:nvSpPr>
        <p:spPr>
          <a:xfrm>
            <a:off x="8046720" y="3182112"/>
            <a:ext cx="2103120" cy="320040"/>
          </a:xfrm>
          <a:prstGeom prst="roundRect">
            <a:avLst>
              <a:gd fmla="val 34286"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33"/>
          <p:cNvSpPr/>
          <p:nvPr/>
        </p:nvSpPr>
        <p:spPr>
          <a:xfrm>
            <a:off x="8119872" y="3241548"/>
            <a:ext cx="195681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000"/>
              <a:buFont typeface="Arial"/>
              <a:buNone/>
            </a:pPr>
            <a:r>
              <a:rPr b="0" i="0" lang="en-US" sz="1000" u="none" cap="none" strike="noStrike">
                <a:solidFill>
                  <a:srgbClr val="1E88E5"/>
                </a:solidFill>
                <a:latin typeface="Arial"/>
                <a:ea typeface="Arial"/>
                <a:cs typeface="Arial"/>
                <a:sym typeface="Arial"/>
              </a:rPr>
              <a:t>Página 4</a:t>
            </a:r>
            <a:endParaRPr b="0" i="0" sz="1000" u="none" cap="none" strike="noStrike">
              <a:solidFill>
                <a:schemeClr val="dk1"/>
              </a:solidFill>
              <a:latin typeface="Arial"/>
              <a:ea typeface="Arial"/>
              <a:cs typeface="Arial"/>
              <a:sym typeface="Arial"/>
            </a:endParaRPr>
          </a:p>
        </p:txBody>
      </p:sp>
      <p:sp>
        <p:nvSpPr>
          <p:cNvPr id="769" name="Google Shape;769;p33"/>
          <p:cNvSpPr/>
          <p:nvPr/>
        </p:nvSpPr>
        <p:spPr>
          <a:xfrm>
            <a:off x="8046720" y="3685032"/>
            <a:ext cx="2103120" cy="320040"/>
          </a:xfrm>
          <a:prstGeom prst="roundRect">
            <a:avLst>
              <a:gd fmla="val 34286"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33"/>
          <p:cNvSpPr/>
          <p:nvPr/>
        </p:nvSpPr>
        <p:spPr>
          <a:xfrm>
            <a:off x="8119872" y="3744468"/>
            <a:ext cx="195681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000"/>
              <a:buFont typeface="Arial"/>
              <a:buNone/>
            </a:pPr>
            <a:r>
              <a:rPr b="0" i="0" lang="en-US" sz="1000" u="none" cap="none" strike="noStrike">
                <a:solidFill>
                  <a:srgbClr val="1E88E5"/>
                </a:solidFill>
                <a:latin typeface="Arial"/>
                <a:ea typeface="Arial"/>
                <a:cs typeface="Arial"/>
                <a:sym typeface="Arial"/>
              </a:rPr>
              <a:t>Página 5</a:t>
            </a:r>
            <a:endParaRPr b="0" i="0" sz="1000" u="none" cap="none" strike="noStrike">
              <a:solidFill>
                <a:schemeClr val="dk1"/>
              </a:solidFill>
              <a:latin typeface="Arial"/>
              <a:ea typeface="Arial"/>
              <a:cs typeface="Arial"/>
              <a:sym typeface="Arial"/>
            </a:endParaRPr>
          </a:p>
        </p:txBody>
      </p:sp>
      <p:sp>
        <p:nvSpPr>
          <p:cNvPr id="771" name="Google Shape;771;p33"/>
          <p:cNvSpPr/>
          <p:nvPr/>
        </p:nvSpPr>
        <p:spPr>
          <a:xfrm>
            <a:off x="10424160" y="2176272"/>
            <a:ext cx="685800" cy="1600200"/>
          </a:xfrm>
          <a:prstGeom prst="roundRect">
            <a:avLst>
              <a:gd fmla="val 1600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3"/>
          <p:cNvSpPr/>
          <p:nvPr/>
        </p:nvSpPr>
        <p:spPr>
          <a:xfrm>
            <a:off x="10497312" y="2875788"/>
            <a:ext cx="53949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1200"/>
              <a:buFont typeface="Arial"/>
              <a:buNone/>
            </a:pPr>
            <a:r>
              <a:rPr b="1" i="0" lang="en-US" sz="1200" u="none" cap="none" strike="noStrike">
                <a:solidFill>
                  <a:srgbClr val="2E7D32"/>
                </a:solidFill>
                <a:latin typeface="Arial"/>
                <a:ea typeface="Arial"/>
                <a:cs typeface="Arial"/>
                <a:sym typeface="Arial"/>
              </a:rPr>
              <a:t>RAM</a:t>
            </a:r>
            <a:endParaRPr b="0" i="0" sz="1200" u="none" cap="none" strike="noStrike">
              <a:solidFill>
                <a:schemeClr val="dk1"/>
              </a:solidFill>
              <a:latin typeface="Arial"/>
              <a:ea typeface="Arial"/>
              <a:cs typeface="Arial"/>
              <a:sym typeface="Arial"/>
            </a:endParaRPr>
          </a:p>
        </p:txBody>
      </p:sp>
      <p:cxnSp>
        <p:nvCxnSpPr>
          <p:cNvPr id="773" name="Google Shape;773;p33"/>
          <p:cNvCxnSpPr/>
          <p:nvPr/>
        </p:nvCxnSpPr>
        <p:spPr>
          <a:xfrm>
            <a:off x="10158984" y="2706624"/>
            <a:ext cx="265176" cy="0"/>
          </a:xfrm>
          <a:prstGeom prst="straightConnector1">
            <a:avLst/>
          </a:prstGeom>
          <a:noFill/>
          <a:ln cap="flat" cmpd="sng" w="12700">
            <a:solidFill>
              <a:srgbClr val="1E88E5"/>
            </a:solidFill>
            <a:prstDash val="solid"/>
            <a:round/>
            <a:headEnd len="sm" w="sm" type="none"/>
            <a:tailEnd len="med" w="med" type="triangle"/>
          </a:ln>
        </p:spPr>
      </p:cxnSp>
      <p:cxnSp>
        <p:nvCxnSpPr>
          <p:cNvPr id="774" name="Google Shape;774;p33"/>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775" name="Google Shape;775;p33"/>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33</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780" name="Shape 780"/>
        <p:cNvGrpSpPr/>
        <p:nvPr/>
      </p:nvGrpSpPr>
      <p:grpSpPr>
        <a:xfrm>
          <a:off x="0" y="0"/>
          <a:ext cx="0" cy="0"/>
          <a:chOff x="0" y="0"/>
          <a:chExt cx="0" cy="0"/>
        </a:xfrm>
      </p:grpSpPr>
      <p:sp>
        <p:nvSpPr>
          <p:cNvPr id="781" name="Google Shape;781;p34"/>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34"/>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Estudo de caso: E/S intensa</a:t>
            </a:r>
            <a:endParaRPr b="0" i="0" sz="3200" u="none" cap="none" strike="noStrike">
              <a:solidFill>
                <a:schemeClr val="dk1"/>
              </a:solidFill>
              <a:latin typeface="Arial"/>
              <a:ea typeface="Arial"/>
              <a:cs typeface="Arial"/>
              <a:sym typeface="Arial"/>
            </a:endParaRPr>
          </a:p>
        </p:txBody>
      </p:sp>
      <p:sp>
        <p:nvSpPr>
          <p:cNvPr id="783" name="Google Shape;783;p34"/>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Quando disco e arquivos dominam a espera</a:t>
            </a:r>
            <a:endParaRPr b="0" i="0" sz="1450" u="none" cap="none" strike="noStrike">
              <a:solidFill>
                <a:schemeClr val="dk1"/>
              </a:solidFill>
              <a:latin typeface="Arial"/>
              <a:ea typeface="Arial"/>
              <a:cs typeface="Arial"/>
              <a:sym typeface="Arial"/>
            </a:endParaRPr>
          </a:p>
        </p:txBody>
      </p:sp>
      <p:sp>
        <p:nvSpPr>
          <p:cNvPr id="784" name="Google Shape;784;p34"/>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Cargas de E/S intensa envolvem muitas leituras e gravações, como backup, indexação, logs, bancos de dados e cópia de arquivos. A avaliação deve observar taxa de transferência, latência de disco, fila de E/S, tempo de espera e impacto sobre processos interativos.</a:t>
            </a:r>
            <a:endParaRPr b="0" i="0" sz="2400" u="none" cap="none" strike="noStrike">
              <a:solidFill>
                <a:schemeClr val="dk1"/>
              </a:solidFill>
              <a:latin typeface="Arial"/>
              <a:ea typeface="Arial"/>
              <a:cs typeface="Arial"/>
              <a:sym typeface="Arial"/>
            </a:endParaRPr>
          </a:p>
        </p:txBody>
      </p:sp>
      <p:sp>
        <p:nvSpPr>
          <p:cNvPr id="785" name="Google Shape;785;p34"/>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34"/>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Disco lento afeta todo o sistema.</a:t>
            </a:r>
            <a:endParaRPr b="0" i="0" sz="1050" u="none" cap="none" strike="noStrike">
              <a:solidFill>
                <a:schemeClr val="dk1"/>
              </a:solidFill>
              <a:latin typeface="Arial"/>
              <a:ea typeface="Arial"/>
              <a:cs typeface="Arial"/>
              <a:sym typeface="Arial"/>
            </a:endParaRPr>
          </a:p>
        </p:txBody>
      </p:sp>
      <p:sp>
        <p:nvSpPr>
          <p:cNvPr id="787" name="Google Shape;787;p34"/>
          <p:cNvSpPr/>
          <p:nvPr/>
        </p:nvSpPr>
        <p:spPr>
          <a:xfrm>
            <a:off x="8046720" y="1856232"/>
            <a:ext cx="1097280" cy="1554480"/>
          </a:xfrm>
          <a:prstGeom prst="can">
            <a:avLst>
              <a:gd fmla="val 25000" name="adj"/>
            </a:avLst>
          </a:prstGeom>
          <a:solidFill>
            <a:srgbClr val="EEF2FF"/>
          </a:solidFill>
          <a:ln cap="flat" cmpd="sng" w="12700">
            <a:solidFill>
              <a:srgbClr val="1E88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34"/>
          <p:cNvSpPr/>
          <p:nvPr/>
        </p:nvSpPr>
        <p:spPr>
          <a:xfrm>
            <a:off x="8138160" y="2496312"/>
            <a:ext cx="914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88E5"/>
              </a:buClr>
              <a:buSzPts val="1300"/>
              <a:buFont typeface="Arial"/>
              <a:buNone/>
            </a:pPr>
            <a:r>
              <a:rPr b="1" i="0" lang="en-US" sz="1300" u="none" cap="none" strike="noStrike">
                <a:solidFill>
                  <a:srgbClr val="1E88E5"/>
                </a:solidFill>
                <a:latin typeface="Arial"/>
                <a:ea typeface="Arial"/>
                <a:cs typeface="Arial"/>
                <a:sym typeface="Arial"/>
              </a:rPr>
              <a:t>Disco</a:t>
            </a:r>
            <a:endParaRPr b="0" i="0" sz="1300" u="none" cap="none" strike="noStrike">
              <a:solidFill>
                <a:schemeClr val="dk1"/>
              </a:solidFill>
              <a:latin typeface="Arial"/>
              <a:ea typeface="Arial"/>
              <a:cs typeface="Arial"/>
              <a:sym typeface="Arial"/>
            </a:endParaRPr>
          </a:p>
        </p:txBody>
      </p:sp>
      <p:sp>
        <p:nvSpPr>
          <p:cNvPr id="789" name="Google Shape;789;p34"/>
          <p:cNvSpPr/>
          <p:nvPr/>
        </p:nvSpPr>
        <p:spPr>
          <a:xfrm>
            <a:off x="9875520" y="1764792"/>
            <a:ext cx="1234440" cy="475488"/>
          </a:xfrm>
          <a:prstGeom prst="roundRect">
            <a:avLst>
              <a:gd fmla="val 23077"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34"/>
          <p:cNvSpPr/>
          <p:nvPr/>
        </p:nvSpPr>
        <p:spPr>
          <a:xfrm>
            <a:off x="9948672" y="1901952"/>
            <a:ext cx="108813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324F"/>
              </a:buClr>
              <a:buSzPts val="1200"/>
              <a:buFont typeface="Arial"/>
              <a:buNone/>
            </a:pPr>
            <a:r>
              <a:rPr b="0" i="0" lang="en-US" sz="1200" u="none" cap="none" strike="noStrike">
                <a:solidFill>
                  <a:srgbClr val="16324F"/>
                </a:solidFill>
                <a:latin typeface="Arial"/>
                <a:ea typeface="Arial"/>
                <a:cs typeface="Arial"/>
                <a:sym typeface="Arial"/>
              </a:rPr>
              <a:t>Leitura</a:t>
            </a:r>
            <a:endParaRPr b="0" i="0" sz="1200" u="none" cap="none" strike="noStrike">
              <a:solidFill>
                <a:schemeClr val="dk1"/>
              </a:solidFill>
              <a:latin typeface="Arial"/>
              <a:ea typeface="Arial"/>
              <a:cs typeface="Arial"/>
              <a:sym typeface="Arial"/>
            </a:endParaRPr>
          </a:p>
        </p:txBody>
      </p:sp>
      <p:sp>
        <p:nvSpPr>
          <p:cNvPr id="791" name="Google Shape;791;p34"/>
          <p:cNvSpPr/>
          <p:nvPr/>
        </p:nvSpPr>
        <p:spPr>
          <a:xfrm>
            <a:off x="9875520" y="2496312"/>
            <a:ext cx="1234440" cy="475488"/>
          </a:xfrm>
          <a:prstGeom prst="roundRect">
            <a:avLst>
              <a:gd fmla="val 23077"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4"/>
          <p:cNvSpPr/>
          <p:nvPr/>
        </p:nvSpPr>
        <p:spPr>
          <a:xfrm>
            <a:off x="9948672" y="2633472"/>
            <a:ext cx="108813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324F"/>
              </a:buClr>
              <a:buSzPts val="1200"/>
              <a:buFont typeface="Arial"/>
              <a:buNone/>
            </a:pPr>
            <a:r>
              <a:rPr b="0" i="0" lang="en-US" sz="1200" u="none" cap="none" strike="noStrike">
                <a:solidFill>
                  <a:srgbClr val="16324F"/>
                </a:solidFill>
                <a:latin typeface="Arial"/>
                <a:ea typeface="Arial"/>
                <a:cs typeface="Arial"/>
                <a:sym typeface="Arial"/>
              </a:rPr>
              <a:t>Escrita</a:t>
            </a:r>
            <a:endParaRPr b="0" i="0" sz="1200" u="none" cap="none" strike="noStrike">
              <a:solidFill>
                <a:schemeClr val="dk1"/>
              </a:solidFill>
              <a:latin typeface="Arial"/>
              <a:ea typeface="Arial"/>
              <a:cs typeface="Arial"/>
              <a:sym typeface="Arial"/>
            </a:endParaRPr>
          </a:p>
        </p:txBody>
      </p:sp>
      <p:sp>
        <p:nvSpPr>
          <p:cNvPr id="793" name="Google Shape;793;p34"/>
          <p:cNvSpPr/>
          <p:nvPr/>
        </p:nvSpPr>
        <p:spPr>
          <a:xfrm>
            <a:off x="9875520" y="3227832"/>
            <a:ext cx="1234440" cy="475488"/>
          </a:xfrm>
          <a:prstGeom prst="roundRect">
            <a:avLst>
              <a:gd fmla="val 23077"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4"/>
          <p:cNvSpPr/>
          <p:nvPr/>
        </p:nvSpPr>
        <p:spPr>
          <a:xfrm>
            <a:off x="9948672" y="3364992"/>
            <a:ext cx="108813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324F"/>
              </a:buClr>
              <a:buSzPts val="1200"/>
              <a:buFont typeface="Arial"/>
              <a:buNone/>
            </a:pPr>
            <a:r>
              <a:rPr b="0" i="0" lang="en-US" sz="1200" u="none" cap="none" strike="noStrike">
                <a:solidFill>
                  <a:srgbClr val="16324F"/>
                </a:solidFill>
                <a:latin typeface="Arial"/>
                <a:ea typeface="Arial"/>
                <a:cs typeface="Arial"/>
                <a:sym typeface="Arial"/>
              </a:rPr>
              <a:t>Latência</a:t>
            </a:r>
            <a:endParaRPr b="0" i="0" sz="1200" u="none" cap="none" strike="noStrike">
              <a:solidFill>
                <a:schemeClr val="dk1"/>
              </a:solidFill>
              <a:latin typeface="Arial"/>
              <a:ea typeface="Arial"/>
              <a:cs typeface="Arial"/>
              <a:sym typeface="Arial"/>
            </a:endParaRPr>
          </a:p>
        </p:txBody>
      </p:sp>
      <p:cxnSp>
        <p:nvCxnSpPr>
          <p:cNvPr id="795" name="Google Shape;795;p34"/>
          <p:cNvCxnSpPr/>
          <p:nvPr/>
        </p:nvCxnSpPr>
        <p:spPr>
          <a:xfrm flipH="1" rot="10800000">
            <a:off x="9189720" y="1993392"/>
            <a:ext cx="658368" cy="228600"/>
          </a:xfrm>
          <a:prstGeom prst="straightConnector1">
            <a:avLst/>
          </a:prstGeom>
          <a:noFill/>
          <a:ln cap="flat" cmpd="sng" w="12700">
            <a:solidFill>
              <a:srgbClr val="1E88E5"/>
            </a:solidFill>
            <a:prstDash val="solid"/>
            <a:round/>
            <a:headEnd len="sm" w="sm" type="none"/>
            <a:tailEnd len="med" w="med" type="triangle"/>
          </a:ln>
        </p:spPr>
      </p:cxnSp>
      <p:cxnSp>
        <p:nvCxnSpPr>
          <p:cNvPr id="796" name="Google Shape;796;p34"/>
          <p:cNvCxnSpPr/>
          <p:nvPr/>
        </p:nvCxnSpPr>
        <p:spPr>
          <a:xfrm>
            <a:off x="9189720" y="2587752"/>
            <a:ext cx="658368" cy="137160"/>
          </a:xfrm>
          <a:prstGeom prst="straightConnector1">
            <a:avLst/>
          </a:prstGeom>
          <a:noFill/>
          <a:ln cap="flat" cmpd="sng" w="12700">
            <a:solidFill>
              <a:srgbClr val="1E88E5"/>
            </a:solidFill>
            <a:prstDash val="solid"/>
            <a:round/>
            <a:headEnd len="sm" w="sm" type="none"/>
            <a:tailEnd len="med" w="med" type="triangle"/>
          </a:ln>
        </p:spPr>
      </p:cxnSp>
      <p:cxnSp>
        <p:nvCxnSpPr>
          <p:cNvPr id="797" name="Google Shape;797;p34"/>
          <p:cNvCxnSpPr/>
          <p:nvPr/>
        </p:nvCxnSpPr>
        <p:spPr>
          <a:xfrm>
            <a:off x="9189720" y="2953512"/>
            <a:ext cx="658368" cy="502920"/>
          </a:xfrm>
          <a:prstGeom prst="straightConnector1">
            <a:avLst/>
          </a:prstGeom>
          <a:noFill/>
          <a:ln cap="flat" cmpd="sng" w="12700">
            <a:solidFill>
              <a:srgbClr val="1E88E5"/>
            </a:solidFill>
            <a:prstDash val="solid"/>
            <a:round/>
            <a:headEnd len="sm" w="sm" type="none"/>
            <a:tailEnd len="med" w="med" type="triangle"/>
          </a:ln>
        </p:spPr>
      </p:cxnSp>
      <p:cxnSp>
        <p:nvCxnSpPr>
          <p:cNvPr id="798" name="Google Shape;798;p34"/>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799" name="Google Shape;799;p34"/>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34</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804" name="Shape 804"/>
        <p:cNvGrpSpPr/>
        <p:nvPr/>
      </p:nvGrpSpPr>
      <p:grpSpPr>
        <a:xfrm>
          <a:off x="0" y="0"/>
          <a:ext cx="0" cy="0"/>
          <a:chOff x="0" y="0"/>
          <a:chExt cx="0" cy="0"/>
        </a:xfrm>
      </p:grpSpPr>
      <p:sp>
        <p:nvSpPr>
          <p:cNvPr id="805" name="Google Shape;805;p35"/>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35"/>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Prática 1: monitoramento básico</a:t>
            </a:r>
            <a:endParaRPr b="0" i="0" sz="3200" u="none" cap="none" strike="noStrike">
              <a:solidFill>
                <a:schemeClr val="dk1"/>
              </a:solidFill>
              <a:latin typeface="Arial"/>
              <a:ea typeface="Arial"/>
              <a:cs typeface="Arial"/>
              <a:sym typeface="Arial"/>
            </a:endParaRPr>
          </a:p>
        </p:txBody>
      </p:sp>
      <p:sp>
        <p:nvSpPr>
          <p:cNvPr id="807" name="Google Shape;807;p35"/>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Observando o sistema em tempo real</a:t>
            </a:r>
            <a:endParaRPr b="0" i="0" sz="1450" u="none" cap="none" strike="noStrike">
              <a:solidFill>
                <a:schemeClr val="dk1"/>
              </a:solidFill>
              <a:latin typeface="Arial"/>
              <a:ea typeface="Arial"/>
              <a:cs typeface="Arial"/>
              <a:sym typeface="Arial"/>
            </a:endParaRPr>
          </a:p>
        </p:txBody>
      </p:sp>
      <p:sp>
        <p:nvSpPr>
          <p:cNvPr id="808" name="Google Shape;808;p35"/>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Passo a passo: abra um terminal Linux ou WSL, execute top ou htop, observe CPU, memória e processos. Em outro terminal, rode uma tarefa simples, como compressão ou stress controlado. Registre antes, durante e depois para comparar o comportamento do sistema.</a:t>
            </a:r>
            <a:endParaRPr b="0" i="0" sz="2400" u="none" cap="none" strike="noStrike">
              <a:solidFill>
                <a:schemeClr val="dk1"/>
              </a:solidFill>
              <a:latin typeface="Arial"/>
              <a:ea typeface="Arial"/>
              <a:cs typeface="Arial"/>
              <a:sym typeface="Arial"/>
            </a:endParaRPr>
          </a:p>
        </p:txBody>
      </p:sp>
      <p:sp>
        <p:nvSpPr>
          <p:cNvPr id="809" name="Google Shape;809;p35">
            <a:hlinkClick r:id="rId3"/>
          </p:cNvPr>
          <p:cNvSpPr/>
          <p:nvPr/>
        </p:nvSpPr>
        <p:spPr>
          <a:xfrm>
            <a:off x="612648" y="5577840"/>
            <a:ext cx="6446520" cy="4114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E88E5"/>
              </a:buClr>
              <a:buSzPts val="1150"/>
              <a:buFont typeface="Arial"/>
              <a:buNone/>
            </a:pPr>
            <a:r>
              <a:rPr b="0" i="0" lang="en-US" sz="1150" u="sng" cap="none" strike="noStrike">
                <a:solidFill>
                  <a:srgbClr val="1E88E5"/>
                </a:solidFill>
                <a:latin typeface="Arial"/>
                <a:ea typeface="Arial"/>
                <a:cs typeface="Arial"/>
                <a:sym typeface="Arial"/>
                <a:hlinkClick r:id="rId4">
                  <a:extLst>
                    <a:ext uri="{A12FA001-AC4F-418D-AE19-62706E023703}">
                      <ahyp:hlinkClr val="tx"/>
                    </a:ext>
                  </a:extLst>
                </a:hlinkClick>
              </a:rPr>
              <a:t>Recurso sugerido: https://www.youtube.com/results?search_query=linux+top+htop+vmstat+performance+monitoring</a:t>
            </a:r>
            <a:endParaRPr b="0" i="0" sz="1150" u="none" cap="none" strike="noStrike">
              <a:solidFill>
                <a:schemeClr val="dk1"/>
              </a:solidFill>
              <a:latin typeface="Arial"/>
              <a:ea typeface="Arial"/>
              <a:cs typeface="Arial"/>
              <a:sym typeface="Arial"/>
            </a:endParaRPr>
          </a:p>
        </p:txBody>
      </p:sp>
      <p:sp>
        <p:nvSpPr>
          <p:cNvPr id="810" name="Google Shape;810;p35"/>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35"/>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Primeiro observe, depois interprete.</a:t>
            </a:r>
            <a:endParaRPr b="0" i="0" sz="1050" u="none" cap="none" strike="noStrike">
              <a:solidFill>
                <a:schemeClr val="dk1"/>
              </a:solidFill>
              <a:latin typeface="Arial"/>
              <a:ea typeface="Arial"/>
              <a:cs typeface="Arial"/>
              <a:sym typeface="Arial"/>
            </a:endParaRPr>
          </a:p>
        </p:txBody>
      </p:sp>
      <p:sp>
        <p:nvSpPr>
          <p:cNvPr id="812" name="Google Shape;812;p35"/>
          <p:cNvSpPr/>
          <p:nvPr/>
        </p:nvSpPr>
        <p:spPr>
          <a:xfrm>
            <a:off x="8138160" y="1645920"/>
            <a:ext cx="1325880"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5"/>
          <p:cNvSpPr/>
          <p:nvPr/>
        </p:nvSpPr>
        <p:spPr>
          <a:xfrm>
            <a:off x="8211312" y="1810512"/>
            <a:ext cx="11795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200"/>
              <a:buFont typeface="Arial"/>
              <a:buNone/>
            </a:pPr>
            <a:r>
              <a:rPr b="1" i="0" lang="en-US" sz="1200" u="none" cap="none" strike="noStrike">
                <a:solidFill>
                  <a:srgbClr val="1E88E5"/>
                </a:solidFill>
                <a:latin typeface="Arial"/>
                <a:ea typeface="Arial"/>
                <a:cs typeface="Arial"/>
                <a:sym typeface="Arial"/>
              </a:rPr>
              <a:t>top / htop</a:t>
            </a:r>
            <a:endParaRPr b="0" i="0" sz="1200" u="none" cap="none" strike="noStrike">
              <a:solidFill>
                <a:schemeClr val="dk1"/>
              </a:solidFill>
              <a:latin typeface="Arial"/>
              <a:ea typeface="Arial"/>
              <a:cs typeface="Arial"/>
              <a:sym typeface="Arial"/>
            </a:endParaRPr>
          </a:p>
        </p:txBody>
      </p:sp>
      <p:sp>
        <p:nvSpPr>
          <p:cNvPr id="814" name="Google Shape;814;p35"/>
          <p:cNvSpPr/>
          <p:nvPr/>
        </p:nvSpPr>
        <p:spPr>
          <a:xfrm>
            <a:off x="9784080" y="1645920"/>
            <a:ext cx="1325880"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35"/>
          <p:cNvSpPr/>
          <p:nvPr/>
        </p:nvSpPr>
        <p:spPr>
          <a:xfrm>
            <a:off x="9857232" y="1810512"/>
            <a:ext cx="11795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200"/>
              <a:buFont typeface="Arial"/>
              <a:buNone/>
            </a:pPr>
            <a:r>
              <a:rPr b="1" i="0" lang="en-US" sz="1200" u="none" cap="none" strike="noStrike">
                <a:solidFill>
                  <a:srgbClr val="1E88E5"/>
                </a:solidFill>
                <a:latin typeface="Arial"/>
                <a:ea typeface="Arial"/>
                <a:cs typeface="Arial"/>
                <a:sym typeface="Arial"/>
              </a:rPr>
              <a:t>vmstat</a:t>
            </a:r>
            <a:endParaRPr b="0" i="0" sz="1200" u="none" cap="none" strike="noStrike">
              <a:solidFill>
                <a:schemeClr val="dk1"/>
              </a:solidFill>
              <a:latin typeface="Arial"/>
              <a:ea typeface="Arial"/>
              <a:cs typeface="Arial"/>
              <a:sym typeface="Arial"/>
            </a:endParaRPr>
          </a:p>
        </p:txBody>
      </p:sp>
      <p:sp>
        <p:nvSpPr>
          <p:cNvPr id="816" name="Google Shape;816;p35"/>
          <p:cNvSpPr/>
          <p:nvPr/>
        </p:nvSpPr>
        <p:spPr>
          <a:xfrm>
            <a:off x="8138160" y="2651760"/>
            <a:ext cx="1325880"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35"/>
          <p:cNvSpPr/>
          <p:nvPr/>
        </p:nvSpPr>
        <p:spPr>
          <a:xfrm>
            <a:off x="8211312" y="2816352"/>
            <a:ext cx="11795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1200"/>
              <a:buFont typeface="Arial"/>
              <a:buNone/>
            </a:pPr>
            <a:r>
              <a:rPr b="1" i="0" lang="en-US" sz="1200" u="none" cap="none" strike="noStrike">
                <a:solidFill>
                  <a:srgbClr val="2E7D32"/>
                </a:solidFill>
                <a:latin typeface="Arial"/>
                <a:ea typeface="Arial"/>
                <a:cs typeface="Arial"/>
                <a:sym typeface="Arial"/>
              </a:rPr>
              <a:t>iostat</a:t>
            </a:r>
            <a:endParaRPr b="0" i="0" sz="1200" u="none" cap="none" strike="noStrike">
              <a:solidFill>
                <a:schemeClr val="dk1"/>
              </a:solidFill>
              <a:latin typeface="Arial"/>
              <a:ea typeface="Arial"/>
              <a:cs typeface="Arial"/>
              <a:sym typeface="Arial"/>
            </a:endParaRPr>
          </a:p>
        </p:txBody>
      </p:sp>
      <p:sp>
        <p:nvSpPr>
          <p:cNvPr id="818" name="Google Shape;818;p35"/>
          <p:cNvSpPr/>
          <p:nvPr/>
        </p:nvSpPr>
        <p:spPr>
          <a:xfrm>
            <a:off x="9784080" y="2651760"/>
            <a:ext cx="1325880"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5"/>
          <p:cNvSpPr/>
          <p:nvPr/>
        </p:nvSpPr>
        <p:spPr>
          <a:xfrm>
            <a:off x="9857232" y="2816352"/>
            <a:ext cx="11795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1200"/>
              <a:buFont typeface="Arial"/>
              <a:buNone/>
            </a:pPr>
            <a:r>
              <a:rPr b="1" i="0" lang="en-US" sz="1200" u="none" cap="none" strike="noStrike">
                <a:solidFill>
                  <a:srgbClr val="2E7D32"/>
                </a:solidFill>
                <a:latin typeface="Arial"/>
                <a:ea typeface="Arial"/>
                <a:cs typeface="Arial"/>
                <a:sym typeface="Arial"/>
              </a:rPr>
              <a:t>perf</a:t>
            </a:r>
            <a:endParaRPr b="0" i="0" sz="1200" u="none" cap="none" strike="noStrike">
              <a:solidFill>
                <a:schemeClr val="dk1"/>
              </a:solidFill>
              <a:latin typeface="Arial"/>
              <a:ea typeface="Arial"/>
              <a:cs typeface="Arial"/>
              <a:sym typeface="Arial"/>
            </a:endParaRPr>
          </a:p>
        </p:txBody>
      </p:sp>
      <p:sp>
        <p:nvSpPr>
          <p:cNvPr id="820" name="Google Shape;820;p35"/>
          <p:cNvSpPr/>
          <p:nvPr/>
        </p:nvSpPr>
        <p:spPr>
          <a:xfrm>
            <a:off x="8961120" y="3657600"/>
            <a:ext cx="1325880" cy="530352"/>
          </a:xfrm>
          <a:prstGeom prst="roundRect">
            <a:avLst>
              <a:gd fmla="val 20690" name="adj"/>
            </a:avLst>
          </a:prstGeom>
          <a:solidFill>
            <a:srgbClr val="FFF3F3"/>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35"/>
          <p:cNvSpPr/>
          <p:nvPr/>
        </p:nvSpPr>
        <p:spPr>
          <a:xfrm>
            <a:off x="9034272" y="3822192"/>
            <a:ext cx="11795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62828"/>
              </a:buClr>
              <a:buSzPts val="1200"/>
              <a:buFont typeface="Arial"/>
              <a:buNone/>
            </a:pPr>
            <a:r>
              <a:rPr b="1" i="0" lang="en-US" sz="1200" u="none" cap="none" strike="noStrike">
                <a:solidFill>
                  <a:srgbClr val="C62828"/>
                </a:solidFill>
                <a:latin typeface="Arial"/>
                <a:ea typeface="Arial"/>
                <a:cs typeface="Arial"/>
                <a:sym typeface="Arial"/>
              </a:rPr>
              <a:t>relatório</a:t>
            </a:r>
            <a:endParaRPr b="0" i="0" sz="1200" u="none" cap="none" strike="noStrike">
              <a:solidFill>
                <a:schemeClr val="dk1"/>
              </a:solidFill>
              <a:latin typeface="Arial"/>
              <a:ea typeface="Arial"/>
              <a:cs typeface="Arial"/>
              <a:sym typeface="Arial"/>
            </a:endParaRPr>
          </a:p>
        </p:txBody>
      </p:sp>
      <p:cxnSp>
        <p:nvCxnSpPr>
          <p:cNvPr id="822" name="Google Shape;822;p35"/>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823" name="Google Shape;823;p35"/>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35</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828" name="Shape 828"/>
        <p:cNvGrpSpPr/>
        <p:nvPr/>
      </p:nvGrpSpPr>
      <p:grpSpPr>
        <a:xfrm>
          <a:off x="0" y="0"/>
          <a:ext cx="0" cy="0"/>
          <a:chOff x="0" y="0"/>
          <a:chExt cx="0" cy="0"/>
        </a:xfrm>
      </p:grpSpPr>
      <p:sp>
        <p:nvSpPr>
          <p:cNvPr id="829" name="Google Shape;829;p36"/>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6"/>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Prática 2: gerar carga controlada</a:t>
            </a:r>
            <a:endParaRPr b="0" i="0" sz="3200" u="none" cap="none" strike="noStrike">
              <a:solidFill>
                <a:schemeClr val="dk1"/>
              </a:solidFill>
              <a:latin typeface="Arial"/>
              <a:ea typeface="Arial"/>
              <a:cs typeface="Arial"/>
              <a:sym typeface="Arial"/>
            </a:endParaRPr>
          </a:p>
        </p:txBody>
      </p:sp>
      <p:sp>
        <p:nvSpPr>
          <p:cNvPr id="831" name="Google Shape;831;p36"/>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stress-ng e sysbench em ambiente acadêmico</a:t>
            </a:r>
            <a:endParaRPr b="0" i="0" sz="1450" u="none" cap="none" strike="noStrike">
              <a:solidFill>
                <a:schemeClr val="dk1"/>
              </a:solidFill>
              <a:latin typeface="Arial"/>
              <a:ea typeface="Arial"/>
              <a:cs typeface="Arial"/>
              <a:sym typeface="Arial"/>
            </a:endParaRPr>
          </a:p>
        </p:txBody>
      </p:sp>
      <p:sp>
        <p:nvSpPr>
          <p:cNvPr id="832" name="Google Shape;832;p36"/>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Para testar reação do sistema, use ferramentas gratuitas como stress-ng ou sysbench. Defina uma carga pequena, tempo curto e ambiente controlado. Exemplo: gerar carga de CPU por trinta segundos, medir utilização, temperatura, responsividade e comparar com o estado ocioso.</a:t>
            </a:r>
            <a:endParaRPr b="0" i="0" sz="2400" u="none" cap="none" strike="noStrike">
              <a:solidFill>
                <a:schemeClr val="dk1"/>
              </a:solidFill>
              <a:latin typeface="Arial"/>
              <a:ea typeface="Arial"/>
              <a:cs typeface="Arial"/>
              <a:sym typeface="Arial"/>
            </a:endParaRPr>
          </a:p>
        </p:txBody>
      </p:sp>
      <p:sp>
        <p:nvSpPr>
          <p:cNvPr id="833" name="Google Shape;833;p36">
            <a:hlinkClick r:id="rId3"/>
          </p:cNvPr>
          <p:cNvSpPr/>
          <p:nvPr/>
        </p:nvSpPr>
        <p:spPr>
          <a:xfrm>
            <a:off x="612648" y="5577840"/>
            <a:ext cx="6446520" cy="4114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E88E5"/>
              </a:buClr>
              <a:buSzPts val="1150"/>
              <a:buFont typeface="Arial"/>
              <a:buNone/>
            </a:pPr>
            <a:r>
              <a:rPr b="0" i="0" lang="en-US" sz="1150" u="sng" cap="none" strike="noStrike">
                <a:solidFill>
                  <a:srgbClr val="1E88E5"/>
                </a:solidFill>
                <a:latin typeface="Arial"/>
                <a:ea typeface="Arial"/>
                <a:cs typeface="Arial"/>
                <a:sym typeface="Arial"/>
                <a:hlinkClick r:id="rId4">
                  <a:extLst>
                    <a:ext uri="{A12FA001-AC4F-418D-AE19-62706E023703}">
                      <ahyp:hlinkClr val="tx"/>
                    </a:ext>
                  </a:extLst>
                </a:hlinkClick>
              </a:rPr>
              <a:t>Recurso sugerido: https://github.com/ColinIanKing/stress-ng</a:t>
            </a:r>
            <a:endParaRPr b="0" i="0" sz="1150" u="none" cap="none" strike="noStrike">
              <a:solidFill>
                <a:schemeClr val="dk1"/>
              </a:solidFill>
              <a:latin typeface="Arial"/>
              <a:ea typeface="Arial"/>
              <a:cs typeface="Arial"/>
              <a:sym typeface="Arial"/>
            </a:endParaRPr>
          </a:p>
        </p:txBody>
      </p:sp>
      <p:sp>
        <p:nvSpPr>
          <p:cNvPr id="834" name="Google Shape;834;p36"/>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36"/>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Carga controlada permite comparação.</a:t>
            </a:r>
            <a:endParaRPr b="0" i="0" sz="1050" u="none" cap="none" strike="noStrike">
              <a:solidFill>
                <a:schemeClr val="dk1"/>
              </a:solidFill>
              <a:latin typeface="Arial"/>
              <a:ea typeface="Arial"/>
              <a:cs typeface="Arial"/>
              <a:sym typeface="Arial"/>
            </a:endParaRPr>
          </a:p>
        </p:txBody>
      </p:sp>
      <p:sp>
        <p:nvSpPr>
          <p:cNvPr id="836" name="Google Shape;836;p36"/>
          <p:cNvSpPr/>
          <p:nvPr/>
        </p:nvSpPr>
        <p:spPr>
          <a:xfrm>
            <a:off x="7955280" y="2450592"/>
            <a:ext cx="621792"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6"/>
          <p:cNvSpPr/>
          <p:nvPr/>
        </p:nvSpPr>
        <p:spPr>
          <a:xfrm>
            <a:off x="8028432"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850"/>
              <a:buFont typeface="Arial"/>
              <a:buNone/>
            </a:pPr>
            <a:r>
              <a:rPr b="0" i="0" lang="en-US" sz="850" u="none" cap="none" strike="noStrike">
                <a:solidFill>
                  <a:srgbClr val="2E7D32"/>
                </a:solidFill>
                <a:latin typeface="Arial"/>
                <a:ea typeface="Arial"/>
                <a:cs typeface="Arial"/>
                <a:sym typeface="Arial"/>
              </a:rPr>
              <a:t>Hipótese</a:t>
            </a:r>
            <a:endParaRPr b="0" i="0" sz="850" u="none" cap="none" strike="noStrike">
              <a:solidFill>
                <a:schemeClr val="dk1"/>
              </a:solidFill>
              <a:latin typeface="Arial"/>
              <a:ea typeface="Arial"/>
              <a:cs typeface="Arial"/>
              <a:sym typeface="Arial"/>
            </a:endParaRPr>
          </a:p>
        </p:txBody>
      </p:sp>
      <p:cxnSp>
        <p:nvCxnSpPr>
          <p:cNvPr id="838" name="Google Shape;838;p36"/>
          <p:cNvCxnSpPr/>
          <p:nvPr/>
        </p:nvCxnSpPr>
        <p:spPr>
          <a:xfrm>
            <a:off x="8577072" y="2715768"/>
            <a:ext cx="82296" cy="0"/>
          </a:xfrm>
          <a:prstGeom prst="straightConnector1">
            <a:avLst/>
          </a:prstGeom>
          <a:noFill/>
          <a:ln cap="flat" cmpd="sng" w="12700">
            <a:solidFill>
              <a:srgbClr val="1E88E5"/>
            </a:solidFill>
            <a:prstDash val="solid"/>
            <a:round/>
            <a:headEnd len="sm" w="sm" type="none"/>
            <a:tailEnd len="med" w="med" type="triangle"/>
          </a:ln>
        </p:spPr>
      </p:cxnSp>
      <p:sp>
        <p:nvSpPr>
          <p:cNvPr id="839" name="Google Shape;839;p36"/>
          <p:cNvSpPr/>
          <p:nvPr/>
        </p:nvSpPr>
        <p:spPr>
          <a:xfrm>
            <a:off x="8668512" y="2450592"/>
            <a:ext cx="621792"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6"/>
          <p:cNvSpPr/>
          <p:nvPr/>
        </p:nvSpPr>
        <p:spPr>
          <a:xfrm>
            <a:off x="8741664"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850"/>
              <a:buFont typeface="Arial"/>
              <a:buNone/>
            </a:pPr>
            <a:r>
              <a:rPr b="0" i="0" lang="en-US" sz="850" u="none" cap="none" strike="noStrike">
                <a:solidFill>
                  <a:srgbClr val="1E88E5"/>
                </a:solidFill>
                <a:latin typeface="Arial"/>
                <a:ea typeface="Arial"/>
                <a:cs typeface="Arial"/>
                <a:sym typeface="Arial"/>
              </a:rPr>
              <a:t>Carga</a:t>
            </a:r>
            <a:endParaRPr b="0" i="0" sz="850" u="none" cap="none" strike="noStrike">
              <a:solidFill>
                <a:schemeClr val="dk1"/>
              </a:solidFill>
              <a:latin typeface="Arial"/>
              <a:ea typeface="Arial"/>
              <a:cs typeface="Arial"/>
              <a:sym typeface="Arial"/>
            </a:endParaRPr>
          </a:p>
        </p:txBody>
      </p:sp>
      <p:cxnSp>
        <p:nvCxnSpPr>
          <p:cNvPr id="841" name="Google Shape;841;p36"/>
          <p:cNvCxnSpPr/>
          <p:nvPr/>
        </p:nvCxnSpPr>
        <p:spPr>
          <a:xfrm>
            <a:off x="9290304" y="2715768"/>
            <a:ext cx="82296" cy="0"/>
          </a:xfrm>
          <a:prstGeom prst="straightConnector1">
            <a:avLst/>
          </a:prstGeom>
          <a:noFill/>
          <a:ln cap="flat" cmpd="sng" w="12700">
            <a:solidFill>
              <a:srgbClr val="1E88E5"/>
            </a:solidFill>
            <a:prstDash val="solid"/>
            <a:round/>
            <a:headEnd len="sm" w="sm" type="none"/>
            <a:tailEnd len="med" w="med" type="triangle"/>
          </a:ln>
        </p:spPr>
      </p:cxnSp>
      <p:sp>
        <p:nvSpPr>
          <p:cNvPr id="842" name="Google Shape;842;p36"/>
          <p:cNvSpPr/>
          <p:nvPr/>
        </p:nvSpPr>
        <p:spPr>
          <a:xfrm>
            <a:off x="9381744" y="2450592"/>
            <a:ext cx="621792"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36"/>
          <p:cNvSpPr/>
          <p:nvPr/>
        </p:nvSpPr>
        <p:spPr>
          <a:xfrm>
            <a:off x="9454896"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850"/>
              <a:buFont typeface="Arial"/>
              <a:buNone/>
            </a:pPr>
            <a:r>
              <a:rPr b="0" i="0" lang="en-US" sz="850" u="none" cap="none" strike="noStrike">
                <a:solidFill>
                  <a:srgbClr val="2E7D32"/>
                </a:solidFill>
                <a:latin typeface="Arial"/>
                <a:ea typeface="Arial"/>
                <a:cs typeface="Arial"/>
                <a:sym typeface="Arial"/>
              </a:rPr>
              <a:t>Métrica</a:t>
            </a:r>
            <a:endParaRPr b="0" i="0" sz="850" u="none" cap="none" strike="noStrike">
              <a:solidFill>
                <a:schemeClr val="dk1"/>
              </a:solidFill>
              <a:latin typeface="Arial"/>
              <a:ea typeface="Arial"/>
              <a:cs typeface="Arial"/>
              <a:sym typeface="Arial"/>
            </a:endParaRPr>
          </a:p>
        </p:txBody>
      </p:sp>
      <p:cxnSp>
        <p:nvCxnSpPr>
          <p:cNvPr id="844" name="Google Shape;844;p36"/>
          <p:cNvCxnSpPr/>
          <p:nvPr/>
        </p:nvCxnSpPr>
        <p:spPr>
          <a:xfrm>
            <a:off x="10003536" y="2715768"/>
            <a:ext cx="82296" cy="0"/>
          </a:xfrm>
          <a:prstGeom prst="straightConnector1">
            <a:avLst/>
          </a:prstGeom>
          <a:noFill/>
          <a:ln cap="flat" cmpd="sng" w="12700">
            <a:solidFill>
              <a:srgbClr val="1E88E5"/>
            </a:solidFill>
            <a:prstDash val="solid"/>
            <a:round/>
            <a:headEnd len="sm" w="sm" type="none"/>
            <a:tailEnd len="med" w="med" type="triangle"/>
          </a:ln>
        </p:spPr>
      </p:cxnSp>
      <p:sp>
        <p:nvSpPr>
          <p:cNvPr id="845" name="Google Shape;845;p36"/>
          <p:cNvSpPr/>
          <p:nvPr/>
        </p:nvSpPr>
        <p:spPr>
          <a:xfrm>
            <a:off x="10094976" y="2450592"/>
            <a:ext cx="621792"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36"/>
          <p:cNvSpPr/>
          <p:nvPr/>
        </p:nvSpPr>
        <p:spPr>
          <a:xfrm>
            <a:off x="10168128"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850"/>
              <a:buFont typeface="Arial"/>
              <a:buNone/>
            </a:pPr>
            <a:r>
              <a:rPr b="0" i="0" lang="en-US" sz="850" u="none" cap="none" strike="noStrike">
                <a:solidFill>
                  <a:srgbClr val="1E88E5"/>
                </a:solidFill>
                <a:latin typeface="Arial"/>
                <a:ea typeface="Arial"/>
                <a:cs typeface="Arial"/>
                <a:sym typeface="Arial"/>
              </a:rPr>
              <a:t>Coleta</a:t>
            </a:r>
            <a:endParaRPr b="0" i="0" sz="850" u="none" cap="none" strike="noStrike">
              <a:solidFill>
                <a:schemeClr val="dk1"/>
              </a:solidFill>
              <a:latin typeface="Arial"/>
              <a:ea typeface="Arial"/>
              <a:cs typeface="Arial"/>
              <a:sym typeface="Arial"/>
            </a:endParaRPr>
          </a:p>
        </p:txBody>
      </p:sp>
      <p:cxnSp>
        <p:nvCxnSpPr>
          <p:cNvPr id="847" name="Google Shape;847;p36"/>
          <p:cNvCxnSpPr/>
          <p:nvPr/>
        </p:nvCxnSpPr>
        <p:spPr>
          <a:xfrm>
            <a:off x="10716768" y="2715768"/>
            <a:ext cx="82296" cy="0"/>
          </a:xfrm>
          <a:prstGeom prst="straightConnector1">
            <a:avLst/>
          </a:prstGeom>
          <a:noFill/>
          <a:ln cap="flat" cmpd="sng" w="12700">
            <a:solidFill>
              <a:srgbClr val="1E88E5"/>
            </a:solidFill>
            <a:prstDash val="solid"/>
            <a:round/>
            <a:headEnd len="sm" w="sm" type="none"/>
            <a:tailEnd len="med" w="med" type="triangle"/>
          </a:ln>
        </p:spPr>
      </p:cxnSp>
      <p:sp>
        <p:nvSpPr>
          <p:cNvPr id="848" name="Google Shape;848;p36"/>
          <p:cNvSpPr/>
          <p:nvPr/>
        </p:nvSpPr>
        <p:spPr>
          <a:xfrm>
            <a:off x="10808208" y="2450592"/>
            <a:ext cx="621792"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6"/>
          <p:cNvSpPr/>
          <p:nvPr/>
        </p:nvSpPr>
        <p:spPr>
          <a:xfrm>
            <a:off x="10881360"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850"/>
              <a:buFont typeface="Arial"/>
              <a:buNone/>
            </a:pPr>
            <a:r>
              <a:rPr b="0" i="0" lang="en-US" sz="850" u="none" cap="none" strike="noStrike">
                <a:solidFill>
                  <a:srgbClr val="2E7D32"/>
                </a:solidFill>
                <a:latin typeface="Arial"/>
                <a:ea typeface="Arial"/>
                <a:cs typeface="Arial"/>
                <a:sym typeface="Arial"/>
              </a:rPr>
              <a:t>Conclusão</a:t>
            </a:r>
            <a:endParaRPr b="0" i="0" sz="850" u="none" cap="none" strike="noStrike">
              <a:solidFill>
                <a:schemeClr val="dk1"/>
              </a:solidFill>
              <a:latin typeface="Arial"/>
              <a:ea typeface="Arial"/>
              <a:cs typeface="Arial"/>
              <a:sym typeface="Arial"/>
            </a:endParaRPr>
          </a:p>
        </p:txBody>
      </p:sp>
      <p:sp>
        <p:nvSpPr>
          <p:cNvPr id="850" name="Google Shape;850;p36"/>
          <p:cNvSpPr/>
          <p:nvPr/>
        </p:nvSpPr>
        <p:spPr>
          <a:xfrm>
            <a:off x="8275320" y="3593592"/>
            <a:ext cx="23317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Reprodutibilidade é parte da avaliação</a:t>
            </a:r>
            <a:endParaRPr b="0" i="0" sz="1100" u="none" cap="none" strike="noStrike">
              <a:solidFill>
                <a:schemeClr val="dk1"/>
              </a:solidFill>
              <a:latin typeface="Arial"/>
              <a:ea typeface="Arial"/>
              <a:cs typeface="Arial"/>
              <a:sym typeface="Arial"/>
            </a:endParaRPr>
          </a:p>
        </p:txBody>
      </p:sp>
      <p:cxnSp>
        <p:nvCxnSpPr>
          <p:cNvPr id="851" name="Google Shape;851;p36"/>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852" name="Google Shape;852;p36"/>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36</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857" name="Shape 857"/>
        <p:cNvGrpSpPr/>
        <p:nvPr/>
      </p:nvGrpSpPr>
      <p:grpSpPr>
        <a:xfrm>
          <a:off x="0" y="0"/>
          <a:ext cx="0" cy="0"/>
          <a:chOff x="0" y="0"/>
          <a:chExt cx="0" cy="0"/>
        </a:xfrm>
      </p:grpSpPr>
      <p:sp>
        <p:nvSpPr>
          <p:cNvPr id="858" name="Google Shape;858;p37"/>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7"/>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Prática 3: medir um comando</a:t>
            </a:r>
            <a:endParaRPr b="0" i="0" sz="3200" u="none" cap="none" strike="noStrike">
              <a:solidFill>
                <a:schemeClr val="dk1"/>
              </a:solidFill>
              <a:latin typeface="Arial"/>
              <a:ea typeface="Arial"/>
              <a:cs typeface="Arial"/>
              <a:sym typeface="Arial"/>
            </a:endParaRPr>
          </a:p>
        </p:txBody>
      </p:sp>
      <p:sp>
        <p:nvSpPr>
          <p:cNvPr id="860" name="Google Shape;860;p37"/>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time e perf stat</a:t>
            </a:r>
            <a:endParaRPr b="0" i="0" sz="1450" u="none" cap="none" strike="noStrike">
              <a:solidFill>
                <a:schemeClr val="dk1"/>
              </a:solidFill>
              <a:latin typeface="Arial"/>
              <a:ea typeface="Arial"/>
              <a:cs typeface="Arial"/>
              <a:sym typeface="Arial"/>
            </a:endParaRPr>
          </a:p>
        </p:txBody>
      </p:sp>
      <p:sp>
        <p:nvSpPr>
          <p:cNvPr id="861" name="Google Shape;861;p37"/>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Para medir uma tarefa específica, use /usr/bin/time -v e perf stat. O primeiro informa tempo e recursos usados; o segundo mostra eventos de desempenho, como ciclos e instruções. Execute o mesmo comando várias vezes e compare média, variação e possíveis diferenças.</a:t>
            </a:r>
            <a:endParaRPr b="0" i="0" sz="2400" u="none" cap="none" strike="noStrike">
              <a:solidFill>
                <a:schemeClr val="dk1"/>
              </a:solidFill>
              <a:latin typeface="Arial"/>
              <a:ea typeface="Arial"/>
              <a:cs typeface="Arial"/>
              <a:sym typeface="Arial"/>
            </a:endParaRPr>
          </a:p>
        </p:txBody>
      </p:sp>
      <p:sp>
        <p:nvSpPr>
          <p:cNvPr id="862" name="Google Shape;862;p37">
            <a:hlinkClick r:id="rId3"/>
          </p:cNvPr>
          <p:cNvSpPr/>
          <p:nvPr/>
        </p:nvSpPr>
        <p:spPr>
          <a:xfrm>
            <a:off x="612648" y="5577840"/>
            <a:ext cx="6446520" cy="4114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E88E5"/>
              </a:buClr>
              <a:buSzPts val="1150"/>
              <a:buFont typeface="Arial"/>
              <a:buNone/>
            </a:pPr>
            <a:r>
              <a:rPr b="0" i="0" lang="en-US" sz="1150" u="sng" cap="none" strike="noStrike">
                <a:solidFill>
                  <a:srgbClr val="1E88E5"/>
                </a:solidFill>
                <a:latin typeface="Arial"/>
                <a:ea typeface="Arial"/>
                <a:cs typeface="Arial"/>
                <a:sym typeface="Arial"/>
                <a:hlinkClick r:id="rId4">
                  <a:extLst>
                    <a:ext uri="{A12FA001-AC4F-418D-AE19-62706E023703}">
                      <ahyp:hlinkClr val="tx"/>
                    </a:ext>
                  </a:extLst>
                </a:hlinkClick>
              </a:rPr>
              <a:t>Recurso sugerido: https://man7.org/linux/man-pages/man1/time.1.html</a:t>
            </a:r>
            <a:endParaRPr b="0" i="0" sz="1150" u="none" cap="none" strike="noStrike">
              <a:solidFill>
                <a:schemeClr val="dk1"/>
              </a:solidFill>
              <a:latin typeface="Arial"/>
              <a:ea typeface="Arial"/>
              <a:cs typeface="Arial"/>
              <a:sym typeface="Arial"/>
            </a:endParaRPr>
          </a:p>
        </p:txBody>
      </p:sp>
      <p:sp>
        <p:nvSpPr>
          <p:cNvPr id="863" name="Google Shape;863;p37"/>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37"/>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Medir comando ajuda a isolar o teste.</a:t>
            </a:r>
            <a:endParaRPr b="0" i="0" sz="1050" u="none" cap="none" strike="noStrike">
              <a:solidFill>
                <a:schemeClr val="dk1"/>
              </a:solidFill>
              <a:latin typeface="Arial"/>
              <a:ea typeface="Arial"/>
              <a:cs typeface="Arial"/>
              <a:sym typeface="Arial"/>
            </a:endParaRPr>
          </a:p>
        </p:txBody>
      </p:sp>
      <p:sp>
        <p:nvSpPr>
          <p:cNvPr id="865" name="Google Shape;865;p37"/>
          <p:cNvSpPr/>
          <p:nvPr/>
        </p:nvSpPr>
        <p:spPr>
          <a:xfrm>
            <a:off x="8138160" y="1645920"/>
            <a:ext cx="1325880"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37"/>
          <p:cNvSpPr/>
          <p:nvPr/>
        </p:nvSpPr>
        <p:spPr>
          <a:xfrm>
            <a:off x="8211312" y="1810512"/>
            <a:ext cx="11795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200"/>
              <a:buFont typeface="Arial"/>
              <a:buNone/>
            </a:pPr>
            <a:r>
              <a:rPr b="1" i="0" lang="en-US" sz="1200" u="none" cap="none" strike="noStrike">
                <a:solidFill>
                  <a:srgbClr val="1E88E5"/>
                </a:solidFill>
                <a:latin typeface="Arial"/>
                <a:ea typeface="Arial"/>
                <a:cs typeface="Arial"/>
                <a:sym typeface="Arial"/>
              </a:rPr>
              <a:t>top / htop</a:t>
            </a:r>
            <a:endParaRPr b="0" i="0" sz="1200" u="none" cap="none" strike="noStrike">
              <a:solidFill>
                <a:schemeClr val="dk1"/>
              </a:solidFill>
              <a:latin typeface="Arial"/>
              <a:ea typeface="Arial"/>
              <a:cs typeface="Arial"/>
              <a:sym typeface="Arial"/>
            </a:endParaRPr>
          </a:p>
        </p:txBody>
      </p:sp>
      <p:sp>
        <p:nvSpPr>
          <p:cNvPr id="867" name="Google Shape;867;p37"/>
          <p:cNvSpPr/>
          <p:nvPr/>
        </p:nvSpPr>
        <p:spPr>
          <a:xfrm>
            <a:off x="9784080" y="1645920"/>
            <a:ext cx="1325880"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37"/>
          <p:cNvSpPr/>
          <p:nvPr/>
        </p:nvSpPr>
        <p:spPr>
          <a:xfrm>
            <a:off x="9857232" y="1810512"/>
            <a:ext cx="11795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200"/>
              <a:buFont typeface="Arial"/>
              <a:buNone/>
            </a:pPr>
            <a:r>
              <a:rPr b="1" i="0" lang="en-US" sz="1200" u="none" cap="none" strike="noStrike">
                <a:solidFill>
                  <a:srgbClr val="1E88E5"/>
                </a:solidFill>
                <a:latin typeface="Arial"/>
                <a:ea typeface="Arial"/>
                <a:cs typeface="Arial"/>
                <a:sym typeface="Arial"/>
              </a:rPr>
              <a:t>vmstat</a:t>
            </a:r>
            <a:endParaRPr b="0" i="0" sz="1200" u="none" cap="none" strike="noStrike">
              <a:solidFill>
                <a:schemeClr val="dk1"/>
              </a:solidFill>
              <a:latin typeface="Arial"/>
              <a:ea typeface="Arial"/>
              <a:cs typeface="Arial"/>
              <a:sym typeface="Arial"/>
            </a:endParaRPr>
          </a:p>
        </p:txBody>
      </p:sp>
      <p:sp>
        <p:nvSpPr>
          <p:cNvPr id="869" name="Google Shape;869;p37"/>
          <p:cNvSpPr/>
          <p:nvPr/>
        </p:nvSpPr>
        <p:spPr>
          <a:xfrm>
            <a:off x="8138160" y="2651760"/>
            <a:ext cx="1325880"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7"/>
          <p:cNvSpPr/>
          <p:nvPr/>
        </p:nvSpPr>
        <p:spPr>
          <a:xfrm>
            <a:off x="8211312" y="2816352"/>
            <a:ext cx="11795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1200"/>
              <a:buFont typeface="Arial"/>
              <a:buNone/>
            </a:pPr>
            <a:r>
              <a:rPr b="1" i="0" lang="en-US" sz="1200" u="none" cap="none" strike="noStrike">
                <a:solidFill>
                  <a:srgbClr val="2E7D32"/>
                </a:solidFill>
                <a:latin typeface="Arial"/>
                <a:ea typeface="Arial"/>
                <a:cs typeface="Arial"/>
                <a:sym typeface="Arial"/>
              </a:rPr>
              <a:t>iostat</a:t>
            </a:r>
            <a:endParaRPr b="0" i="0" sz="1200" u="none" cap="none" strike="noStrike">
              <a:solidFill>
                <a:schemeClr val="dk1"/>
              </a:solidFill>
              <a:latin typeface="Arial"/>
              <a:ea typeface="Arial"/>
              <a:cs typeface="Arial"/>
              <a:sym typeface="Arial"/>
            </a:endParaRPr>
          </a:p>
        </p:txBody>
      </p:sp>
      <p:sp>
        <p:nvSpPr>
          <p:cNvPr id="871" name="Google Shape;871;p37"/>
          <p:cNvSpPr/>
          <p:nvPr/>
        </p:nvSpPr>
        <p:spPr>
          <a:xfrm>
            <a:off x="9784080" y="2651760"/>
            <a:ext cx="1325880"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37"/>
          <p:cNvSpPr/>
          <p:nvPr/>
        </p:nvSpPr>
        <p:spPr>
          <a:xfrm>
            <a:off x="9857232" y="2816352"/>
            <a:ext cx="11795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1200"/>
              <a:buFont typeface="Arial"/>
              <a:buNone/>
            </a:pPr>
            <a:r>
              <a:rPr b="1" i="0" lang="en-US" sz="1200" u="none" cap="none" strike="noStrike">
                <a:solidFill>
                  <a:srgbClr val="2E7D32"/>
                </a:solidFill>
                <a:latin typeface="Arial"/>
                <a:ea typeface="Arial"/>
                <a:cs typeface="Arial"/>
                <a:sym typeface="Arial"/>
              </a:rPr>
              <a:t>perf</a:t>
            </a:r>
            <a:endParaRPr b="0" i="0" sz="1200" u="none" cap="none" strike="noStrike">
              <a:solidFill>
                <a:schemeClr val="dk1"/>
              </a:solidFill>
              <a:latin typeface="Arial"/>
              <a:ea typeface="Arial"/>
              <a:cs typeface="Arial"/>
              <a:sym typeface="Arial"/>
            </a:endParaRPr>
          </a:p>
        </p:txBody>
      </p:sp>
      <p:sp>
        <p:nvSpPr>
          <p:cNvPr id="873" name="Google Shape;873;p37"/>
          <p:cNvSpPr/>
          <p:nvPr/>
        </p:nvSpPr>
        <p:spPr>
          <a:xfrm>
            <a:off x="8961120" y="3657600"/>
            <a:ext cx="1325880" cy="530352"/>
          </a:xfrm>
          <a:prstGeom prst="roundRect">
            <a:avLst>
              <a:gd fmla="val 20690" name="adj"/>
            </a:avLst>
          </a:prstGeom>
          <a:solidFill>
            <a:srgbClr val="FFF3F3"/>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37"/>
          <p:cNvSpPr/>
          <p:nvPr/>
        </p:nvSpPr>
        <p:spPr>
          <a:xfrm>
            <a:off x="9034272" y="3822192"/>
            <a:ext cx="11795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62828"/>
              </a:buClr>
              <a:buSzPts val="1200"/>
              <a:buFont typeface="Arial"/>
              <a:buNone/>
            </a:pPr>
            <a:r>
              <a:rPr b="1" i="0" lang="en-US" sz="1200" u="none" cap="none" strike="noStrike">
                <a:solidFill>
                  <a:srgbClr val="C62828"/>
                </a:solidFill>
                <a:latin typeface="Arial"/>
                <a:ea typeface="Arial"/>
                <a:cs typeface="Arial"/>
                <a:sym typeface="Arial"/>
              </a:rPr>
              <a:t>relatório</a:t>
            </a:r>
            <a:endParaRPr b="0" i="0" sz="1200" u="none" cap="none" strike="noStrike">
              <a:solidFill>
                <a:schemeClr val="dk1"/>
              </a:solidFill>
              <a:latin typeface="Arial"/>
              <a:ea typeface="Arial"/>
              <a:cs typeface="Arial"/>
              <a:sym typeface="Arial"/>
            </a:endParaRPr>
          </a:p>
        </p:txBody>
      </p:sp>
      <p:cxnSp>
        <p:nvCxnSpPr>
          <p:cNvPr id="875" name="Google Shape;875;p37"/>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876" name="Google Shape;876;p37"/>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37</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881" name="Shape 881"/>
        <p:cNvGrpSpPr/>
        <p:nvPr/>
      </p:nvGrpSpPr>
      <p:grpSpPr>
        <a:xfrm>
          <a:off x="0" y="0"/>
          <a:ext cx="0" cy="0"/>
          <a:chOff x="0" y="0"/>
          <a:chExt cx="0" cy="0"/>
        </a:xfrm>
      </p:grpSpPr>
      <p:sp>
        <p:nvSpPr>
          <p:cNvPr id="882" name="Google Shape;882;p38"/>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38"/>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Prática 4: análise no Windows</a:t>
            </a:r>
            <a:endParaRPr b="0" i="0" sz="3200" u="none" cap="none" strike="noStrike">
              <a:solidFill>
                <a:schemeClr val="dk1"/>
              </a:solidFill>
              <a:latin typeface="Arial"/>
              <a:ea typeface="Arial"/>
              <a:cs typeface="Arial"/>
              <a:sym typeface="Arial"/>
            </a:endParaRPr>
          </a:p>
        </p:txBody>
      </p:sp>
      <p:sp>
        <p:nvSpPr>
          <p:cNvPr id="884" name="Google Shape;884;p38"/>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Monitor de Recursos e WPA</a:t>
            </a:r>
            <a:endParaRPr b="0" i="0" sz="1450" u="none" cap="none" strike="noStrike">
              <a:solidFill>
                <a:schemeClr val="dk1"/>
              </a:solidFill>
              <a:latin typeface="Arial"/>
              <a:ea typeface="Arial"/>
              <a:cs typeface="Arial"/>
              <a:sym typeface="Arial"/>
            </a:endParaRPr>
          </a:p>
        </p:txBody>
      </p:sp>
      <p:sp>
        <p:nvSpPr>
          <p:cNvPr id="885" name="Google Shape;885;p38"/>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No Windows, inicie pelo Gerenciador de Tarefas e Monitor de Recursos para localizar processos com uso elevado. Para análise avançada, use Windows Performance Recorder para capturar eventos e Windows Performance Analyzer para observar gráficos de CPU, disco, inicialização e chamadas relevantes.</a:t>
            </a:r>
            <a:endParaRPr b="0" i="0" sz="2400" u="none" cap="none" strike="noStrike">
              <a:solidFill>
                <a:schemeClr val="dk1"/>
              </a:solidFill>
              <a:latin typeface="Arial"/>
              <a:ea typeface="Arial"/>
              <a:cs typeface="Arial"/>
              <a:sym typeface="Arial"/>
            </a:endParaRPr>
          </a:p>
        </p:txBody>
      </p:sp>
      <p:sp>
        <p:nvSpPr>
          <p:cNvPr id="886" name="Google Shape;886;p38">
            <a:hlinkClick r:id="rId3"/>
          </p:cNvPr>
          <p:cNvSpPr/>
          <p:nvPr/>
        </p:nvSpPr>
        <p:spPr>
          <a:xfrm>
            <a:off x="612648" y="5577840"/>
            <a:ext cx="6446520" cy="4114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E88E5"/>
              </a:buClr>
              <a:buSzPts val="1150"/>
              <a:buFont typeface="Arial"/>
              <a:buNone/>
            </a:pPr>
            <a:r>
              <a:rPr b="0" i="0" lang="en-US" sz="1150" u="sng" cap="none" strike="noStrike">
                <a:solidFill>
                  <a:srgbClr val="1E88E5"/>
                </a:solidFill>
                <a:latin typeface="Arial"/>
                <a:ea typeface="Arial"/>
                <a:cs typeface="Arial"/>
                <a:sym typeface="Arial"/>
                <a:hlinkClick r:id="rId4">
                  <a:extLst>
                    <a:ext uri="{A12FA001-AC4F-418D-AE19-62706E023703}">
                      <ahyp:hlinkClr val="tx"/>
                    </a:ext>
                  </a:extLst>
                </a:hlinkClick>
              </a:rPr>
              <a:t>Recurso sugerido: https://learn.microsoft.com/en-us/windows-hardware/test/wpt/windows-performance-analyzer</a:t>
            </a:r>
            <a:endParaRPr b="0" i="0" sz="1150" u="none" cap="none" strike="noStrike">
              <a:solidFill>
                <a:schemeClr val="dk1"/>
              </a:solidFill>
              <a:latin typeface="Arial"/>
              <a:ea typeface="Arial"/>
              <a:cs typeface="Arial"/>
              <a:sym typeface="Arial"/>
            </a:endParaRPr>
          </a:p>
        </p:txBody>
      </p:sp>
      <p:sp>
        <p:nvSpPr>
          <p:cNvPr id="887" name="Google Shape;887;p38"/>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38"/>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Ferramentas oficiais permitem rastrear eventos.</a:t>
            </a:r>
            <a:endParaRPr b="0" i="0" sz="1050" u="none" cap="none" strike="noStrike">
              <a:solidFill>
                <a:schemeClr val="dk1"/>
              </a:solidFill>
              <a:latin typeface="Arial"/>
              <a:ea typeface="Arial"/>
              <a:cs typeface="Arial"/>
              <a:sym typeface="Arial"/>
            </a:endParaRPr>
          </a:p>
        </p:txBody>
      </p:sp>
      <p:sp>
        <p:nvSpPr>
          <p:cNvPr id="889" name="Google Shape;889;p38"/>
          <p:cNvSpPr/>
          <p:nvPr/>
        </p:nvSpPr>
        <p:spPr>
          <a:xfrm>
            <a:off x="7955280" y="1764792"/>
            <a:ext cx="3337560"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38"/>
          <p:cNvSpPr/>
          <p:nvPr/>
        </p:nvSpPr>
        <p:spPr>
          <a:xfrm>
            <a:off x="8028432" y="1929384"/>
            <a:ext cx="319125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1200"/>
              <a:buFont typeface="Arial"/>
              <a:buNone/>
            </a:pPr>
            <a:r>
              <a:rPr b="1" i="0" lang="en-US" sz="1200" u="none" cap="none" strike="noStrike">
                <a:solidFill>
                  <a:srgbClr val="1E88E5"/>
                </a:solidFill>
                <a:latin typeface="Arial"/>
                <a:ea typeface="Arial"/>
                <a:cs typeface="Arial"/>
                <a:sym typeface="Arial"/>
              </a:rPr>
              <a:t>WPR grava eventos ETW</a:t>
            </a:r>
            <a:endParaRPr b="0" i="0" sz="1200" u="none" cap="none" strike="noStrike">
              <a:solidFill>
                <a:schemeClr val="dk1"/>
              </a:solidFill>
              <a:latin typeface="Arial"/>
              <a:ea typeface="Arial"/>
              <a:cs typeface="Arial"/>
              <a:sym typeface="Arial"/>
            </a:endParaRPr>
          </a:p>
        </p:txBody>
      </p:sp>
      <p:cxnSp>
        <p:nvCxnSpPr>
          <p:cNvPr id="891" name="Google Shape;891;p38"/>
          <p:cNvCxnSpPr/>
          <p:nvPr/>
        </p:nvCxnSpPr>
        <p:spPr>
          <a:xfrm>
            <a:off x="9619488" y="2313432"/>
            <a:ext cx="0" cy="548640"/>
          </a:xfrm>
          <a:prstGeom prst="straightConnector1">
            <a:avLst/>
          </a:prstGeom>
          <a:noFill/>
          <a:ln cap="flat" cmpd="sng" w="12700">
            <a:solidFill>
              <a:srgbClr val="1E88E5"/>
            </a:solidFill>
            <a:prstDash val="solid"/>
            <a:round/>
            <a:headEnd len="sm" w="sm" type="none"/>
            <a:tailEnd len="med" w="med" type="triangle"/>
          </a:ln>
        </p:spPr>
      </p:cxnSp>
      <p:sp>
        <p:nvSpPr>
          <p:cNvPr id="892" name="Google Shape;892;p38"/>
          <p:cNvSpPr/>
          <p:nvPr/>
        </p:nvSpPr>
        <p:spPr>
          <a:xfrm>
            <a:off x="7955280" y="2889504"/>
            <a:ext cx="3337560"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38"/>
          <p:cNvSpPr/>
          <p:nvPr/>
        </p:nvSpPr>
        <p:spPr>
          <a:xfrm>
            <a:off x="8028432" y="3054096"/>
            <a:ext cx="319125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1200"/>
              <a:buFont typeface="Arial"/>
              <a:buNone/>
            </a:pPr>
            <a:r>
              <a:rPr b="1" i="0" lang="en-US" sz="1200" u="none" cap="none" strike="noStrike">
                <a:solidFill>
                  <a:srgbClr val="2E7D32"/>
                </a:solidFill>
                <a:latin typeface="Arial"/>
                <a:ea typeface="Arial"/>
                <a:cs typeface="Arial"/>
                <a:sym typeface="Arial"/>
              </a:rPr>
              <a:t>WPA analisa gráficos e tabelas</a:t>
            </a:r>
            <a:endParaRPr b="0" i="0" sz="1200" u="none" cap="none" strike="noStrike">
              <a:solidFill>
                <a:schemeClr val="dk1"/>
              </a:solidFill>
              <a:latin typeface="Arial"/>
              <a:ea typeface="Arial"/>
              <a:cs typeface="Arial"/>
              <a:sym typeface="Arial"/>
            </a:endParaRPr>
          </a:p>
        </p:txBody>
      </p:sp>
      <p:cxnSp>
        <p:nvCxnSpPr>
          <p:cNvPr id="894" name="Google Shape;894;p38"/>
          <p:cNvCxnSpPr/>
          <p:nvPr/>
        </p:nvCxnSpPr>
        <p:spPr>
          <a:xfrm>
            <a:off x="9619488" y="3456432"/>
            <a:ext cx="0" cy="530352"/>
          </a:xfrm>
          <a:prstGeom prst="straightConnector1">
            <a:avLst/>
          </a:prstGeom>
          <a:noFill/>
          <a:ln cap="flat" cmpd="sng" w="12700">
            <a:solidFill>
              <a:srgbClr val="1E88E5"/>
            </a:solidFill>
            <a:prstDash val="solid"/>
            <a:round/>
            <a:headEnd len="sm" w="sm" type="none"/>
            <a:tailEnd len="med" w="med" type="triangle"/>
          </a:ln>
        </p:spPr>
      </p:cxnSp>
      <p:sp>
        <p:nvSpPr>
          <p:cNvPr id="895" name="Google Shape;895;p38"/>
          <p:cNvSpPr/>
          <p:nvPr/>
        </p:nvSpPr>
        <p:spPr>
          <a:xfrm>
            <a:off x="7955280" y="4005072"/>
            <a:ext cx="3337560" cy="530352"/>
          </a:xfrm>
          <a:prstGeom prst="roundRect">
            <a:avLst>
              <a:gd fmla="val 20690" name="adj"/>
            </a:avLst>
          </a:prstGeom>
          <a:solidFill>
            <a:srgbClr val="FFF3F3"/>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8"/>
          <p:cNvSpPr/>
          <p:nvPr/>
        </p:nvSpPr>
        <p:spPr>
          <a:xfrm>
            <a:off x="8028432" y="4169664"/>
            <a:ext cx="319125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62828"/>
              </a:buClr>
              <a:buSzPts val="1200"/>
              <a:buFont typeface="Arial"/>
              <a:buNone/>
            </a:pPr>
            <a:r>
              <a:rPr b="1" i="0" lang="en-US" sz="1200" u="none" cap="none" strike="noStrike">
                <a:solidFill>
                  <a:srgbClr val="C62828"/>
                </a:solidFill>
                <a:latin typeface="Arial"/>
                <a:ea typeface="Arial"/>
                <a:cs typeface="Arial"/>
                <a:sym typeface="Arial"/>
              </a:rPr>
              <a:t>Diagnóstico do gargalo</a:t>
            </a:r>
            <a:endParaRPr b="0" i="0" sz="1200" u="none" cap="none" strike="noStrike">
              <a:solidFill>
                <a:schemeClr val="dk1"/>
              </a:solidFill>
              <a:latin typeface="Arial"/>
              <a:ea typeface="Arial"/>
              <a:cs typeface="Arial"/>
              <a:sym typeface="Arial"/>
            </a:endParaRPr>
          </a:p>
        </p:txBody>
      </p:sp>
      <p:cxnSp>
        <p:nvCxnSpPr>
          <p:cNvPr id="897" name="Google Shape;897;p38"/>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898" name="Google Shape;898;p38"/>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38</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903" name="Shape 903"/>
        <p:cNvGrpSpPr/>
        <p:nvPr/>
      </p:nvGrpSpPr>
      <p:grpSpPr>
        <a:xfrm>
          <a:off x="0" y="0"/>
          <a:ext cx="0" cy="0"/>
          <a:chOff x="0" y="0"/>
          <a:chExt cx="0" cy="0"/>
        </a:xfrm>
      </p:grpSpPr>
      <p:sp>
        <p:nvSpPr>
          <p:cNvPr id="904" name="Google Shape;904;p39"/>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9"/>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Como escrever o relatório</a:t>
            </a:r>
            <a:endParaRPr b="0" i="0" sz="3200" u="none" cap="none" strike="noStrike">
              <a:solidFill>
                <a:schemeClr val="dk1"/>
              </a:solidFill>
              <a:latin typeface="Arial"/>
              <a:ea typeface="Arial"/>
              <a:cs typeface="Arial"/>
              <a:sym typeface="Arial"/>
            </a:endParaRPr>
          </a:p>
        </p:txBody>
      </p:sp>
      <p:sp>
        <p:nvSpPr>
          <p:cNvPr id="906" name="Google Shape;906;p39"/>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Da coleta à recomendação</a:t>
            </a:r>
            <a:endParaRPr b="0" i="0" sz="1450" u="none" cap="none" strike="noStrike">
              <a:solidFill>
                <a:schemeClr val="dk1"/>
              </a:solidFill>
              <a:latin typeface="Arial"/>
              <a:ea typeface="Arial"/>
              <a:cs typeface="Arial"/>
              <a:sym typeface="Arial"/>
            </a:endParaRPr>
          </a:p>
        </p:txBody>
      </p:sp>
      <p:sp>
        <p:nvSpPr>
          <p:cNvPr id="907" name="Google Shape;907;p39"/>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Um relatório técnico deve apresentar objetivo, ambiente, metodologia, carga de trabalho, ferramentas, resultados, gráficos, interpretação, limitações e recomendações. O leitor precisa entender o que foi feito, por que foi feito e quais evidências sustentam a conclusão apresentada.</a:t>
            </a:r>
            <a:endParaRPr b="0" i="0" sz="2400" u="none" cap="none" strike="noStrike">
              <a:solidFill>
                <a:schemeClr val="dk1"/>
              </a:solidFill>
              <a:latin typeface="Arial"/>
              <a:ea typeface="Arial"/>
              <a:cs typeface="Arial"/>
              <a:sym typeface="Arial"/>
            </a:endParaRPr>
          </a:p>
        </p:txBody>
      </p:sp>
      <p:sp>
        <p:nvSpPr>
          <p:cNvPr id="908" name="Google Shape;908;p39"/>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39"/>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Relatório bom permite reprodução.</a:t>
            </a:r>
            <a:endParaRPr b="0" i="0" sz="1050" u="none" cap="none" strike="noStrike">
              <a:solidFill>
                <a:schemeClr val="dk1"/>
              </a:solidFill>
              <a:latin typeface="Arial"/>
              <a:ea typeface="Arial"/>
              <a:cs typeface="Arial"/>
              <a:sym typeface="Arial"/>
            </a:endParaRPr>
          </a:p>
        </p:txBody>
      </p:sp>
      <p:sp>
        <p:nvSpPr>
          <p:cNvPr id="910" name="Google Shape;910;p39"/>
          <p:cNvSpPr/>
          <p:nvPr/>
        </p:nvSpPr>
        <p:spPr>
          <a:xfrm>
            <a:off x="8138160" y="176479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39"/>
          <p:cNvSpPr/>
          <p:nvPr/>
        </p:nvSpPr>
        <p:spPr>
          <a:xfrm>
            <a:off x="8138160" y="179222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912" name="Google Shape;912;p39"/>
          <p:cNvSpPr/>
          <p:nvPr/>
        </p:nvSpPr>
        <p:spPr>
          <a:xfrm>
            <a:off x="8549640" y="179222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Métrica certa</a:t>
            </a:r>
            <a:endParaRPr b="0" i="0" sz="1250" u="none" cap="none" strike="noStrike">
              <a:solidFill>
                <a:schemeClr val="dk1"/>
              </a:solidFill>
              <a:latin typeface="Arial"/>
              <a:ea typeface="Arial"/>
              <a:cs typeface="Arial"/>
              <a:sym typeface="Arial"/>
            </a:endParaRPr>
          </a:p>
        </p:txBody>
      </p:sp>
      <p:sp>
        <p:nvSpPr>
          <p:cNvPr id="913" name="Google Shape;913;p39"/>
          <p:cNvSpPr/>
          <p:nvPr/>
        </p:nvSpPr>
        <p:spPr>
          <a:xfrm>
            <a:off x="8138160" y="249631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39"/>
          <p:cNvSpPr/>
          <p:nvPr/>
        </p:nvSpPr>
        <p:spPr>
          <a:xfrm>
            <a:off x="8138160" y="252374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915" name="Google Shape;915;p39"/>
          <p:cNvSpPr/>
          <p:nvPr/>
        </p:nvSpPr>
        <p:spPr>
          <a:xfrm>
            <a:off x="8549640" y="252374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Ambiente controlado</a:t>
            </a:r>
            <a:endParaRPr b="0" i="0" sz="1250" u="none" cap="none" strike="noStrike">
              <a:solidFill>
                <a:schemeClr val="dk1"/>
              </a:solidFill>
              <a:latin typeface="Arial"/>
              <a:ea typeface="Arial"/>
              <a:cs typeface="Arial"/>
              <a:sym typeface="Arial"/>
            </a:endParaRPr>
          </a:p>
        </p:txBody>
      </p:sp>
      <p:sp>
        <p:nvSpPr>
          <p:cNvPr id="916" name="Google Shape;916;p39"/>
          <p:cNvSpPr/>
          <p:nvPr/>
        </p:nvSpPr>
        <p:spPr>
          <a:xfrm>
            <a:off x="8138160" y="322783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9"/>
          <p:cNvSpPr/>
          <p:nvPr/>
        </p:nvSpPr>
        <p:spPr>
          <a:xfrm>
            <a:off x="8138160" y="325526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918" name="Google Shape;918;p39"/>
          <p:cNvSpPr/>
          <p:nvPr/>
        </p:nvSpPr>
        <p:spPr>
          <a:xfrm>
            <a:off x="8549640" y="325526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Amostras suficientes</a:t>
            </a:r>
            <a:endParaRPr b="0" i="0" sz="1250" u="none" cap="none" strike="noStrike">
              <a:solidFill>
                <a:schemeClr val="dk1"/>
              </a:solidFill>
              <a:latin typeface="Arial"/>
              <a:ea typeface="Arial"/>
              <a:cs typeface="Arial"/>
              <a:sym typeface="Arial"/>
            </a:endParaRPr>
          </a:p>
        </p:txBody>
      </p:sp>
      <p:sp>
        <p:nvSpPr>
          <p:cNvPr id="919" name="Google Shape;919;p39"/>
          <p:cNvSpPr/>
          <p:nvPr/>
        </p:nvSpPr>
        <p:spPr>
          <a:xfrm>
            <a:off x="8138160" y="395935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9"/>
          <p:cNvSpPr/>
          <p:nvPr/>
        </p:nvSpPr>
        <p:spPr>
          <a:xfrm>
            <a:off x="8138160" y="398678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921" name="Google Shape;921;p39"/>
          <p:cNvSpPr/>
          <p:nvPr/>
        </p:nvSpPr>
        <p:spPr>
          <a:xfrm>
            <a:off x="8549640" y="398678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Conclusão sustentada</a:t>
            </a:r>
            <a:endParaRPr b="0" i="0" sz="1250" u="none" cap="none" strike="noStrike">
              <a:solidFill>
                <a:schemeClr val="dk1"/>
              </a:solidFill>
              <a:latin typeface="Arial"/>
              <a:ea typeface="Arial"/>
              <a:cs typeface="Arial"/>
              <a:sym typeface="Arial"/>
            </a:endParaRPr>
          </a:p>
        </p:txBody>
      </p:sp>
      <p:cxnSp>
        <p:nvCxnSpPr>
          <p:cNvPr id="922" name="Google Shape;922;p39"/>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923" name="Google Shape;923;p39"/>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39</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928" name="Shape 928"/>
        <p:cNvGrpSpPr/>
        <p:nvPr/>
      </p:nvGrpSpPr>
      <p:grpSpPr>
        <a:xfrm>
          <a:off x="0" y="0"/>
          <a:ext cx="0" cy="0"/>
          <a:chOff x="0" y="0"/>
          <a:chExt cx="0" cy="0"/>
        </a:xfrm>
      </p:grpSpPr>
      <p:sp>
        <p:nvSpPr>
          <p:cNvPr id="929" name="Google Shape;929;p40"/>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40"/>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Erros comuns na avaliação</a:t>
            </a:r>
            <a:endParaRPr b="0" i="0" sz="3200" u="none" cap="none" strike="noStrike">
              <a:solidFill>
                <a:schemeClr val="dk1"/>
              </a:solidFill>
              <a:latin typeface="Arial"/>
              <a:ea typeface="Arial"/>
              <a:cs typeface="Arial"/>
              <a:sym typeface="Arial"/>
            </a:endParaRPr>
          </a:p>
        </p:txBody>
      </p:sp>
      <p:sp>
        <p:nvSpPr>
          <p:cNvPr id="931" name="Google Shape;931;p40"/>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O que evitar nos experimentos</a:t>
            </a:r>
            <a:endParaRPr b="0" i="0" sz="1450" u="none" cap="none" strike="noStrike">
              <a:solidFill>
                <a:schemeClr val="dk1"/>
              </a:solidFill>
              <a:latin typeface="Arial"/>
              <a:ea typeface="Arial"/>
              <a:cs typeface="Arial"/>
              <a:sym typeface="Arial"/>
            </a:endParaRPr>
          </a:p>
        </p:txBody>
      </p:sp>
      <p:sp>
        <p:nvSpPr>
          <p:cNvPr id="932" name="Google Shape;932;p40"/>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Entre os erros comuns estão medir apenas uma vez, trocar muitos fatores simultaneamente, usar carga irreal, ignorar processos em segundo plano, comparar máquinas diferentes sem controle, confundir correlação com causa e apresentar médias sem discutir variação ou limitações.</a:t>
            </a:r>
            <a:endParaRPr b="0" i="0" sz="2400" u="none" cap="none" strike="noStrike">
              <a:solidFill>
                <a:schemeClr val="dk1"/>
              </a:solidFill>
              <a:latin typeface="Arial"/>
              <a:ea typeface="Arial"/>
              <a:cs typeface="Arial"/>
              <a:sym typeface="Arial"/>
            </a:endParaRPr>
          </a:p>
        </p:txBody>
      </p:sp>
      <p:sp>
        <p:nvSpPr>
          <p:cNvPr id="933" name="Google Shape;933;p40"/>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40"/>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Evitar erros melhora a qualidade da conclusão.</a:t>
            </a:r>
            <a:endParaRPr b="0" i="0" sz="1050" u="none" cap="none" strike="noStrike">
              <a:solidFill>
                <a:schemeClr val="dk1"/>
              </a:solidFill>
              <a:latin typeface="Arial"/>
              <a:ea typeface="Arial"/>
              <a:cs typeface="Arial"/>
              <a:sym typeface="Arial"/>
            </a:endParaRPr>
          </a:p>
        </p:txBody>
      </p:sp>
      <p:sp>
        <p:nvSpPr>
          <p:cNvPr id="935" name="Google Shape;935;p40"/>
          <p:cNvSpPr/>
          <p:nvPr/>
        </p:nvSpPr>
        <p:spPr>
          <a:xfrm>
            <a:off x="8138160" y="176479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40"/>
          <p:cNvSpPr/>
          <p:nvPr/>
        </p:nvSpPr>
        <p:spPr>
          <a:xfrm>
            <a:off x="8138160" y="179222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937" name="Google Shape;937;p40"/>
          <p:cNvSpPr/>
          <p:nvPr/>
        </p:nvSpPr>
        <p:spPr>
          <a:xfrm>
            <a:off x="8549640" y="179222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Métrica certa</a:t>
            </a:r>
            <a:endParaRPr b="0" i="0" sz="1250" u="none" cap="none" strike="noStrike">
              <a:solidFill>
                <a:schemeClr val="dk1"/>
              </a:solidFill>
              <a:latin typeface="Arial"/>
              <a:ea typeface="Arial"/>
              <a:cs typeface="Arial"/>
              <a:sym typeface="Arial"/>
            </a:endParaRPr>
          </a:p>
        </p:txBody>
      </p:sp>
      <p:sp>
        <p:nvSpPr>
          <p:cNvPr id="938" name="Google Shape;938;p40"/>
          <p:cNvSpPr/>
          <p:nvPr/>
        </p:nvSpPr>
        <p:spPr>
          <a:xfrm>
            <a:off x="8138160" y="249631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40"/>
          <p:cNvSpPr/>
          <p:nvPr/>
        </p:nvSpPr>
        <p:spPr>
          <a:xfrm>
            <a:off x="8138160" y="252374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940" name="Google Shape;940;p40"/>
          <p:cNvSpPr/>
          <p:nvPr/>
        </p:nvSpPr>
        <p:spPr>
          <a:xfrm>
            <a:off x="8549640" y="252374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Ambiente controlado</a:t>
            </a:r>
            <a:endParaRPr b="0" i="0" sz="1250" u="none" cap="none" strike="noStrike">
              <a:solidFill>
                <a:schemeClr val="dk1"/>
              </a:solidFill>
              <a:latin typeface="Arial"/>
              <a:ea typeface="Arial"/>
              <a:cs typeface="Arial"/>
              <a:sym typeface="Arial"/>
            </a:endParaRPr>
          </a:p>
        </p:txBody>
      </p:sp>
      <p:sp>
        <p:nvSpPr>
          <p:cNvPr id="941" name="Google Shape;941;p40"/>
          <p:cNvSpPr/>
          <p:nvPr/>
        </p:nvSpPr>
        <p:spPr>
          <a:xfrm>
            <a:off x="8138160" y="322783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40"/>
          <p:cNvSpPr/>
          <p:nvPr/>
        </p:nvSpPr>
        <p:spPr>
          <a:xfrm>
            <a:off x="8138160" y="325526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943" name="Google Shape;943;p40"/>
          <p:cNvSpPr/>
          <p:nvPr/>
        </p:nvSpPr>
        <p:spPr>
          <a:xfrm>
            <a:off x="8549640" y="325526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Amostras suficientes</a:t>
            </a:r>
            <a:endParaRPr b="0" i="0" sz="1250" u="none" cap="none" strike="noStrike">
              <a:solidFill>
                <a:schemeClr val="dk1"/>
              </a:solidFill>
              <a:latin typeface="Arial"/>
              <a:ea typeface="Arial"/>
              <a:cs typeface="Arial"/>
              <a:sym typeface="Arial"/>
            </a:endParaRPr>
          </a:p>
        </p:txBody>
      </p:sp>
      <p:sp>
        <p:nvSpPr>
          <p:cNvPr id="944" name="Google Shape;944;p40"/>
          <p:cNvSpPr/>
          <p:nvPr/>
        </p:nvSpPr>
        <p:spPr>
          <a:xfrm>
            <a:off x="8138160" y="395935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40"/>
          <p:cNvSpPr/>
          <p:nvPr/>
        </p:nvSpPr>
        <p:spPr>
          <a:xfrm>
            <a:off x="8138160" y="398678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946" name="Google Shape;946;p40"/>
          <p:cNvSpPr/>
          <p:nvPr/>
        </p:nvSpPr>
        <p:spPr>
          <a:xfrm>
            <a:off x="8549640" y="398678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Conclusão sustentada</a:t>
            </a:r>
            <a:endParaRPr b="0" i="0" sz="1250" u="none" cap="none" strike="noStrike">
              <a:solidFill>
                <a:schemeClr val="dk1"/>
              </a:solidFill>
              <a:latin typeface="Arial"/>
              <a:ea typeface="Arial"/>
              <a:cs typeface="Arial"/>
              <a:sym typeface="Arial"/>
            </a:endParaRPr>
          </a:p>
        </p:txBody>
      </p:sp>
      <p:cxnSp>
        <p:nvCxnSpPr>
          <p:cNvPr id="947" name="Google Shape;947;p40"/>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948" name="Google Shape;948;p40"/>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40</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953" name="Shape 953"/>
        <p:cNvGrpSpPr/>
        <p:nvPr/>
      </p:nvGrpSpPr>
      <p:grpSpPr>
        <a:xfrm>
          <a:off x="0" y="0"/>
          <a:ext cx="0" cy="0"/>
          <a:chOff x="0" y="0"/>
          <a:chExt cx="0" cy="0"/>
        </a:xfrm>
      </p:grpSpPr>
      <p:sp>
        <p:nvSpPr>
          <p:cNvPr id="954" name="Google Shape;954;p41"/>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41"/>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Atividade sugerida</a:t>
            </a:r>
            <a:endParaRPr b="0" i="0" sz="3200" u="none" cap="none" strike="noStrike">
              <a:solidFill>
                <a:schemeClr val="dk1"/>
              </a:solidFill>
              <a:latin typeface="Arial"/>
              <a:ea typeface="Arial"/>
              <a:cs typeface="Arial"/>
              <a:sym typeface="Arial"/>
            </a:endParaRPr>
          </a:p>
        </p:txBody>
      </p:sp>
      <p:sp>
        <p:nvSpPr>
          <p:cNvPr id="956" name="Google Shape;956;p41"/>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Miniavaliação de desempenho</a:t>
            </a:r>
            <a:endParaRPr b="0" i="0" sz="1450" u="none" cap="none" strike="noStrike">
              <a:solidFill>
                <a:schemeClr val="dk1"/>
              </a:solidFill>
              <a:latin typeface="Arial"/>
              <a:ea typeface="Arial"/>
              <a:cs typeface="Arial"/>
              <a:sym typeface="Arial"/>
            </a:endParaRPr>
          </a:p>
        </p:txBody>
      </p:sp>
      <p:sp>
        <p:nvSpPr>
          <p:cNvPr id="957" name="Google Shape;957;p41"/>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Em duplas, escolham uma tarefa simples, como compactar arquivo, abrir aplicação, executar benchmark ou copiar dados. Definam uma métrica, façam três medições em estado ocioso e três com carga concorrente. Depois comparem resultados, discutam variação e indiquem o possível gargalo.</a:t>
            </a:r>
            <a:endParaRPr b="0" i="0" sz="2400" u="none" cap="none" strike="noStrike">
              <a:solidFill>
                <a:schemeClr val="dk1"/>
              </a:solidFill>
              <a:latin typeface="Arial"/>
              <a:ea typeface="Arial"/>
              <a:cs typeface="Arial"/>
              <a:sym typeface="Arial"/>
            </a:endParaRPr>
          </a:p>
        </p:txBody>
      </p:sp>
      <p:sp>
        <p:nvSpPr>
          <p:cNvPr id="958" name="Google Shape;958;p41"/>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41"/>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Atividade conecta teoria e prática.</a:t>
            </a:r>
            <a:endParaRPr b="0" i="0" sz="1050" u="none" cap="none" strike="noStrike">
              <a:solidFill>
                <a:schemeClr val="dk1"/>
              </a:solidFill>
              <a:latin typeface="Arial"/>
              <a:ea typeface="Arial"/>
              <a:cs typeface="Arial"/>
              <a:sym typeface="Arial"/>
            </a:endParaRPr>
          </a:p>
        </p:txBody>
      </p:sp>
      <p:sp>
        <p:nvSpPr>
          <p:cNvPr id="960" name="Google Shape;960;p41"/>
          <p:cNvSpPr/>
          <p:nvPr/>
        </p:nvSpPr>
        <p:spPr>
          <a:xfrm>
            <a:off x="7955280" y="2450592"/>
            <a:ext cx="621792"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41"/>
          <p:cNvSpPr/>
          <p:nvPr/>
        </p:nvSpPr>
        <p:spPr>
          <a:xfrm>
            <a:off x="8028432"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850"/>
              <a:buFont typeface="Arial"/>
              <a:buNone/>
            </a:pPr>
            <a:r>
              <a:rPr b="0" i="0" lang="en-US" sz="850" u="none" cap="none" strike="noStrike">
                <a:solidFill>
                  <a:srgbClr val="2E7D32"/>
                </a:solidFill>
                <a:latin typeface="Arial"/>
                <a:ea typeface="Arial"/>
                <a:cs typeface="Arial"/>
                <a:sym typeface="Arial"/>
              </a:rPr>
              <a:t>Hipótese</a:t>
            </a:r>
            <a:endParaRPr b="0" i="0" sz="850" u="none" cap="none" strike="noStrike">
              <a:solidFill>
                <a:schemeClr val="dk1"/>
              </a:solidFill>
              <a:latin typeface="Arial"/>
              <a:ea typeface="Arial"/>
              <a:cs typeface="Arial"/>
              <a:sym typeface="Arial"/>
            </a:endParaRPr>
          </a:p>
        </p:txBody>
      </p:sp>
      <p:cxnSp>
        <p:nvCxnSpPr>
          <p:cNvPr id="962" name="Google Shape;962;p41"/>
          <p:cNvCxnSpPr/>
          <p:nvPr/>
        </p:nvCxnSpPr>
        <p:spPr>
          <a:xfrm>
            <a:off x="8577072" y="2715768"/>
            <a:ext cx="82296" cy="0"/>
          </a:xfrm>
          <a:prstGeom prst="straightConnector1">
            <a:avLst/>
          </a:prstGeom>
          <a:noFill/>
          <a:ln cap="flat" cmpd="sng" w="12700">
            <a:solidFill>
              <a:srgbClr val="1E88E5"/>
            </a:solidFill>
            <a:prstDash val="solid"/>
            <a:round/>
            <a:headEnd len="sm" w="sm" type="none"/>
            <a:tailEnd len="med" w="med" type="triangle"/>
          </a:ln>
        </p:spPr>
      </p:cxnSp>
      <p:sp>
        <p:nvSpPr>
          <p:cNvPr id="963" name="Google Shape;963;p41"/>
          <p:cNvSpPr/>
          <p:nvPr/>
        </p:nvSpPr>
        <p:spPr>
          <a:xfrm>
            <a:off x="8668512" y="2450592"/>
            <a:ext cx="621792"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41"/>
          <p:cNvSpPr/>
          <p:nvPr/>
        </p:nvSpPr>
        <p:spPr>
          <a:xfrm>
            <a:off x="8741664"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850"/>
              <a:buFont typeface="Arial"/>
              <a:buNone/>
            </a:pPr>
            <a:r>
              <a:rPr b="0" i="0" lang="en-US" sz="850" u="none" cap="none" strike="noStrike">
                <a:solidFill>
                  <a:srgbClr val="1E88E5"/>
                </a:solidFill>
                <a:latin typeface="Arial"/>
                <a:ea typeface="Arial"/>
                <a:cs typeface="Arial"/>
                <a:sym typeface="Arial"/>
              </a:rPr>
              <a:t>Carga</a:t>
            </a:r>
            <a:endParaRPr b="0" i="0" sz="850" u="none" cap="none" strike="noStrike">
              <a:solidFill>
                <a:schemeClr val="dk1"/>
              </a:solidFill>
              <a:latin typeface="Arial"/>
              <a:ea typeface="Arial"/>
              <a:cs typeface="Arial"/>
              <a:sym typeface="Arial"/>
            </a:endParaRPr>
          </a:p>
        </p:txBody>
      </p:sp>
      <p:cxnSp>
        <p:nvCxnSpPr>
          <p:cNvPr id="965" name="Google Shape;965;p41"/>
          <p:cNvCxnSpPr/>
          <p:nvPr/>
        </p:nvCxnSpPr>
        <p:spPr>
          <a:xfrm>
            <a:off x="9290304" y="2715768"/>
            <a:ext cx="82296" cy="0"/>
          </a:xfrm>
          <a:prstGeom prst="straightConnector1">
            <a:avLst/>
          </a:prstGeom>
          <a:noFill/>
          <a:ln cap="flat" cmpd="sng" w="12700">
            <a:solidFill>
              <a:srgbClr val="1E88E5"/>
            </a:solidFill>
            <a:prstDash val="solid"/>
            <a:round/>
            <a:headEnd len="sm" w="sm" type="none"/>
            <a:tailEnd len="med" w="med" type="triangle"/>
          </a:ln>
        </p:spPr>
      </p:cxnSp>
      <p:sp>
        <p:nvSpPr>
          <p:cNvPr id="966" name="Google Shape;966;p41"/>
          <p:cNvSpPr/>
          <p:nvPr/>
        </p:nvSpPr>
        <p:spPr>
          <a:xfrm>
            <a:off x="9381744" y="2450592"/>
            <a:ext cx="621792"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41"/>
          <p:cNvSpPr/>
          <p:nvPr/>
        </p:nvSpPr>
        <p:spPr>
          <a:xfrm>
            <a:off x="9454896"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850"/>
              <a:buFont typeface="Arial"/>
              <a:buNone/>
            </a:pPr>
            <a:r>
              <a:rPr b="0" i="0" lang="en-US" sz="850" u="none" cap="none" strike="noStrike">
                <a:solidFill>
                  <a:srgbClr val="2E7D32"/>
                </a:solidFill>
                <a:latin typeface="Arial"/>
                <a:ea typeface="Arial"/>
                <a:cs typeface="Arial"/>
                <a:sym typeface="Arial"/>
              </a:rPr>
              <a:t>Métrica</a:t>
            </a:r>
            <a:endParaRPr b="0" i="0" sz="850" u="none" cap="none" strike="noStrike">
              <a:solidFill>
                <a:schemeClr val="dk1"/>
              </a:solidFill>
              <a:latin typeface="Arial"/>
              <a:ea typeface="Arial"/>
              <a:cs typeface="Arial"/>
              <a:sym typeface="Arial"/>
            </a:endParaRPr>
          </a:p>
        </p:txBody>
      </p:sp>
      <p:cxnSp>
        <p:nvCxnSpPr>
          <p:cNvPr id="968" name="Google Shape;968;p41"/>
          <p:cNvCxnSpPr/>
          <p:nvPr/>
        </p:nvCxnSpPr>
        <p:spPr>
          <a:xfrm>
            <a:off x="10003536" y="2715768"/>
            <a:ext cx="82296" cy="0"/>
          </a:xfrm>
          <a:prstGeom prst="straightConnector1">
            <a:avLst/>
          </a:prstGeom>
          <a:noFill/>
          <a:ln cap="flat" cmpd="sng" w="12700">
            <a:solidFill>
              <a:srgbClr val="1E88E5"/>
            </a:solidFill>
            <a:prstDash val="solid"/>
            <a:round/>
            <a:headEnd len="sm" w="sm" type="none"/>
            <a:tailEnd len="med" w="med" type="triangle"/>
          </a:ln>
        </p:spPr>
      </p:cxnSp>
      <p:sp>
        <p:nvSpPr>
          <p:cNvPr id="969" name="Google Shape;969;p41"/>
          <p:cNvSpPr/>
          <p:nvPr/>
        </p:nvSpPr>
        <p:spPr>
          <a:xfrm>
            <a:off x="10094976" y="2450592"/>
            <a:ext cx="621792" cy="530352"/>
          </a:xfrm>
          <a:prstGeom prst="roundRect">
            <a:avLst>
              <a:gd fmla="val 20690" name="adj"/>
            </a:avLst>
          </a:prstGeom>
          <a:solidFill>
            <a:srgbClr val="F2F6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41"/>
          <p:cNvSpPr/>
          <p:nvPr/>
        </p:nvSpPr>
        <p:spPr>
          <a:xfrm>
            <a:off x="10168128"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88E5"/>
              </a:buClr>
              <a:buSzPts val="850"/>
              <a:buFont typeface="Arial"/>
              <a:buNone/>
            </a:pPr>
            <a:r>
              <a:rPr b="0" i="0" lang="en-US" sz="850" u="none" cap="none" strike="noStrike">
                <a:solidFill>
                  <a:srgbClr val="1E88E5"/>
                </a:solidFill>
                <a:latin typeface="Arial"/>
                <a:ea typeface="Arial"/>
                <a:cs typeface="Arial"/>
                <a:sym typeface="Arial"/>
              </a:rPr>
              <a:t>Coleta</a:t>
            </a:r>
            <a:endParaRPr b="0" i="0" sz="850" u="none" cap="none" strike="noStrike">
              <a:solidFill>
                <a:schemeClr val="dk1"/>
              </a:solidFill>
              <a:latin typeface="Arial"/>
              <a:ea typeface="Arial"/>
              <a:cs typeface="Arial"/>
              <a:sym typeface="Arial"/>
            </a:endParaRPr>
          </a:p>
        </p:txBody>
      </p:sp>
      <p:cxnSp>
        <p:nvCxnSpPr>
          <p:cNvPr id="971" name="Google Shape;971;p41"/>
          <p:cNvCxnSpPr/>
          <p:nvPr/>
        </p:nvCxnSpPr>
        <p:spPr>
          <a:xfrm>
            <a:off x="10716768" y="2715768"/>
            <a:ext cx="82296" cy="0"/>
          </a:xfrm>
          <a:prstGeom prst="straightConnector1">
            <a:avLst/>
          </a:prstGeom>
          <a:noFill/>
          <a:ln cap="flat" cmpd="sng" w="12700">
            <a:solidFill>
              <a:srgbClr val="1E88E5"/>
            </a:solidFill>
            <a:prstDash val="solid"/>
            <a:round/>
            <a:headEnd len="sm" w="sm" type="none"/>
            <a:tailEnd len="med" w="med" type="triangle"/>
          </a:ln>
        </p:spPr>
      </p:cxnSp>
      <p:sp>
        <p:nvSpPr>
          <p:cNvPr id="972" name="Google Shape;972;p41"/>
          <p:cNvSpPr/>
          <p:nvPr/>
        </p:nvSpPr>
        <p:spPr>
          <a:xfrm>
            <a:off x="10808208" y="2450592"/>
            <a:ext cx="621792" cy="530352"/>
          </a:xfrm>
          <a:prstGeom prst="roundRect">
            <a:avLst>
              <a:gd fmla="val 20690" name="adj"/>
            </a:avLst>
          </a:prstGeom>
          <a:solidFill>
            <a:srgbClr val="EEF7F2"/>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41"/>
          <p:cNvSpPr/>
          <p:nvPr/>
        </p:nvSpPr>
        <p:spPr>
          <a:xfrm>
            <a:off x="10881360" y="2615184"/>
            <a:ext cx="47548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E7D32"/>
              </a:buClr>
              <a:buSzPts val="850"/>
              <a:buFont typeface="Arial"/>
              <a:buNone/>
            </a:pPr>
            <a:r>
              <a:rPr b="0" i="0" lang="en-US" sz="850" u="none" cap="none" strike="noStrike">
                <a:solidFill>
                  <a:srgbClr val="2E7D32"/>
                </a:solidFill>
                <a:latin typeface="Arial"/>
                <a:ea typeface="Arial"/>
                <a:cs typeface="Arial"/>
                <a:sym typeface="Arial"/>
              </a:rPr>
              <a:t>Conclusão</a:t>
            </a:r>
            <a:endParaRPr b="0" i="0" sz="850" u="none" cap="none" strike="noStrike">
              <a:solidFill>
                <a:schemeClr val="dk1"/>
              </a:solidFill>
              <a:latin typeface="Arial"/>
              <a:ea typeface="Arial"/>
              <a:cs typeface="Arial"/>
              <a:sym typeface="Arial"/>
            </a:endParaRPr>
          </a:p>
        </p:txBody>
      </p:sp>
      <p:sp>
        <p:nvSpPr>
          <p:cNvPr id="974" name="Google Shape;974;p41"/>
          <p:cNvSpPr/>
          <p:nvPr/>
        </p:nvSpPr>
        <p:spPr>
          <a:xfrm>
            <a:off x="8275320" y="3593592"/>
            <a:ext cx="23317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Reprodutibilidade é parte da avaliação</a:t>
            </a:r>
            <a:endParaRPr b="0" i="0" sz="1100" u="none" cap="none" strike="noStrike">
              <a:solidFill>
                <a:schemeClr val="dk1"/>
              </a:solidFill>
              <a:latin typeface="Arial"/>
              <a:ea typeface="Arial"/>
              <a:cs typeface="Arial"/>
              <a:sym typeface="Arial"/>
            </a:endParaRPr>
          </a:p>
        </p:txBody>
      </p:sp>
      <p:cxnSp>
        <p:nvCxnSpPr>
          <p:cNvPr id="975" name="Google Shape;975;p41"/>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976" name="Google Shape;976;p41"/>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41</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981" name="Shape 981"/>
        <p:cNvGrpSpPr/>
        <p:nvPr/>
      </p:nvGrpSpPr>
      <p:grpSpPr>
        <a:xfrm>
          <a:off x="0" y="0"/>
          <a:ext cx="0" cy="0"/>
          <a:chOff x="0" y="0"/>
          <a:chExt cx="0" cy="0"/>
        </a:xfrm>
      </p:grpSpPr>
      <p:sp>
        <p:nvSpPr>
          <p:cNvPr id="982" name="Google Shape;982;p42"/>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42"/>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Síntese da aula</a:t>
            </a:r>
            <a:endParaRPr b="0" i="0" sz="3200" u="none" cap="none" strike="noStrike">
              <a:solidFill>
                <a:schemeClr val="dk1"/>
              </a:solidFill>
              <a:latin typeface="Arial"/>
              <a:ea typeface="Arial"/>
              <a:cs typeface="Arial"/>
              <a:sym typeface="Arial"/>
            </a:endParaRPr>
          </a:p>
        </p:txBody>
      </p:sp>
      <p:sp>
        <p:nvSpPr>
          <p:cNvPr id="984" name="Google Shape;984;p42"/>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Raciocínio de avaliação</a:t>
            </a:r>
            <a:endParaRPr b="0" i="0" sz="1450" u="none" cap="none" strike="noStrike">
              <a:solidFill>
                <a:schemeClr val="dk1"/>
              </a:solidFill>
              <a:latin typeface="Arial"/>
              <a:ea typeface="Arial"/>
              <a:cs typeface="Arial"/>
              <a:sym typeface="Arial"/>
            </a:endParaRPr>
          </a:p>
        </p:txBody>
      </p:sp>
      <p:sp>
        <p:nvSpPr>
          <p:cNvPr id="985" name="Google Shape;985;p42"/>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Avaliar sistemas operacionais exige método. Primeiro define-se o problema; depois escolhem-se métricas, carga e ferramentas. Em seguida, coletam-se dados, analisam-se padrões e registram-se limitações. A conclusão deve ligar evidências a recomendações, evitando opiniões sem suporte técnico.</a:t>
            </a:r>
            <a:endParaRPr b="0" i="0" sz="2400" u="none" cap="none" strike="noStrike">
              <a:solidFill>
                <a:schemeClr val="dk1"/>
              </a:solidFill>
              <a:latin typeface="Arial"/>
              <a:ea typeface="Arial"/>
              <a:cs typeface="Arial"/>
              <a:sym typeface="Arial"/>
            </a:endParaRPr>
          </a:p>
        </p:txBody>
      </p:sp>
      <p:sp>
        <p:nvSpPr>
          <p:cNvPr id="986" name="Google Shape;986;p42"/>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42"/>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Problema, medição, análise e recomendação.</a:t>
            </a:r>
            <a:endParaRPr b="0" i="0" sz="1050" u="none" cap="none" strike="noStrike">
              <a:solidFill>
                <a:schemeClr val="dk1"/>
              </a:solidFill>
              <a:latin typeface="Arial"/>
              <a:ea typeface="Arial"/>
              <a:cs typeface="Arial"/>
              <a:sym typeface="Arial"/>
            </a:endParaRPr>
          </a:p>
        </p:txBody>
      </p:sp>
      <p:sp>
        <p:nvSpPr>
          <p:cNvPr id="988" name="Google Shape;988;p42"/>
          <p:cNvSpPr/>
          <p:nvPr/>
        </p:nvSpPr>
        <p:spPr>
          <a:xfrm>
            <a:off x="8046720" y="1581912"/>
            <a:ext cx="822960" cy="822960"/>
          </a:xfrm>
          <a:prstGeom prst="ellipse">
            <a:avLst/>
          </a:prstGeom>
          <a:solidFill>
            <a:srgbClr val="1E88E5"/>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42"/>
          <p:cNvSpPr/>
          <p:nvPr/>
        </p:nvSpPr>
        <p:spPr>
          <a:xfrm>
            <a:off x="8046720" y="1865376"/>
            <a:ext cx="822960"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990" name="Google Shape;990;p42"/>
          <p:cNvSpPr/>
          <p:nvPr/>
        </p:nvSpPr>
        <p:spPr>
          <a:xfrm>
            <a:off x="10241280" y="1581912"/>
            <a:ext cx="822960" cy="822960"/>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42"/>
          <p:cNvSpPr/>
          <p:nvPr/>
        </p:nvSpPr>
        <p:spPr>
          <a:xfrm>
            <a:off x="10241280" y="1865376"/>
            <a:ext cx="822960"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2</a:t>
            </a:r>
            <a:endParaRPr b="0" i="0" sz="1400" u="none" cap="none" strike="noStrike">
              <a:solidFill>
                <a:schemeClr val="dk1"/>
              </a:solidFill>
              <a:latin typeface="Arial"/>
              <a:ea typeface="Arial"/>
              <a:cs typeface="Arial"/>
              <a:sym typeface="Arial"/>
            </a:endParaRPr>
          </a:p>
        </p:txBody>
      </p:sp>
      <p:sp>
        <p:nvSpPr>
          <p:cNvPr id="992" name="Google Shape;992;p42"/>
          <p:cNvSpPr/>
          <p:nvPr/>
        </p:nvSpPr>
        <p:spPr>
          <a:xfrm>
            <a:off x="10241280" y="3547872"/>
            <a:ext cx="822960" cy="822960"/>
          </a:xfrm>
          <a:prstGeom prst="ellipse">
            <a:avLst/>
          </a:prstGeom>
          <a:solidFill>
            <a:srgbClr val="F9A825"/>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42"/>
          <p:cNvSpPr/>
          <p:nvPr/>
        </p:nvSpPr>
        <p:spPr>
          <a:xfrm>
            <a:off x="10241280" y="3831336"/>
            <a:ext cx="822960"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3</a:t>
            </a:r>
            <a:endParaRPr b="0" i="0" sz="1400" u="none" cap="none" strike="noStrike">
              <a:solidFill>
                <a:schemeClr val="dk1"/>
              </a:solidFill>
              <a:latin typeface="Arial"/>
              <a:ea typeface="Arial"/>
              <a:cs typeface="Arial"/>
              <a:sym typeface="Arial"/>
            </a:endParaRPr>
          </a:p>
        </p:txBody>
      </p:sp>
      <p:sp>
        <p:nvSpPr>
          <p:cNvPr id="994" name="Google Shape;994;p42"/>
          <p:cNvSpPr/>
          <p:nvPr/>
        </p:nvSpPr>
        <p:spPr>
          <a:xfrm>
            <a:off x="8046720" y="3547872"/>
            <a:ext cx="822960" cy="822960"/>
          </a:xfrm>
          <a:prstGeom prst="ellipse">
            <a:avLst/>
          </a:prstGeom>
          <a:solidFill>
            <a:srgbClr val="6A1B9A"/>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42"/>
          <p:cNvSpPr/>
          <p:nvPr/>
        </p:nvSpPr>
        <p:spPr>
          <a:xfrm>
            <a:off x="8046720" y="3831336"/>
            <a:ext cx="822960"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4</a:t>
            </a:r>
            <a:endParaRPr b="0" i="0" sz="1400" u="none" cap="none" strike="noStrike">
              <a:solidFill>
                <a:schemeClr val="dk1"/>
              </a:solidFill>
              <a:latin typeface="Arial"/>
              <a:ea typeface="Arial"/>
              <a:cs typeface="Arial"/>
              <a:sym typeface="Arial"/>
            </a:endParaRPr>
          </a:p>
        </p:txBody>
      </p:sp>
      <p:sp>
        <p:nvSpPr>
          <p:cNvPr id="996" name="Google Shape;996;p42"/>
          <p:cNvSpPr/>
          <p:nvPr/>
        </p:nvSpPr>
        <p:spPr>
          <a:xfrm>
            <a:off x="8842248" y="1737360"/>
            <a:ext cx="23317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Objetivo</a:t>
            </a:r>
            <a:endParaRPr b="0" i="0" sz="1100" u="none" cap="none" strike="noStrike">
              <a:solidFill>
                <a:schemeClr val="dk1"/>
              </a:solidFill>
              <a:latin typeface="Arial"/>
              <a:ea typeface="Arial"/>
              <a:cs typeface="Arial"/>
              <a:sym typeface="Arial"/>
            </a:endParaRPr>
          </a:p>
        </p:txBody>
      </p:sp>
      <p:sp>
        <p:nvSpPr>
          <p:cNvPr id="997" name="Google Shape;997;p42"/>
          <p:cNvSpPr/>
          <p:nvPr/>
        </p:nvSpPr>
        <p:spPr>
          <a:xfrm>
            <a:off x="10396728" y="2496312"/>
            <a:ext cx="23317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Coleta</a:t>
            </a:r>
            <a:endParaRPr b="0" i="0" sz="1100" u="none" cap="none" strike="noStrike">
              <a:solidFill>
                <a:schemeClr val="dk1"/>
              </a:solidFill>
              <a:latin typeface="Arial"/>
              <a:ea typeface="Arial"/>
              <a:cs typeface="Arial"/>
              <a:sym typeface="Arial"/>
            </a:endParaRPr>
          </a:p>
        </p:txBody>
      </p:sp>
      <p:sp>
        <p:nvSpPr>
          <p:cNvPr id="998" name="Google Shape;998;p42"/>
          <p:cNvSpPr/>
          <p:nvPr/>
        </p:nvSpPr>
        <p:spPr>
          <a:xfrm>
            <a:off x="9125712" y="3867912"/>
            <a:ext cx="23317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Análise</a:t>
            </a:r>
            <a:endParaRPr b="0" i="0" sz="1100" u="none" cap="none" strike="noStrike">
              <a:solidFill>
                <a:schemeClr val="dk1"/>
              </a:solidFill>
              <a:latin typeface="Arial"/>
              <a:ea typeface="Arial"/>
              <a:cs typeface="Arial"/>
              <a:sym typeface="Arial"/>
            </a:endParaRPr>
          </a:p>
        </p:txBody>
      </p:sp>
      <p:sp>
        <p:nvSpPr>
          <p:cNvPr id="999" name="Google Shape;999;p42"/>
          <p:cNvSpPr/>
          <p:nvPr/>
        </p:nvSpPr>
        <p:spPr>
          <a:xfrm>
            <a:off x="8202168" y="2496312"/>
            <a:ext cx="23317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100"/>
              <a:buFont typeface="Arial"/>
              <a:buNone/>
            </a:pPr>
            <a:r>
              <a:rPr b="0" i="0" lang="en-US" sz="1100" u="none" cap="none" strike="noStrike">
                <a:solidFill>
                  <a:srgbClr val="53657D"/>
                </a:solidFill>
                <a:latin typeface="Arial"/>
                <a:ea typeface="Arial"/>
                <a:cs typeface="Arial"/>
                <a:sym typeface="Arial"/>
              </a:rPr>
              <a:t>Ação</a:t>
            </a:r>
            <a:endParaRPr b="0" i="0" sz="1100" u="none" cap="none" strike="noStrike">
              <a:solidFill>
                <a:schemeClr val="dk1"/>
              </a:solidFill>
              <a:latin typeface="Arial"/>
              <a:ea typeface="Arial"/>
              <a:cs typeface="Arial"/>
              <a:sym typeface="Arial"/>
            </a:endParaRPr>
          </a:p>
        </p:txBody>
      </p:sp>
      <p:cxnSp>
        <p:nvCxnSpPr>
          <p:cNvPr id="1000" name="Google Shape;1000;p42"/>
          <p:cNvCxnSpPr/>
          <p:nvPr/>
        </p:nvCxnSpPr>
        <p:spPr>
          <a:xfrm>
            <a:off x="8778240" y="1993392"/>
            <a:ext cx="1435608" cy="0"/>
          </a:xfrm>
          <a:prstGeom prst="straightConnector1">
            <a:avLst/>
          </a:prstGeom>
          <a:noFill/>
          <a:ln cap="flat" cmpd="sng" w="12700">
            <a:solidFill>
              <a:srgbClr val="1E88E5"/>
            </a:solidFill>
            <a:prstDash val="solid"/>
            <a:round/>
            <a:headEnd len="sm" w="sm" type="none"/>
            <a:tailEnd len="med" w="med" type="triangle"/>
          </a:ln>
        </p:spPr>
      </p:cxnSp>
      <p:cxnSp>
        <p:nvCxnSpPr>
          <p:cNvPr id="1001" name="Google Shape;1001;p42"/>
          <p:cNvCxnSpPr/>
          <p:nvPr/>
        </p:nvCxnSpPr>
        <p:spPr>
          <a:xfrm>
            <a:off x="10652760" y="2404872"/>
            <a:ext cx="0" cy="1106424"/>
          </a:xfrm>
          <a:prstGeom prst="straightConnector1">
            <a:avLst/>
          </a:prstGeom>
          <a:noFill/>
          <a:ln cap="flat" cmpd="sng" w="12700">
            <a:solidFill>
              <a:srgbClr val="1E88E5"/>
            </a:solidFill>
            <a:prstDash val="solid"/>
            <a:round/>
            <a:headEnd len="sm" w="sm" type="none"/>
            <a:tailEnd len="med" w="med" type="triangle"/>
          </a:ln>
        </p:spPr>
      </p:cxnSp>
      <p:cxnSp>
        <p:nvCxnSpPr>
          <p:cNvPr id="1002" name="Google Shape;1002;p42"/>
          <p:cNvCxnSpPr/>
          <p:nvPr/>
        </p:nvCxnSpPr>
        <p:spPr>
          <a:xfrm rot="10800000">
            <a:off x="8897112" y="3959352"/>
            <a:ext cx="1344168" cy="0"/>
          </a:xfrm>
          <a:prstGeom prst="straightConnector1">
            <a:avLst/>
          </a:prstGeom>
          <a:noFill/>
          <a:ln cap="flat" cmpd="sng" w="12700">
            <a:solidFill>
              <a:srgbClr val="1E88E5"/>
            </a:solidFill>
            <a:prstDash val="solid"/>
            <a:round/>
            <a:headEnd len="sm" w="sm" type="none"/>
            <a:tailEnd len="med" w="med" type="triangle"/>
          </a:ln>
        </p:spPr>
      </p:cxnSp>
      <p:cxnSp>
        <p:nvCxnSpPr>
          <p:cNvPr id="1003" name="Google Shape;1003;p42"/>
          <p:cNvCxnSpPr/>
          <p:nvPr/>
        </p:nvCxnSpPr>
        <p:spPr>
          <a:xfrm rot="10800000">
            <a:off x="8458200" y="2423160"/>
            <a:ext cx="0" cy="1124712"/>
          </a:xfrm>
          <a:prstGeom prst="straightConnector1">
            <a:avLst/>
          </a:prstGeom>
          <a:noFill/>
          <a:ln cap="flat" cmpd="sng" w="12700">
            <a:solidFill>
              <a:srgbClr val="1E88E5"/>
            </a:solidFill>
            <a:prstDash val="solid"/>
            <a:round/>
            <a:headEnd len="sm" w="sm" type="none"/>
            <a:tailEnd len="med" w="med" type="triangle"/>
          </a:ln>
        </p:spPr>
      </p:cxnSp>
      <p:cxnSp>
        <p:nvCxnSpPr>
          <p:cNvPr id="1004" name="Google Shape;1004;p42"/>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1005" name="Google Shape;1005;p42"/>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42</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010" name="Shape 1010"/>
        <p:cNvGrpSpPr/>
        <p:nvPr/>
      </p:nvGrpSpPr>
      <p:grpSpPr>
        <a:xfrm>
          <a:off x="0" y="0"/>
          <a:ext cx="0" cy="0"/>
          <a:chOff x="0" y="0"/>
          <a:chExt cx="0" cy="0"/>
        </a:xfrm>
      </p:grpSpPr>
      <p:sp>
        <p:nvSpPr>
          <p:cNvPr id="1011" name="Google Shape;1011;p43"/>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43"/>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Questões para revisão</a:t>
            </a:r>
            <a:endParaRPr b="0" i="0" sz="3200" u="none" cap="none" strike="noStrike">
              <a:solidFill>
                <a:schemeClr val="dk1"/>
              </a:solidFill>
              <a:latin typeface="Arial"/>
              <a:ea typeface="Arial"/>
              <a:cs typeface="Arial"/>
              <a:sym typeface="Arial"/>
            </a:endParaRPr>
          </a:p>
        </p:txBody>
      </p:sp>
      <p:sp>
        <p:nvSpPr>
          <p:cNvPr id="1013" name="Google Shape;1013;p43"/>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Verificação rápida de aprendizagem</a:t>
            </a:r>
            <a:endParaRPr b="0" i="0" sz="1450" u="none" cap="none" strike="noStrike">
              <a:solidFill>
                <a:schemeClr val="dk1"/>
              </a:solidFill>
              <a:latin typeface="Arial"/>
              <a:ea typeface="Arial"/>
              <a:cs typeface="Arial"/>
              <a:sym typeface="Arial"/>
            </a:endParaRPr>
          </a:p>
        </p:txBody>
      </p:sp>
      <p:sp>
        <p:nvSpPr>
          <p:cNvPr id="1014" name="Google Shape;1014;p43"/>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Responda: qual é a diferença entre medir e avaliar? Por que alta utilização de CPU nem sempre é ruim? Como identificar se o gargalo está no disco? Que cuidados tornam um benchmark mais confiável? Qual métrica seria mais importante em um sistema interativo?</a:t>
            </a:r>
            <a:endParaRPr b="0" i="0" sz="2400" u="none" cap="none" strike="noStrike">
              <a:solidFill>
                <a:schemeClr val="dk1"/>
              </a:solidFill>
              <a:latin typeface="Arial"/>
              <a:ea typeface="Arial"/>
              <a:cs typeface="Arial"/>
              <a:sym typeface="Arial"/>
            </a:endParaRPr>
          </a:p>
        </p:txBody>
      </p:sp>
      <p:sp>
        <p:nvSpPr>
          <p:cNvPr id="1015" name="Google Shape;1015;p43"/>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43"/>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Perguntas ajudam a fixar conceitos.</a:t>
            </a:r>
            <a:endParaRPr b="0" i="0" sz="1050" u="none" cap="none" strike="noStrike">
              <a:solidFill>
                <a:schemeClr val="dk1"/>
              </a:solidFill>
              <a:latin typeface="Arial"/>
              <a:ea typeface="Arial"/>
              <a:cs typeface="Arial"/>
              <a:sym typeface="Arial"/>
            </a:endParaRPr>
          </a:p>
        </p:txBody>
      </p:sp>
      <p:sp>
        <p:nvSpPr>
          <p:cNvPr id="1017" name="Google Shape;1017;p43"/>
          <p:cNvSpPr/>
          <p:nvPr/>
        </p:nvSpPr>
        <p:spPr>
          <a:xfrm>
            <a:off x="8138160" y="176479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43"/>
          <p:cNvSpPr/>
          <p:nvPr/>
        </p:nvSpPr>
        <p:spPr>
          <a:xfrm>
            <a:off x="8138160" y="179222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1019" name="Google Shape;1019;p43"/>
          <p:cNvSpPr/>
          <p:nvPr/>
        </p:nvSpPr>
        <p:spPr>
          <a:xfrm>
            <a:off x="8549640" y="179222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Métrica certa</a:t>
            </a:r>
            <a:endParaRPr b="0" i="0" sz="1250" u="none" cap="none" strike="noStrike">
              <a:solidFill>
                <a:schemeClr val="dk1"/>
              </a:solidFill>
              <a:latin typeface="Arial"/>
              <a:ea typeface="Arial"/>
              <a:cs typeface="Arial"/>
              <a:sym typeface="Arial"/>
            </a:endParaRPr>
          </a:p>
        </p:txBody>
      </p:sp>
      <p:sp>
        <p:nvSpPr>
          <p:cNvPr id="1020" name="Google Shape;1020;p43"/>
          <p:cNvSpPr/>
          <p:nvPr/>
        </p:nvSpPr>
        <p:spPr>
          <a:xfrm>
            <a:off x="8138160" y="249631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43"/>
          <p:cNvSpPr/>
          <p:nvPr/>
        </p:nvSpPr>
        <p:spPr>
          <a:xfrm>
            <a:off x="8138160" y="252374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1022" name="Google Shape;1022;p43"/>
          <p:cNvSpPr/>
          <p:nvPr/>
        </p:nvSpPr>
        <p:spPr>
          <a:xfrm>
            <a:off x="8549640" y="252374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Ambiente controlado</a:t>
            </a:r>
            <a:endParaRPr b="0" i="0" sz="1250" u="none" cap="none" strike="noStrike">
              <a:solidFill>
                <a:schemeClr val="dk1"/>
              </a:solidFill>
              <a:latin typeface="Arial"/>
              <a:ea typeface="Arial"/>
              <a:cs typeface="Arial"/>
              <a:sym typeface="Arial"/>
            </a:endParaRPr>
          </a:p>
        </p:txBody>
      </p:sp>
      <p:sp>
        <p:nvSpPr>
          <p:cNvPr id="1023" name="Google Shape;1023;p43"/>
          <p:cNvSpPr/>
          <p:nvPr/>
        </p:nvSpPr>
        <p:spPr>
          <a:xfrm>
            <a:off x="8138160" y="322783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43"/>
          <p:cNvSpPr/>
          <p:nvPr/>
        </p:nvSpPr>
        <p:spPr>
          <a:xfrm>
            <a:off x="8138160" y="325526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1025" name="Google Shape;1025;p43"/>
          <p:cNvSpPr/>
          <p:nvPr/>
        </p:nvSpPr>
        <p:spPr>
          <a:xfrm>
            <a:off x="8549640" y="325526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Amostras suficientes</a:t>
            </a:r>
            <a:endParaRPr b="0" i="0" sz="1250" u="none" cap="none" strike="noStrike">
              <a:solidFill>
                <a:schemeClr val="dk1"/>
              </a:solidFill>
              <a:latin typeface="Arial"/>
              <a:ea typeface="Arial"/>
              <a:cs typeface="Arial"/>
              <a:sym typeface="Arial"/>
            </a:endParaRPr>
          </a:p>
        </p:txBody>
      </p:sp>
      <p:sp>
        <p:nvSpPr>
          <p:cNvPr id="1026" name="Google Shape;1026;p43"/>
          <p:cNvSpPr/>
          <p:nvPr/>
        </p:nvSpPr>
        <p:spPr>
          <a:xfrm>
            <a:off x="8138160" y="3959352"/>
            <a:ext cx="310896" cy="310896"/>
          </a:xfrm>
          <a:prstGeom prst="ellipse">
            <a:avLst/>
          </a:prstGeom>
          <a:solidFill>
            <a:srgbClr val="2E7D3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43"/>
          <p:cNvSpPr/>
          <p:nvPr/>
        </p:nvSpPr>
        <p:spPr>
          <a:xfrm>
            <a:off x="8138160" y="3986784"/>
            <a:ext cx="31089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1028" name="Google Shape;1028;p43"/>
          <p:cNvSpPr/>
          <p:nvPr/>
        </p:nvSpPr>
        <p:spPr>
          <a:xfrm>
            <a:off x="8549640" y="3986784"/>
            <a:ext cx="27432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1250"/>
              <a:buFont typeface="Arial"/>
              <a:buNone/>
            </a:pPr>
            <a:r>
              <a:rPr b="0" i="0" lang="en-US" sz="1250" u="none" cap="none" strike="noStrike">
                <a:solidFill>
                  <a:srgbClr val="16324F"/>
                </a:solidFill>
                <a:latin typeface="Arial"/>
                <a:ea typeface="Arial"/>
                <a:cs typeface="Arial"/>
                <a:sym typeface="Arial"/>
              </a:rPr>
              <a:t>Conclusão sustentada</a:t>
            </a:r>
            <a:endParaRPr b="0" i="0" sz="1250" u="none" cap="none" strike="noStrike">
              <a:solidFill>
                <a:schemeClr val="dk1"/>
              </a:solidFill>
              <a:latin typeface="Arial"/>
              <a:ea typeface="Arial"/>
              <a:cs typeface="Arial"/>
              <a:sym typeface="Arial"/>
            </a:endParaRPr>
          </a:p>
        </p:txBody>
      </p:sp>
      <p:cxnSp>
        <p:nvCxnSpPr>
          <p:cNvPr id="1029" name="Google Shape;1029;p43"/>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1030" name="Google Shape;1030;p43"/>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43</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035" name="Shape 1035"/>
        <p:cNvGrpSpPr/>
        <p:nvPr/>
      </p:nvGrpSpPr>
      <p:grpSpPr>
        <a:xfrm>
          <a:off x="0" y="0"/>
          <a:ext cx="0" cy="0"/>
          <a:chOff x="0" y="0"/>
          <a:chExt cx="0" cy="0"/>
        </a:xfrm>
      </p:grpSpPr>
      <p:sp>
        <p:nvSpPr>
          <p:cNvPr id="1036" name="Google Shape;1036;p44"/>
          <p:cNvSpPr/>
          <p:nvPr/>
        </p:nvSpPr>
        <p:spPr>
          <a:xfrm>
            <a:off x="0" y="0"/>
            <a:ext cx="12191695" cy="100584"/>
          </a:xfrm>
          <a:prstGeom prst="rect">
            <a:avLst/>
          </a:prstGeom>
          <a:solidFill>
            <a:srgbClr val="C62828"/>
          </a:solidFill>
          <a:ln cap="flat" cmpd="sng" w="12700">
            <a:solidFill>
              <a:srgbClr val="C6282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44"/>
          <p:cNvSpPr/>
          <p:nvPr/>
        </p:nvSpPr>
        <p:spPr>
          <a:xfrm>
            <a:off x="502920" y="219456"/>
            <a:ext cx="1115568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324F"/>
              </a:buClr>
              <a:buSzPts val="3200"/>
              <a:buFont typeface="Play"/>
              <a:buNone/>
            </a:pPr>
            <a:r>
              <a:rPr b="1" i="0" lang="en-US" sz="3200" u="none" cap="none" strike="noStrike">
                <a:solidFill>
                  <a:srgbClr val="16324F"/>
                </a:solidFill>
                <a:latin typeface="Play"/>
                <a:ea typeface="Play"/>
                <a:cs typeface="Play"/>
                <a:sym typeface="Play"/>
              </a:rPr>
              <a:t>Referências e recursos</a:t>
            </a:r>
            <a:endParaRPr b="0" i="0" sz="3200" u="none" cap="none" strike="noStrike">
              <a:solidFill>
                <a:schemeClr val="dk1"/>
              </a:solidFill>
              <a:latin typeface="Arial"/>
              <a:ea typeface="Arial"/>
              <a:cs typeface="Arial"/>
              <a:sym typeface="Arial"/>
            </a:endParaRPr>
          </a:p>
        </p:txBody>
      </p:sp>
      <p:sp>
        <p:nvSpPr>
          <p:cNvPr id="1038" name="Google Shape;1038;p44"/>
          <p:cNvSpPr/>
          <p:nvPr/>
        </p:nvSpPr>
        <p:spPr>
          <a:xfrm>
            <a:off x="612648" y="841248"/>
            <a:ext cx="6629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450"/>
              <a:buFont typeface="Arial"/>
              <a:buNone/>
            </a:pPr>
            <a:r>
              <a:rPr b="1" i="0" lang="en-US" sz="1450" u="none" cap="none" strike="noStrike">
                <a:solidFill>
                  <a:srgbClr val="C62828"/>
                </a:solidFill>
                <a:latin typeface="Arial"/>
                <a:ea typeface="Arial"/>
                <a:cs typeface="Arial"/>
                <a:sym typeface="Arial"/>
              </a:rPr>
              <a:t>Tópico: Materiais utilizados e leituras complementares</a:t>
            </a:r>
            <a:endParaRPr b="0" i="0" sz="1450" u="none" cap="none" strike="noStrike">
              <a:solidFill>
                <a:schemeClr val="dk1"/>
              </a:solidFill>
              <a:latin typeface="Arial"/>
              <a:ea typeface="Arial"/>
              <a:cs typeface="Arial"/>
              <a:sym typeface="Arial"/>
            </a:endParaRPr>
          </a:p>
        </p:txBody>
      </p:sp>
      <p:sp>
        <p:nvSpPr>
          <p:cNvPr id="1039" name="Google Shape;1039;p44"/>
          <p:cNvSpPr/>
          <p:nvPr/>
        </p:nvSpPr>
        <p:spPr>
          <a:xfrm>
            <a:off x="566928" y="1170432"/>
            <a:ext cx="6720840" cy="4315968"/>
          </a:xfrm>
          <a:prstGeom prst="rect">
            <a:avLst/>
          </a:prstGeom>
          <a:noFill/>
          <a:ln>
            <a:noFill/>
          </a:ln>
        </p:spPr>
        <p:txBody>
          <a:bodyPr anchorCtr="0" anchor="t" bIns="38100" lIns="38100" spcFirstLastPara="1" rIns="76200" wrap="square" tIns="76200">
            <a:normAutofit/>
          </a:bodyPr>
          <a:lstStyle/>
          <a:p>
            <a:pPr indent="0" lvl="0" marL="0" marR="0" rtl="0" algn="just">
              <a:lnSpc>
                <a:spcPct val="150000"/>
              </a:lnSpc>
              <a:spcBef>
                <a:spcPts val="0"/>
              </a:spcBef>
              <a:spcAft>
                <a:spcPts val="0"/>
              </a:spcAft>
              <a:buClr>
                <a:srgbClr val="1F2937"/>
              </a:buClr>
              <a:buSzPts val="2400"/>
              <a:buFont typeface="Arial"/>
              <a:buNone/>
            </a:pPr>
            <a:r>
              <a:rPr b="0" i="0" lang="en-US" sz="2400" u="none" cap="none" strike="noStrike">
                <a:solidFill>
                  <a:srgbClr val="1F2937"/>
                </a:solidFill>
                <a:latin typeface="Arial"/>
                <a:ea typeface="Arial"/>
                <a:cs typeface="Arial"/>
                <a:sym typeface="Arial"/>
              </a:rPr>
              <a:t>Referências: material anexo da aula; plano de ensino da disciplina; Jain, Raj. The Art of Computer Systems Performance Analysis; Tanenbaum e Woodhull, Sistemas Operacionais; Silberschatz, Galvin e Gagne, Fundamentos de Sistemas Operacionais. Recursos: Linux perf, Windows Performance Toolkit, stress-ng, sysbench, Phoronix Test Suite.</a:t>
            </a:r>
            <a:endParaRPr b="0" i="0" sz="2400" u="none" cap="none" strike="noStrike">
              <a:solidFill>
                <a:schemeClr val="dk1"/>
              </a:solidFill>
              <a:latin typeface="Arial"/>
              <a:ea typeface="Arial"/>
              <a:cs typeface="Arial"/>
              <a:sym typeface="Arial"/>
            </a:endParaRPr>
          </a:p>
        </p:txBody>
      </p:sp>
      <p:sp>
        <p:nvSpPr>
          <p:cNvPr id="1040" name="Google Shape;1040;p44">
            <a:hlinkClick r:id="rId3"/>
          </p:cNvPr>
          <p:cNvSpPr/>
          <p:nvPr/>
        </p:nvSpPr>
        <p:spPr>
          <a:xfrm>
            <a:off x="612648" y="5577840"/>
            <a:ext cx="6446520" cy="4114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E88E5"/>
              </a:buClr>
              <a:buSzPts val="1150"/>
              <a:buFont typeface="Arial"/>
              <a:buNone/>
            </a:pPr>
            <a:r>
              <a:rPr b="0" i="0" lang="en-US" sz="1150" u="sng" cap="none" strike="noStrike">
                <a:solidFill>
                  <a:srgbClr val="1E88E5"/>
                </a:solidFill>
                <a:latin typeface="Arial"/>
                <a:ea typeface="Arial"/>
                <a:cs typeface="Arial"/>
                <a:sym typeface="Arial"/>
                <a:hlinkClick r:id="rId4">
                  <a:extLst>
                    <a:ext uri="{A12FA001-AC4F-418D-AE19-62706E023703}">
                      <ahyp:hlinkClr val="tx"/>
                    </a:ext>
                  </a:extLst>
                </a:hlinkClick>
              </a:rPr>
              <a:t>Recurso sugerido: https://www.spec.org/cpu2017/</a:t>
            </a:r>
            <a:endParaRPr b="0" i="0" sz="1150" u="none" cap="none" strike="noStrike">
              <a:solidFill>
                <a:schemeClr val="dk1"/>
              </a:solidFill>
              <a:latin typeface="Arial"/>
              <a:ea typeface="Arial"/>
              <a:cs typeface="Arial"/>
              <a:sym typeface="Arial"/>
            </a:endParaRPr>
          </a:p>
        </p:txBody>
      </p:sp>
      <p:sp>
        <p:nvSpPr>
          <p:cNvPr id="1041" name="Google Shape;1041;p44"/>
          <p:cNvSpPr/>
          <p:nvPr/>
        </p:nvSpPr>
        <p:spPr>
          <a:xfrm>
            <a:off x="7543800" y="1078992"/>
            <a:ext cx="4160520" cy="4526280"/>
          </a:xfrm>
          <a:prstGeom prst="roundRect">
            <a:avLst>
              <a:gd fmla="val 2198"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44"/>
          <p:cNvSpPr/>
          <p:nvPr/>
        </p:nvSpPr>
        <p:spPr>
          <a:xfrm>
            <a:off x="7772400" y="5175504"/>
            <a:ext cx="370332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3657D"/>
              </a:buClr>
              <a:buSzPts val="1050"/>
              <a:buFont typeface="Arial"/>
              <a:buNone/>
            </a:pPr>
            <a:r>
              <a:rPr b="0" i="0" lang="en-US" sz="1050" u="none" cap="none" strike="noStrike">
                <a:solidFill>
                  <a:srgbClr val="53657D"/>
                </a:solidFill>
                <a:latin typeface="Arial"/>
                <a:ea typeface="Arial"/>
                <a:cs typeface="Arial"/>
                <a:sym typeface="Arial"/>
              </a:rPr>
              <a:t>Use fontes técnicas e ferramentas documentadas.</a:t>
            </a:r>
            <a:endParaRPr b="0" i="0" sz="1050" u="none" cap="none" strike="noStrike">
              <a:solidFill>
                <a:schemeClr val="dk1"/>
              </a:solidFill>
              <a:latin typeface="Arial"/>
              <a:ea typeface="Arial"/>
              <a:cs typeface="Arial"/>
              <a:sym typeface="Arial"/>
            </a:endParaRPr>
          </a:p>
        </p:txBody>
      </p:sp>
      <p:sp>
        <p:nvSpPr>
          <p:cNvPr id="1043" name="Google Shape;1043;p44"/>
          <p:cNvSpPr/>
          <p:nvPr/>
        </p:nvSpPr>
        <p:spPr>
          <a:xfrm>
            <a:off x="8046720" y="1737360"/>
            <a:ext cx="3154680" cy="411480"/>
          </a:xfrm>
          <a:prstGeom prst="roundRect">
            <a:avLst>
              <a:gd fmla="val 26667"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44"/>
          <p:cNvSpPr/>
          <p:nvPr/>
        </p:nvSpPr>
        <p:spPr>
          <a:xfrm>
            <a:off x="8119872" y="1842516"/>
            <a:ext cx="30083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324F"/>
              </a:buClr>
              <a:buSzPts val="1200"/>
              <a:buFont typeface="Arial"/>
              <a:buNone/>
            </a:pPr>
            <a:r>
              <a:rPr b="0" i="0" lang="en-US" sz="1200" u="none" cap="none" strike="noStrike">
                <a:solidFill>
                  <a:srgbClr val="16324F"/>
                </a:solidFill>
                <a:latin typeface="Arial"/>
                <a:ea typeface="Arial"/>
                <a:cs typeface="Arial"/>
                <a:sym typeface="Arial"/>
              </a:rPr>
              <a:t>Livros da disciplina</a:t>
            </a:r>
            <a:endParaRPr b="0" i="0" sz="1200" u="none" cap="none" strike="noStrike">
              <a:solidFill>
                <a:schemeClr val="dk1"/>
              </a:solidFill>
              <a:latin typeface="Arial"/>
              <a:ea typeface="Arial"/>
              <a:cs typeface="Arial"/>
              <a:sym typeface="Arial"/>
            </a:endParaRPr>
          </a:p>
        </p:txBody>
      </p:sp>
      <p:sp>
        <p:nvSpPr>
          <p:cNvPr id="1045" name="Google Shape;1045;p44"/>
          <p:cNvSpPr/>
          <p:nvPr/>
        </p:nvSpPr>
        <p:spPr>
          <a:xfrm>
            <a:off x="8046720" y="2404872"/>
            <a:ext cx="3154680" cy="411480"/>
          </a:xfrm>
          <a:prstGeom prst="roundRect">
            <a:avLst>
              <a:gd fmla="val 26667"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44"/>
          <p:cNvSpPr/>
          <p:nvPr/>
        </p:nvSpPr>
        <p:spPr>
          <a:xfrm>
            <a:off x="8119872" y="2510028"/>
            <a:ext cx="30083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324F"/>
              </a:buClr>
              <a:buSzPts val="1200"/>
              <a:buFont typeface="Arial"/>
              <a:buNone/>
            </a:pPr>
            <a:r>
              <a:rPr b="0" i="0" lang="en-US" sz="1200" u="none" cap="none" strike="noStrike">
                <a:solidFill>
                  <a:srgbClr val="16324F"/>
                </a:solidFill>
                <a:latin typeface="Arial"/>
                <a:ea typeface="Arial"/>
                <a:cs typeface="Arial"/>
                <a:sym typeface="Arial"/>
              </a:rPr>
              <a:t>Documentação técnica</a:t>
            </a:r>
            <a:endParaRPr b="0" i="0" sz="1200" u="none" cap="none" strike="noStrike">
              <a:solidFill>
                <a:schemeClr val="dk1"/>
              </a:solidFill>
              <a:latin typeface="Arial"/>
              <a:ea typeface="Arial"/>
              <a:cs typeface="Arial"/>
              <a:sym typeface="Arial"/>
            </a:endParaRPr>
          </a:p>
        </p:txBody>
      </p:sp>
      <p:sp>
        <p:nvSpPr>
          <p:cNvPr id="1047" name="Google Shape;1047;p44"/>
          <p:cNvSpPr/>
          <p:nvPr/>
        </p:nvSpPr>
        <p:spPr>
          <a:xfrm>
            <a:off x="8046720" y="3072384"/>
            <a:ext cx="3154680" cy="411480"/>
          </a:xfrm>
          <a:prstGeom prst="roundRect">
            <a:avLst>
              <a:gd fmla="val 26667"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44"/>
          <p:cNvSpPr/>
          <p:nvPr/>
        </p:nvSpPr>
        <p:spPr>
          <a:xfrm>
            <a:off x="8119872" y="3177540"/>
            <a:ext cx="30083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324F"/>
              </a:buClr>
              <a:buSzPts val="1200"/>
              <a:buFont typeface="Arial"/>
              <a:buNone/>
            </a:pPr>
            <a:r>
              <a:rPr b="0" i="0" lang="en-US" sz="1200" u="none" cap="none" strike="noStrike">
                <a:solidFill>
                  <a:srgbClr val="16324F"/>
                </a:solidFill>
                <a:latin typeface="Arial"/>
                <a:ea typeface="Arial"/>
                <a:cs typeface="Arial"/>
                <a:sym typeface="Arial"/>
              </a:rPr>
              <a:t>Ferramentas gratuitas</a:t>
            </a:r>
            <a:endParaRPr b="0" i="0" sz="1200" u="none" cap="none" strike="noStrike">
              <a:solidFill>
                <a:schemeClr val="dk1"/>
              </a:solidFill>
              <a:latin typeface="Arial"/>
              <a:ea typeface="Arial"/>
              <a:cs typeface="Arial"/>
              <a:sym typeface="Arial"/>
            </a:endParaRPr>
          </a:p>
        </p:txBody>
      </p:sp>
      <p:sp>
        <p:nvSpPr>
          <p:cNvPr id="1049" name="Google Shape;1049;p44"/>
          <p:cNvSpPr/>
          <p:nvPr/>
        </p:nvSpPr>
        <p:spPr>
          <a:xfrm>
            <a:off x="8046720" y="3739896"/>
            <a:ext cx="3154680" cy="411480"/>
          </a:xfrm>
          <a:prstGeom prst="roundRect">
            <a:avLst>
              <a:gd fmla="val 26667" name="adj"/>
            </a:avLst>
          </a:prstGeom>
          <a:solidFill>
            <a:srgbClr val="FFFFFF"/>
          </a:solidFill>
          <a:ln cap="flat" cmpd="sng" w="12700">
            <a:solidFill>
              <a:srgbClr val="D6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44"/>
          <p:cNvSpPr/>
          <p:nvPr/>
        </p:nvSpPr>
        <p:spPr>
          <a:xfrm>
            <a:off x="8119872" y="3845052"/>
            <a:ext cx="3008376"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324F"/>
              </a:buClr>
              <a:buSzPts val="1200"/>
              <a:buFont typeface="Arial"/>
              <a:buNone/>
            </a:pPr>
            <a:r>
              <a:rPr b="0" i="0" lang="en-US" sz="1200" u="none" cap="none" strike="noStrike">
                <a:solidFill>
                  <a:srgbClr val="16324F"/>
                </a:solidFill>
                <a:latin typeface="Arial"/>
                <a:ea typeface="Arial"/>
                <a:cs typeface="Arial"/>
                <a:sym typeface="Arial"/>
              </a:rPr>
              <a:t>Artigos e benchmarks</a:t>
            </a:r>
            <a:endParaRPr b="0" i="0" sz="1200" u="none" cap="none" strike="noStrike">
              <a:solidFill>
                <a:schemeClr val="dk1"/>
              </a:solidFill>
              <a:latin typeface="Arial"/>
              <a:ea typeface="Arial"/>
              <a:cs typeface="Arial"/>
              <a:sym typeface="Arial"/>
            </a:endParaRPr>
          </a:p>
        </p:txBody>
      </p:sp>
      <p:cxnSp>
        <p:nvCxnSpPr>
          <p:cNvPr id="1051" name="Google Shape;1051;p44"/>
          <p:cNvCxnSpPr/>
          <p:nvPr/>
        </p:nvCxnSpPr>
        <p:spPr>
          <a:xfrm>
            <a:off x="502920" y="6428232"/>
            <a:ext cx="11201400" cy="0"/>
          </a:xfrm>
          <a:prstGeom prst="straightConnector1">
            <a:avLst/>
          </a:prstGeom>
          <a:noFill/>
          <a:ln cap="flat" cmpd="sng" w="12700">
            <a:solidFill>
              <a:srgbClr val="D6DEE8"/>
            </a:solidFill>
            <a:prstDash val="solid"/>
            <a:round/>
            <a:headEnd len="sm" w="sm" type="none"/>
            <a:tailEnd len="sm" w="sm" type="none"/>
          </a:ln>
        </p:spPr>
      </p:cxnSp>
      <p:sp>
        <p:nvSpPr>
          <p:cNvPr id="1052" name="Google Shape;1052;p44"/>
          <p:cNvSpPr/>
          <p:nvPr/>
        </p:nvSpPr>
        <p:spPr>
          <a:xfrm>
            <a:off x="502920" y="6492240"/>
            <a:ext cx="11201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57D"/>
              </a:buClr>
              <a:buSzPts val="850"/>
              <a:buFont typeface="Arial"/>
              <a:buNone/>
            </a:pPr>
            <a:r>
              <a:rPr b="0" i="0" lang="en-US" sz="850" u="none" cap="none" strike="noStrike">
                <a:solidFill>
                  <a:srgbClr val="53657D"/>
                </a:solidFill>
                <a:latin typeface="Arial"/>
                <a:ea typeface="Arial"/>
                <a:cs typeface="Arial"/>
                <a:sym typeface="Arial"/>
              </a:rPr>
              <a:t>Professor Msc Elionai Magalhães – Avaliação e Desempenho de Sistemas Operacionais - N° 44</a:t>
            </a:r>
            <a:endParaRPr b="0" i="0" sz="85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2026-08-25T10:55:22Z</dcterms:created>
  <dc:creator>Professor Msc Elionai Magalhães</dc:creator>
</cp:coreProperties>
</file>