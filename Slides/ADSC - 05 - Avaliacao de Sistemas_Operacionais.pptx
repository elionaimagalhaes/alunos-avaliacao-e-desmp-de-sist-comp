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6" r:id="rId3"/>
    <p:sldId id="258" r:id="rId4"/>
    <p:sldId id="259" r:id="rId5"/>
    <p:sldId id="27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5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Sistema Operacional?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7684"/>
            <a:ext cx="8229600" cy="4525963"/>
          </a:xfrm>
        </p:spPr>
        <p:txBody>
          <a:bodyPr/>
          <a:lstStyle/>
          <a:p>
            <a:pPr algn="just"/>
            <a:r>
              <a:rPr lang="pt-BR" dirty="0"/>
              <a:t>É o software principal que gerencia os recursos do computador.</a:t>
            </a:r>
          </a:p>
          <a:p>
            <a:pPr algn="just"/>
            <a:r>
              <a:rPr lang="pt-BR" dirty="0"/>
              <a:t>Controla processador, memória, dispositivos de entrada e saída.</a:t>
            </a:r>
          </a:p>
          <a:p>
            <a:pPr algn="just"/>
            <a:r>
              <a:rPr lang="pt-BR" dirty="0"/>
              <a:t>Fornece uma interface entre o usuário e o hardware.</a:t>
            </a:r>
          </a:p>
          <a:p>
            <a:pPr algn="just"/>
            <a:r>
              <a:rPr lang="pt-BR" dirty="0"/>
              <a:t>Exemplos: Windows, Linux, </a:t>
            </a:r>
            <a:r>
              <a:rPr lang="pt-BR" dirty="0" err="1"/>
              <a:t>macOS</a:t>
            </a:r>
            <a:r>
              <a:rPr lang="pt-BR" dirty="0"/>
              <a:t>, Unix.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19550-1DC3-5C12-4C3D-5BA3390C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F6EE-3BFC-B2DC-5A7B-2B6D65AF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O que é </a:t>
            </a:r>
            <a:r>
              <a:rPr dirty="0" err="1"/>
              <a:t>Avaliação</a:t>
            </a:r>
            <a:r>
              <a:rPr dirty="0"/>
              <a:t> de Sistemas Operacionais?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C9529-08BB-E81D-66E8-79DBE8F62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47684"/>
            <a:ext cx="8229600" cy="4525963"/>
          </a:xfrm>
        </p:spPr>
        <p:txBody>
          <a:bodyPr>
            <a:normAutofit/>
          </a:bodyPr>
          <a:lstStyle/>
          <a:p>
            <a:r>
              <a:rPr lang="pt-BR" sz="2800" dirty="0"/>
              <a:t>Processo de analisar e medir como um sistema operacional se comporta em diferentes situações.</a:t>
            </a:r>
          </a:p>
          <a:p>
            <a:r>
              <a:rPr lang="pt-BR" sz="2800" dirty="0"/>
              <a:t>Busca identificar eficiência, confiabilidade e escalabilidade.</a:t>
            </a:r>
          </a:p>
          <a:p>
            <a:r>
              <a:rPr lang="pt-BR" sz="2800" dirty="0"/>
              <a:t>Permite comparar diferentes sistemas ou versões de um mesmo sistema.</a:t>
            </a:r>
          </a:p>
          <a:p>
            <a:r>
              <a:rPr lang="pt-BR" sz="2800" dirty="0"/>
              <a:t>Apoia decisões de projeto, ajuste e otimização do sistema.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64279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Por que </a:t>
            </a:r>
            <a:r>
              <a:rPr dirty="0" err="1"/>
              <a:t>avaliar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Identificar gargalos no sistema.</a:t>
            </a:r>
          </a:p>
          <a:p>
            <a:r>
              <a:rPr lang="pt-BR" sz="2800" dirty="0"/>
              <a:t>Garantir que os recursos de hardware sejam bem utilizados.</a:t>
            </a:r>
          </a:p>
          <a:p>
            <a:r>
              <a:rPr lang="pt-BR" sz="2800" dirty="0"/>
              <a:t>Avaliar a qualidade do serviço oferecido aos usuários.</a:t>
            </a:r>
          </a:p>
          <a:p>
            <a:r>
              <a:rPr lang="pt-BR" sz="2800" dirty="0"/>
              <a:t>Apoiar decisões sobre atualização, substituição ou ajuste de sistemas operacionais.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eficiência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confiabilidade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Avaliar</a:t>
            </a:r>
            <a:r>
              <a:rPr dirty="0"/>
              <a:t> </a:t>
            </a:r>
            <a:r>
              <a:rPr dirty="0" err="1"/>
              <a:t>escalabilidade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Melhorar</a:t>
            </a:r>
            <a:r>
              <a:rPr dirty="0"/>
              <a:t> a </a:t>
            </a:r>
            <a:r>
              <a:rPr dirty="0" err="1"/>
              <a:t>experiência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C6E9-FD34-90BD-25EE-9AA92354E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47B4-A4BB-5AFF-F28E-7975D42AE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Diferença entre avaliação e medição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30550-E2E2-44EB-2C7B-3B6A36981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b="1" dirty="0"/>
              <a:t>Medição</a:t>
            </a:r>
            <a:r>
              <a:rPr lang="pt-BR" sz="2800" dirty="0"/>
              <a:t>: coleta de dados brutos (ex.: tempo de resposta, uso de CPU).</a:t>
            </a:r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800" b="1" dirty="0"/>
              <a:t>Avaliação</a:t>
            </a:r>
            <a:r>
              <a:rPr lang="pt-BR" sz="2800" dirty="0"/>
              <a:t>: análise e interpretação dos dados coletados para tirar conclusões.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Medir é apenas um passo; </a:t>
            </a:r>
          </a:p>
          <a:p>
            <a:r>
              <a:rPr lang="pt-BR" sz="2800" dirty="0"/>
              <a:t>avaliar é dar significado às medições.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34567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Critérios de Avaliação de um Sistema Operacional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b="1" dirty="0"/>
              <a:t>Eficiência</a:t>
            </a:r>
            <a:r>
              <a:rPr lang="pt-BR" sz="2400" dirty="0"/>
              <a:t>: uso otimizado dos recursos do computador (CPU, memória, disco).</a:t>
            </a:r>
          </a:p>
          <a:p>
            <a:pPr marL="0" indent="0" algn="just">
              <a:buNone/>
            </a:pPr>
            <a:r>
              <a:rPr lang="pt-BR" sz="2400" b="1" dirty="0"/>
              <a:t>Equidade</a:t>
            </a:r>
            <a:r>
              <a:rPr lang="pt-BR" sz="2400" dirty="0"/>
              <a:t>: todos os usuários ou processos recebem tratamento justo.</a:t>
            </a:r>
          </a:p>
          <a:p>
            <a:pPr marL="0" indent="0" algn="just">
              <a:buNone/>
            </a:pPr>
            <a:r>
              <a:rPr lang="pt-BR" sz="2400" dirty="0"/>
              <a:t>Flexibilidade: capacidade de adaptação a diferentes cargas de trabalho.</a:t>
            </a:r>
          </a:p>
          <a:p>
            <a:pPr marL="0" indent="0" algn="just">
              <a:buNone/>
            </a:pPr>
            <a:r>
              <a:rPr lang="pt-BR" sz="2400" b="1" dirty="0"/>
              <a:t>Robustez</a:t>
            </a:r>
            <a:r>
              <a:rPr lang="pt-BR" sz="2400" dirty="0"/>
              <a:t>: mantém estabilidade mesmo em situações de erro.</a:t>
            </a:r>
          </a:p>
          <a:p>
            <a:pPr marL="0" indent="0" algn="just">
              <a:buNone/>
            </a:pPr>
            <a:endParaRPr lang="pt-BR" sz="2400" dirty="0"/>
          </a:p>
          <a:p>
            <a:pPr marL="0" indent="0" algn="just">
              <a:buNone/>
            </a:pPr>
            <a:r>
              <a:rPr lang="pt-BR" sz="2400" dirty="0"/>
              <a:t>Esses critérios ajudam a decidir se um sistema operacional é realmente bom no que se propõe.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Métricas de Desempenho em Sistemas Operacionais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/>
              <a:t>Tempo de resposta: rapidez com que o sistema reage a uma solicitação.</a:t>
            </a:r>
          </a:p>
          <a:p>
            <a:pPr algn="just">
              <a:lnSpc>
                <a:spcPct val="150000"/>
              </a:lnSpc>
            </a:pPr>
            <a:r>
              <a:rPr lang="pt-BR" sz="2400" dirty="0" err="1"/>
              <a:t>Throughput</a:t>
            </a:r>
            <a:r>
              <a:rPr lang="pt-BR" sz="2400" dirty="0"/>
              <a:t> (vazão): quantidade de tarefas concluídas em um período de tempo.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Utilização de recursos: mede quanto do processador, memória e disco estão sendo aproveitados.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Taxa de erros: frequência de falhas durante a execução.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do Tempo de Resposta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Reflete a experiência do usuário.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Quanto menor o tempo de resposta, maior a satisfação.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Essencial em sistemas interativos, como caixas eletrônicos ou aplicações web.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Um tempo de resposta elevado pode indicar sobrecarga ou problemas de configuração.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O tempo de resposta é um dos principais indicadores de desempenho de sistemas operacionais.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Vazão do Sistema (</a:t>
            </a:r>
            <a:r>
              <a:rPr lang="pt-BR" dirty="0" err="1"/>
              <a:t>Throughput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2400" dirty="0"/>
              <a:t>Mede a quantidade de tarefas concluídas em um período.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Avalia a produtividade do sistema.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Alta vazão é sinal de boa utilização dos recursos.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Pode ser impactada por: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pt-BR" sz="2000" dirty="0"/>
              <a:t>Capacidade do processador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pt-BR" sz="2000" dirty="0"/>
              <a:t>Desempenho de E/S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pt-BR" sz="2000" dirty="0"/>
              <a:t>Gerenciamento de memória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Enquanto o tempo de resposta foca no usuário individual, a vazão mede a eficiência global do sistema.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Eficiência do Sistema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Refere-se ao uso racional dos recursos disponíveis.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Um sistema eficiente: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pt-BR" dirty="0"/>
              <a:t>Evita desperdício de CPU, memória e E/S.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pt-BR" dirty="0"/>
              <a:t>Mantém um equilíbrio entre carga de trabalho e desempenho.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pt-BR" dirty="0"/>
              <a:t>Baixa eficiência → recursos subutilizados.</a:t>
            </a:r>
          </a:p>
          <a:p>
            <a:pPr marL="400050" lvl="1" indent="0" algn="just">
              <a:lnSpc>
                <a:spcPct val="150000"/>
              </a:lnSpc>
              <a:buNone/>
            </a:pPr>
            <a:r>
              <a:rPr lang="pt-BR" dirty="0"/>
              <a:t>Alta eficiência → melhor aproveitamento do hardware.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Exemplo: se a CPU fica muito tempo ociosa, o sistema não está eficiente.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Produtividade do Sistema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pt-BR" dirty="0"/>
              <a:t>A produtividade mede o quanto de trabalho útil o sistema realiza em um determinado período.</a:t>
            </a:r>
          </a:p>
          <a:p>
            <a:pPr algn="just">
              <a:lnSpc>
                <a:spcPct val="170000"/>
              </a:lnSpc>
            </a:pPr>
            <a:r>
              <a:rPr lang="pt-BR" dirty="0"/>
              <a:t>Está ligada ao volume de tarefas concluídas e não apenas à velocidade de cada tarefa.</a:t>
            </a:r>
          </a:p>
          <a:p>
            <a:pPr algn="just">
              <a:lnSpc>
                <a:spcPct val="170000"/>
              </a:lnSpc>
            </a:pPr>
            <a:r>
              <a:rPr lang="pt-BR" dirty="0"/>
              <a:t>Um sistema pode ser rápido em poucas tarefas, mas pouco produtivo se não consegue atender muitas ao mesmo tempo.</a:t>
            </a:r>
          </a:p>
          <a:p>
            <a:pPr algn="just">
              <a:lnSpc>
                <a:spcPct val="170000"/>
              </a:lnSpc>
            </a:pPr>
            <a:r>
              <a:rPr lang="pt-BR" dirty="0"/>
              <a:t>Objetivo: maximizar o número de processos concluídos sem comprometer a qualidade.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Exemplo: servidor web que atende 1000 requisições/h é mais produtivo que outro que atende apenas 300/h.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 de Desempenho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pt-BR" dirty="0"/>
              <a:t>Para avaliar um sistema operacional, é preciso definir métricas claras.</a:t>
            </a:r>
          </a:p>
          <a:p>
            <a:pPr algn="just">
              <a:lnSpc>
                <a:spcPct val="170000"/>
              </a:lnSpc>
            </a:pPr>
            <a:r>
              <a:rPr lang="pt-BR" dirty="0"/>
              <a:t>Principais métricas:</a:t>
            </a:r>
          </a:p>
          <a:p>
            <a:pPr lvl="1" algn="just">
              <a:lnSpc>
                <a:spcPct val="170000"/>
              </a:lnSpc>
            </a:pPr>
            <a:r>
              <a:rPr lang="pt-BR" dirty="0"/>
              <a:t>Tempo de resposta (rapidez no atendimento).</a:t>
            </a:r>
          </a:p>
          <a:p>
            <a:pPr lvl="1" algn="just">
              <a:lnSpc>
                <a:spcPct val="170000"/>
              </a:lnSpc>
            </a:pPr>
            <a:r>
              <a:rPr lang="pt-BR" dirty="0"/>
              <a:t>Taxa de transferência (</a:t>
            </a:r>
            <a:r>
              <a:rPr lang="pt-BR" dirty="0" err="1"/>
              <a:t>throughput</a:t>
            </a:r>
            <a:r>
              <a:rPr lang="pt-BR" dirty="0"/>
              <a:t>) (quantidade de tarefas processadas).</a:t>
            </a:r>
          </a:p>
          <a:p>
            <a:pPr lvl="1" algn="just">
              <a:lnSpc>
                <a:spcPct val="170000"/>
              </a:lnSpc>
            </a:pPr>
            <a:r>
              <a:rPr lang="pt-BR" dirty="0"/>
              <a:t>Utilização (quanto do recurso está sendo usado).</a:t>
            </a:r>
          </a:p>
          <a:p>
            <a:pPr lvl="1" algn="just">
              <a:lnSpc>
                <a:spcPct val="170000"/>
              </a:lnSpc>
            </a:pPr>
            <a:r>
              <a:rPr lang="pt-BR" dirty="0"/>
              <a:t>Confiabilidade (probabilidade de funcionar sem falhas).</a:t>
            </a:r>
          </a:p>
          <a:p>
            <a:pPr lvl="1" algn="just">
              <a:lnSpc>
                <a:spcPct val="170000"/>
              </a:lnSpc>
            </a:pPr>
            <a:r>
              <a:rPr lang="pt-BR" dirty="0"/>
              <a:t>As métricas devem refletir os objetivos reais de uso do sistema.</a:t>
            </a:r>
          </a:p>
          <a:p>
            <a:pPr marL="457200" lvl="1" indent="0" algn="just">
              <a:lnSpc>
                <a:spcPct val="170000"/>
              </a:lnSpc>
              <a:buNone/>
            </a:pPr>
            <a:r>
              <a:rPr lang="pt-BR" dirty="0"/>
              <a:t>Exemplo: em um banco de dados, a métrica mais importante pode ser o tempo médio de resposta das consultas.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/>
              <a:t>Para analisar o desempenho de sistemas operacionais, existem três métodos principais:</a:t>
            </a:r>
          </a:p>
          <a:p>
            <a:pPr lvl="1" algn="just"/>
            <a:r>
              <a:rPr lang="pt-BR" sz="2000" dirty="0"/>
              <a:t>Medição direta – coleta de dados reais no sistema em funcionamento.</a:t>
            </a:r>
          </a:p>
          <a:p>
            <a:pPr lvl="1" algn="just"/>
            <a:r>
              <a:rPr lang="pt-BR" sz="2000" dirty="0"/>
              <a:t>Modelagem analítica – uso de fórmulas matemáticas para estimar o desempenho.</a:t>
            </a:r>
          </a:p>
          <a:p>
            <a:pPr lvl="1" algn="just"/>
            <a:r>
              <a:rPr lang="pt-BR" sz="2000" dirty="0"/>
              <a:t>Simulação – criação de um modelo computacional para reproduzir o comportamento do sistema.</a:t>
            </a:r>
          </a:p>
          <a:p>
            <a:pPr algn="just"/>
            <a:r>
              <a:rPr lang="pt-BR" sz="2400" dirty="0"/>
              <a:t>Cada método tem vantagens e limitações, sendo comum a combinação entre eles.</a:t>
            </a:r>
          </a:p>
          <a:p>
            <a:pPr marL="457200" lvl="1" indent="0" algn="just">
              <a:buNone/>
            </a:pPr>
            <a:endParaRPr lang="pt-BR" sz="2000" dirty="0"/>
          </a:p>
          <a:p>
            <a:pPr marL="457200" lvl="1" indent="0" algn="just">
              <a:buNone/>
            </a:pPr>
            <a:r>
              <a:rPr lang="pt-BR" sz="2000" dirty="0"/>
              <a:t>Exemplo: medir o tempo real de resposta de processos e depois comparar com simulações de carga.</a:t>
            </a:r>
            <a:endParaRPr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Medição Direta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dirty="0"/>
              <a:t>Consiste em observar o sistema em funcionamento real.</a:t>
            </a:r>
          </a:p>
          <a:p>
            <a:pPr algn="just"/>
            <a:r>
              <a:rPr lang="pt-BR" dirty="0"/>
              <a:t>Permite coletar informações como:</a:t>
            </a:r>
          </a:p>
          <a:p>
            <a:pPr lvl="1" algn="just"/>
            <a:r>
              <a:rPr lang="pt-BR" dirty="0"/>
              <a:t>tempo de CPU usado por processos;</a:t>
            </a:r>
          </a:p>
          <a:p>
            <a:pPr lvl="1" algn="just"/>
            <a:r>
              <a:rPr lang="pt-BR" dirty="0"/>
              <a:t>taxa de uso de memória;</a:t>
            </a:r>
          </a:p>
          <a:p>
            <a:pPr lvl="1" algn="just"/>
            <a:r>
              <a:rPr lang="pt-BR" dirty="0"/>
              <a:t>quantidade de acessos ao disco;</a:t>
            </a:r>
          </a:p>
          <a:p>
            <a:pPr lvl="1" algn="just"/>
            <a:r>
              <a:rPr lang="pt-BR" dirty="0"/>
              <a:t>tempo de resposta para os usuários.</a:t>
            </a:r>
          </a:p>
          <a:p>
            <a:pPr algn="just"/>
            <a:r>
              <a:rPr lang="pt-BR" dirty="0"/>
              <a:t>Vantagem: </a:t>
            </a:r>
          </a:p>
          <a:p>
            <a:pPr lvl="1" algn="just"/>
            <a:r>
              <a:rPr lang="pt-BR" dirty="0"/>
              <a:t>fornece resultados reais.</a:t>
            </a:r>
          </a:p>
          <a:p>
            <a:pPr algn="just"/>
            <a:r>
              <a:rPr lang="pt-BR" dirty="0"/>
              <a:t>Limitação: </a:t>
            </a:r>
          </a:p>
          <a:p>
            <a:pPr lvl="1" algn="just"/>
            <a:r>
              <a:rPr lang="pt-BR" dirty="0"/>
              <a:t>pode ser caro, demorado e afetar o próprio sistema durante a medição.</a:t>
            </a:r>
          </a:p>
          <a:p>
            <a:pPr algn="just"/>
            <a:r>
              <a:rPr lang="pt-BR" dirty="0"/>
              <a:t>Exemplo: usar ferramentas como </a:t>
            </a:r>
            <a:r>
              <a:rPr lang="pt-BR" b="1" i="1" dirty="0" err="1"/>
              <a:t>perf</a:t>
            </a:r>
            <a:r>
              <a:rPr lang="pt-BR" dirty="0"/>
              <a:t> ou </a:t>
            </a:r>
            <a:r>
              <a:rPr lang="pt-BR" b="1" i="1" dirty="0"/>
              <a:t>top</a:t>
            </a:r>
            <a:r>
              <a:rPr lang="pt-BR" dirty="0"/>
              <a:t> em sistemas Linux para medir desempenho.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Medição Indireta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Baseia-se em modelos matemáticos ou estatísticos para estimar o desempenho.</a:t>
            </a:r>
          </a:p>
          <a:p>
            <a:r>
              <a:rPr lang="pt-BR" dirty="0"/>
              <a:t>Não depende de executar o sistema real.</a:t>
            </a:r>
          </a:p>
          <a:p>
            <a:r>
              <a:rPr lang="pt-BR" dirty="0"/>
              <a:t>Vantagens:</a:t>
            </a:r>
          </a:p>
          <a:p>
            <a:pPr lvl="1"/>
            <a:r>
              <a:rPr lang="pt-BR" dirty="0"/>
              <a:t>mais rápida;</a:t>
            </a:r>
          </a:p>
          <a:p>
            <a:pPr lvl="1"/>
            <a:r>
              <a:rPr lang="pt-BR" dirty="0"/>
              <a:t>pode prever cenários futuros;</a:t>
            </a:r>
          </a:p>
          <a:p>
            <a:pPr lvl="1"/>
            <a:r>
              <a:rPr lang="pt-BR" dirty="0"/>
              <a:t>não interfere no sistema em produção.</a:t>
            </a:r>
          </a:p>
          <a:p>
            <a:r>
              <a:rPr lang="pt-BR" dirty="0"/>
              <a:t>Limitação: </a:t>
            </a:r>
          </a:p>
          <a:p>
            <a:pPr lvl="1"/>
            <a:r>
              <a:rPr lang="pt-BR" dirty="0"/>
              <a:t>depende da qualidade do modelo criado e pode não refletir 100% da realidade.</a:t>
            </a:r>
          </a:p>
          <a:p>
            <a:pPr marL="0" indent="0">
              <a:buNone/>
            </a:pPr>
            <a:r>
              <a:rPr lang="pt-BR" dirty="0"/>
              <a:t>Exemplo: usar fórmulas de filas de espera para estimar o tempo médio de resposta em um servidor.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Técnicas de Avaliação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Existem três técnicas principais para avaliar sistemas operacionais:</a:t>
            </a:r>
          </a:p>
          <a:p>
            <a:r>
              <a:rPr lang="pt-BR" dirty="0"/>
              <a:t>Medição Direta</a:t>
            </a:r>
          </a:p>
          <a:p>
            <a:pPr lvl="1"/>
            <a:r>
              <a:rPr lang="pt-BR" dirty="0"/>
              <a:t>Observa o sistema em uso real.</a:t>
            </a:r>
          </a:p>
          <a:p>
            <a:r>
              <a:rPr lang="pt-BR" dirty="0"/>
              <a:t>Medição Indireta</a:t>
            </a:r>
          </a:p>
          <a:p>
            <a:pPr lvl="1"/>
            <a:r>
              <a:rPr lang="pt-BR" dirty="0"/>
              <a:t>Utiliza modelos matemáticos ou estatísticos.</a:t>
            </a:r>
          </a:p>
          <a:p>
            <a:r>
              <a:rPr lang="pt-BR" dirty="0"/>
              <a:t>Simulação</a:t>
            </a:r>
          </a:p>
          <a:p>
            <a:pPr lvl="1"/>
            <a:r>
              <a:rPr lang="pt-BR" dirty="0"/>
              <a:t>Cria modelos computacionais que imitam o comportamento do sistema.</a:t>
            </a:r>
          </a:p>
          <a:p>
            <a:pPr marL="0" indent="0">
              <a:buNone/>
            </a:pPr>
            <a:r>
              <a:rPr lang="pt-BR" dirty="0"/>
              <a:t>A escolha da técnica depende do objetivo da avaliação, recursos disponíveis e criticidade do sistema.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 de Apoio na Avaliação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A avaliação de sistemas operacionais pode ser facilitada com ferramentas específicas: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Monitores de desempenho: </a:t>
            </a:r>
          </a:p>
          <a:p>
            <a:pPr lvl="1"/>
            <a:r>
              <a:rPr lang="pt-BR" dirty="0"/>
              <a:t>acompanham uso de CPU, memória e processos.</a:t>
            </a:r>
          </a:p>
          <a:p>
            <a:r>
              <a:rPr lang="pt-BR" dirty="0"/>
              <a:t>Simuladores: </a:t>
            </a:r>
          </a:p>
          <a:p>
            <a:pPr lvl="1"/>
            <a:r>
              <a:rPr lang="pt-BR" dirty="0"/>
              <a:t>permitem testar cenários sem afetar o sistema real.</a:t>
            </a:r>
          </a:p>
          <a:p>
            <a:r>
              <a:rPr lang="pt-BR" dirty="0"/>
              <a:t>Modelos analíticos: </a:t>
            </a:r>
          </a:p>
          <a:p>
            <a:pPr lvl="1"/>
            <a:r>
              <a:rPr lang="pt-BR" dirty="0"/>
              <a:t>auxiliam na previsão de resultados.</a:t>
            </a:r>
          </a:p>
          <a:p>
            <a:pPr lvl="1"/>
            <a:endParaRPr lang="pt-BR" dirty="0"/>
          </a:p>
          <a:p>
            <a:pPr marL="0" indent="0">
              <a:buNone/>
            </a:pPr>
            <a:r>
              <a:rPr lang="pt-BR" dirty="0"/>
              <a:t>Essas ferramentas ajudam a obter dados mais precisos e confiáveis para a análise.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Práticos de Avaliação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Exemplo 1: </a:t>
            </a:r>
          </a:p>
          <a:p>
            <a:pPr lvl="1"/>
            <a:r>
              <a:rPr lang="pt-BR" dirty="0"/>
              <a:t>medir o tempo médio de resposta de um sistema multitarefa.</a:t>
            </a:r>
          </a:p>
          <a:p>
            <a:r>
              <a:rPr lang="pt-BR" dirty="0"/>
              <a:t>Exemplo 2: </a:t>
            </a:r>
          </a:p>
          <a:p>
            <a:pPr lvl="1"/>
            <a:r>
              <a:rPr lang="pt-BR" dirty="0"/>
              <a:t>comparar consumo de CPU entre dois sistemas operacionais.</a:t>
            </a:r>
          </a:p>
          <a:p>
            <a:r>
              <a:rPr lang="pt-BR" dirty="0"/>
              <a:t>Exemplo 3: </a:t>
            </a:r>
          </a:p>
          <a:p>
            <a:pPr lvl="1"/>
            <a:r>
              <a:rPr lang="pt-BR" dirty="0"/>
              <a:t>avaliar o impacto de novos algoritmos de escalonamento.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dirty="0"/>
              <a:t>Esses exemplos mostram como a avaliação prática auxilia na escolha de soluções mais eficientes.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Conclusão – Avaliação de Sistemas Operacionais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dirty="0"/>
              <a:t>A avaliação garante eficiência, confiabilidade e escalabilidade.</a:t>
            </a:r>
          </a:p>
          <a:p>
            <a:pPr algn="just"/>
            <a:r>
              <a:rPr lang="pt-BR" dirty="0"/>
              <a:t>Ferramenta essencial para desenvolvedores, administradores e pesquisadores.</a:t>
            </a:r>
          </a:p>
          <a:p>
            <a:pPr algn="just"/>
            <a:r>
              <a:rPr lang="pt-BR" dirty="0"/>
              <a:t>Permite identificar gargalos, propor melhorias e validar soluções.</a:t>
            </a:r>
          </a:p>
          <a:p>
            <a:pPr algn="just"/>
            <a:r>
              <a:rPr lang="pt-BR" dirty="0"/>
              <a:t>Contribui diretamente para a evolução dos sistemas operacionais.</a:t>
            </a:r>
          </a:p>
          <a:p>
            <a:pPr algn="just"/>
            <a:endParaRPr lang="pt-BR" dirty="0"/>
          </a:p>
          <a:p>
            <a:pPr marL="0" indent="0" algn="just">
              <a:buNone/>
            </a:pPr>
            <a:r>
              <a:rPr lang="pt-BR" dirty="0"/>
              <a:t>📌 Referência: </a:t>
            </a:r>
          </a:p>
          <a:p>
            <a:pPr marL="0" indent="0" algn="just">
              <a:buNone/>
            </a:pPr>
            <a:r>
              <a:rPr lang="pt-BR" dirty="0"/>
              <a:t>Jain, R. Avaliação de Desempenho de Sistemas Computacionais. (Cap. 12 – Avaliação de Sistemas Operacionais).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Importância da análise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 avaliação, melhorias podem ser baseadas apenas em suposições.</a:t>
            </a:r>
          </a:p>
          <a:p>
            <a:r>
              <a:t>A análise garante decisões fundamentadas.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garante eficiência, confiabilidade e escalabilidade.</a:t>
            </a:r>
          </a:p>
          <a:p>
            <a:r>
              <a:t>Ajuda desenvolvedores, administradores e pesquisadores.</a:t>
            </a:r>
          </a:p>
          <a:p>
            <a:r>
              <a:t>Contribui para a evolução dos sistemas operacionais.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Conteúdo baseado no livro:</a:t>
            </a:r>
          </a:p>
          <a:p>
            <a:r>
              <a:t>Jain, R. Avaliação de Desempenho de Sistemas Computacionais.</a:t>
            </a:r>
          </a:p>
          <a:p>
            <a:r>
              <a:t>Capítulo 12 – Avaliação de Sistemas Operacionais.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1272</Words>
  <Application>Microsoft Office PowerPoint</Application>
  <PresentationFormat>Apresentação na tela (4:3)</PresentationFormat>
  <Paragraphs>155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O que é um Sistema Operacional?</vt:lpstr>
      <vt:lpstr>O que é Avaliação de Sistemas Operacionais?</vt:lpstr>
      <vt:lpstr>Por que avaliar?</vt:lpstr>
      <vt:lpstr>Objetivos da avaliação</vt:lpstr>
      <vt:lpstr>Diferença entre avaliação e medição</vt:lpstr>
      <vt:lpstr>Critérios de Avaliação de um Sistema Operacional</vt:lpstr>
      <vt:lpstr>Métricas de Desempenho em Sistemas Operacionais</vt:lpstr>
      <vt:lpstr>Importância do Tempo de Resposta</vt:lpstr>
      <vt:lpstr>Vazão do Sistema (Throughput)</vt:lpstr>
      <vt:lpstr>Eficiência do Sistema</vt:lpstr>
      <vt:lpstr>Produtividade do Sistema</vt:lpstr>
      <vt:lpstr>Métricas de Desempenho</vt:lpstr>
      <vt:lpstr>Métodos de Avaliação</vt:lpstr>
      <vt:lpstr>Medição Direta</vt:lpstr>
      <vt:lpstr>Medição Indireta</vt:lpstr>
      <vt:lpstr>Técnicas de Avaliação</vt:lpstr>
      <vt:lpstr>Ferramentas de Apoio na Avaliação</vt:lpstr>
      <vt:lpstr>Exemplos Práticos de Avaliação</vt:lpstr>
      <vt:lpstr>Conclusão – Avaliação de Sistemas Operacionais</vt:lpstr>
      <vt:lpstr>Importância da análise</vt:lpstr>
      <vt:lpstr>Conclusão</vt:lpstr>
      <vt:lpstr>Referência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Elionai Magalhaes 487017 - Professor MULTIVIX</cp:lastModifiedBy>
  <cp:revision>19</cp:revision>
  <dcterms:created xsi:type="dcterms:W3CDTF">2013-01-27T09:14:16Z</dcterms:created>
  <dcterms:modified xsi:type="dcterms:W3CDTF">2025-08-26T19:29:43Z</dcterms:modified>
  <cp:category/>
</cp:coreProperties>
</file>